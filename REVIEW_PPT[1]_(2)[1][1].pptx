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97" r:id="rId7"/>
    <p:sldId id="273" r:id="rId8"/>
    <p:sldId id="274" r:id="rId9"/>
    <p:sldId id="286" r:id="rId10"/>
    <p:sldId id="264" r:id="rId11"/>
    <p:sldId id="271" r:id="rId12"/>
    <p:sldId id="295" r:id="rId13"/>
    <p:sldId id="296" r:id="rId14"/>
    <p:sldId id="293" r:id="rId15"/>
    <p:sldId id="294" r:id="rId16"/>
    <p:sldId id="292" r:id="rId17"/>
    <p:sldId id="272" r:id="rId18"/>
    <p:sldId id="266" r:id="rId19"/>
    <p:sldId id="285" r:id="rId20"/>
    <p:sldId id="268" r:id="rId21"/>
    <p:sldId id="269" r:id="rId22"/>
    <p:sldId id="277" r:id="rId23"/>
    <p:sldId id="287" r:id="rId24"/>
    <p:sldId id="288"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B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778834-A6C3-4689-A283-710A5A509C4A}" v="5" dt="2025-11-09T21:54:13.0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860"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2550CEC-F87A-4037-8299-4C9407945357}" type="datetimeFigureOut">
              <a:rPr lang="en-IN" smtClean="0"/>
              <a:t>13-11-2025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A44B96E-471B-43B7-BE9D-7C0C35CB99FE}" type="slidenum">
              <a:rPr lang="en-IN" smtClean="0"/>
              <a:t>‹#›</a:t>
            </a:fld>
            <a:endParaRPr lang="en-IN"/>
          </a:p>
        </p:txBody>
      </p:sp>
    </p:spTree>
    <p:extLst>
      <p:ext uri="{BB962C8B-B14F-4D97-AF65-F5344CB8AC3E}">
        <p14:creationId xmlns:p14="http://schemas.microsoft.com/office/powerpoint/2010/main" val="385833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44B96E-471B-43B7-BE9D-7C0C35CB99FE}" type="slidenum">
              <a:rPr lang="en-IN" smtClean="0"/>
              <a:t>6</a:t>
            </a:fld>
            <a:endParaRPr lang="en-IN"/>
          </a:p>
        </p:txBody>
      </p:sp>
    </p:spTree>
    <p:extLst>
      <p:ext uri="{BB962C8B-B14F-4D97-AF65-F5344CB8AC3E}">
        <p14:creationId xmlns:p14="http://schemas.microsoft.com/office/powerpoint/2010/main" val="1931272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44B96E-471B-43B7-BE9D-7C0C35CB99FE}" type="slidenum">
              <a:rPr lang="en-IN" smtClean="0"/>
              <a:t>7</a:t>
            </a:fld>
            <a:endParaRPr lang="en-IN"/>
          </a:p>
        </p:txBody>
      </p:sp>
    </p:spTree>
    <p:extLst>
      <p:ext uri="{BB962C8B-B14F-4D97-AF65-F5344CB8AC3E}">
        <p14:creationId xmlns:p14="http://schemas.microsoft.com/office/powerpoint/2010/main" val="1931272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44B96E-471B-43B7-BE9D-7C0C35CB99FE}" type="slidenum">
              <a:rPr lang="en-IN" smtClean="0"/>
              <a:t>11</a:t>
            </a:fld>
            <a:endParaRPr lang="en-IN"/>
          </a:p>
        </p:txBody>
      </p:sp>
    </p:spTree>
    <p:extLst>
      <p:ext uri="{BB962C8B-B14F-4D97-AF65-F5344CB8AC3E}">
        <p14:creationId xmlns:p14="http://schemas.microsoft.com/office/powerpoint/2010/main" val="844066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0" i="0">
                <a:solidFill>
                  <a:schemeClr val="bg1"/>
                </a:solidFill>
                <a:latin typeface="Arial Black"/>
                <a:cs typeface="Arial Black"/>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73025">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73025">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Black"/>
                <a:cs typeface="Arial 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7" name="Holder 7"/>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73025">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540" y="6400800"/>
            <a:ext cx="12189460" cy="457200"/>
          </a:xfrm>
          <a:custGeom>
            <a:avLst/>
            <a:gdLst/>
            <a:ahLst/>
            <a:cxnLst/>
            <a:rect l="l" t="t" r="r" b="b"/>
            <a:pathLst>
              <a:path w="12189460" h="457200">
                <a:moveTo>
                  <a:pt x="12189460" y="0"/>
                </a:moveTo>
                <a:lnTo>
                  <a:pt x="0" y="0"/>
                </a:lnTo>
                <a:lnTo>
                  <a:pt x="0" y="457200"/>
                </a:lnTo>
                <a:lnTo>
                  <a:pt x="12189460" y="457200"/>
                </a:lnTo>
                <a:lnTo>
                  <a:pt x="12189460" y="0"/>
                </a:lnTo>
                <a:close/>
              </a:path>
            </a:pathLst>
          </a:custGeom>
          <a:solidFill>
            <a:srgbClr val="BB562C"/>
          </a:solidFill>
        </p:spPr>
        <p:txBody>
          <a:bodyPr wrap="square" lIns="0" tIns="0" rIns="0" bIns="0" rtlCol="0"/>
          <a:lstStyle/>
          <a:p>
            <a:endParaRPr/>
          </a:p>
        </p:txBody>
      </p:sp>
      <p:sp>
        <p:nvSpPr>
          <p:cNvPr id="17" name="bg object 17"/>
          <p:cNvSpPr/>
          <p:nvPr/>
        </p:nvSpPr>
        <p:spPr>
          <a:xfrm>
            <a:off x="0" y="6333490"/>
            <a:ext cx="12188825" cy="64135"/>
          </a:xfrm>
          <a:custGeom>
            <a:avLst/>
            <a:gdLst/>
            <a:ahLst/>
            <a:cxnLst/>
            <a:rect l="l" t="t" r="r" b="b"/>
            <a:pathLst>
              <a:path w="12188825" h="64135">
                <a:moveTo>
                  <a:pt x="12188825" y="0"/>
                </a:moveTo>
                <a:lnTo>
                  <a:pt x="0" y="0"/>
                </a:lnTo>
                <a:lnTo>
                  <a:pt x="0" y="64135"/>
                </a:lnTo>
                <a:lnTo>
                  <a:pt x="12188825" y="64135"/>
                </a:lnTo>
                <a:lnTo>
                  <a:pt x="12188825" y="0"/>
                </a:lnTo>
                <a:close/>
              </a:path>
            </a:pathLst>
          </a:custGeom>
          <a:solidFill>
            <a:srgbClr val="E2831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0" i="0">
                <a:solidFill>
                  <a:schemeClr val="bg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73025">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540" y="6400800"/>
            <a:ext cx="12189460" cy="457200"/>
          </a:xfrm>
          <a:custGeom>
            <a:avLst/>
            <a:gdLst/>
            <a:ahLst/>
            <a:cxnLst/>
            <a:rect l="l" t="t" r="r" b="b"/>
            <a:pathLst>
              <a:path w="12189460" h="457200">
                <a:moveTo>
                  <a:pt x="12189460" y="0"/>
                </a:moveTo>
                <a:lnTo>
                  <a:pt x="0" y="0"/>
                </a:lnTo>
                <a:lnTo>
                  <a:pt x="0" y="457200"/>
                </a:lnTo>
                <a:lnTo>
                  <a:pt x="12189460" y="457200"/>
                </a:lnTo>
                <a:lnTo>
                  <a:pt x="12189460" y="0"/>
                </a:lnTo>
                <a:close/>
              </a:path>
            </a:pathLst>
          </a:custGeom>
          <a:solidFill>
            <a:srgbClr val="BB562C"/>
          </a:solidFill>
        </p:spPr>
        <p:txBody>
          <a:bodyPr wrap="square" lIns="0" tIns="0" rIns="0" bIns="0" rtlCol="0"/>
          <a:lstStyle/>
          <a:p>
            <a:endParaRPr/>
          </a:p>
        </p:txBody>
      </p:sp>
      <p:sp>
        <p:nvSpPr>
          <p:cNvPr id="17" name="bg object 17"/>
          <p:cNvSpPr/>
          <p:nvPr/>
        </p:nvSpPr>
        <p:spPr>
          <a:xfrm>
            <a:off x="0" y="6333490"/>
            <a:ext cx="12189460" cy="64135"/>
          </a:xfrm>
          <a:custGeom>
            <a:avLst/>
            <a:gdLst/>
            <a:ahLst/>
            <a:cxnLst/>
            <a:rect l="l" t="t" r="r" b="b"/>
            <a:pathLst>
              <a:path w="12189460" h="64135">
                <a:moveTo>
                  <a:pt x="12189460" y="0"/>
                </a:moveTo>
                <a:lnTo>
                  <a:pt x="0" y="0"/>
                </a:lnTo>
                <a:lnTo>
                  <a:pt x="0" y="64135"/>
                </a:lnTo>
                <a:lnTo>
                  <a:pt x="12189460" y="64135"/>
                </a:lnTo>
                <a:lnTo>
                  <a:pt x="12189460" y="0"/>
                </a:lnTo>
                <a:close/>
              </a:path>
            </a:pathLst>
          </a:custGeom>
          <a:solidFill>
            <a:srgbClr val="E28312"/>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73025">
              <a:lnSpc>
                <a:spcPct val="100000"/>
              </a:lnSpc>
              <a:spcBef>
                <a:spcPts val="5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540" y="6400800"/>
            <a:ext cx="12189460" cy="457200"/>
          </a:xfrm>
          <a:custGeom>
            <a:avLst/>
            <a:gdLst/>
            <a:ahLst/>
            <a:cxnLst/>
            <a:rect l="l" t="t" r="r" b="b"/>
            <a:pathLst>
              <a:path w="12189460" h="457200">
                <a:moveTo>
                  <a:pt x="12189460" y="0"/>
                </a:moveTo>
                <a:lnTo>
                  <a:pt x="0" y="0"/>
                </a:lnTo>
                <a:lnTo>
                  <a:pt x="0" y="457200"/>
                </a:lnTo>
                <a:lnTo>
                  <a:pt x="12189460" y="457200"/>
                </a:lnTo>
                <a:lnTo>
                  <a:pt x="12189460" y="0"/>
                </a:lnTo>
                <a:close/>
              </a:path>
            </a:pathLst>
          </a:custGeom>
          <a:solidFill>
            <a:srgbClr val="BB562C"/>
          </a:solidFill>
        </p:spPr>
        <p:txBody>
          <a:bodyPr wrap="square" lIns="0" tIns="0" rIns="0" bIns="0" rtlCol="0"/>
          <a:lstStyle/>
          <a:p>
            <a:endParaRPr/>
          </a:p>
        </p:txBody>
      </p:sp>
      <p:sp>
        <p:nvSpPr>
          <p:cNvPr id="17" name="bg object 17"/>
          <p:cNvSpPr/>
          <p:nvPr/>
        </p:nvSpPr>
        <p:spPr>
          <a:xfrm>
            <a:off x="0" y="6333490"/>
            <a:ext cx="12189460" cy="64135"/>
          </a:xfrm>
          <a:custGeom>
            <a:avLst/>
            <a:gdLst/>
            <a:ahLst/>
            <a:cxnLst/>
            <a:rect l="l" t="t" r="r" b="b"/>
            <a:pathLst>
              <a:path w="12189460" h="64135">
                <a:moveTo>
                  <a:pt x="12189460" y="0"/>
                </a:moveTo>
                <a:lnTo>
                  <a:pt x="0" y="0"/>
                </a:lnTo>
                <a:lnTo>
                  <a:pt x="0" y="64135"/>
                </a:lnTo>
                <a:lnTo>
                  <a:pt x="12189460" y="64135"/>
                </a:lnTo>
                <a:lnTo>
                  <a:pt x="12189460" y="0"/>
                </a:lnTo>
                <a:close/>
              </a:path>
            </a:pathLst>
          </a:custGeom>
          <a:solidFill>
            <a:srgbClr val="E28312"/>
          </a:solidFill>
        </p:spPr>
        <p:txBody>
          <a:bodyPr wrap="square" lIns="0" tIns="0" rIns="0" bIns="0" rtlCol="0"/>
          <a:lstStyle/>
          <a:p>
            <a:endParaRPr/>
          </a:p>
        </p:txBody>
      </p:sp>
      <p:sp>
        <p:nvSpPr>
          <p:cNvPr id="18" name="bg object 18"/>
          <p:cNvSpPr/>
          <p:nvPr/>
        </p:nvSpPr>
        <p:spPr>
          <a:xfrm>
            <a:off x="635" y="0"/>
            <a:ext cx="12191365" cy="1279525"/>
          </a:xfrm>
          <a:custGeom>
            <a:avLst/>
            <a:gdLst/>
            <a:ahLst/>
            <a:cxnLst/>
            <a:rect l="l" t="t" r="r" b="b"/>
            <a:pathLst>
              <a:path w="12191365" h="1279525">
                <a:moveTo>
                  <a:pt x="12191365" y="0"/>
                </a:moveTo>
                <a:lnTo>
                  <a:pt x="0" y="0"/>
                </a:lnTo>
                <a:lnTo>
                  <a:pt x="0" y="1279525"/>
                </a:lnTo>
                <a:lnTo>
                  <a:pt x="12191365" y="1279525"/>
                </a:lnTo>
                <a:lnTo>
                  <a:pt x="12191365" y="0"/>
                </a:lnTo>
                <a:close/>
              </a:path>
            </a:pathLst>
          </a:custGeom>
          <a:solidFill>
            <a:srgbClr val="E28312"/>
          </a:solidFill>
        </p:spPr>
        <p:txBody>
          <a:bodyPr wrap="square" lIns="0" tIns="0" rIns="0" bIns="0" rtlCol="0"/>
          <a:lstStyle/>
          <a:p>
            <a:endParaRPr/>
          </a:p>
        </p:txBody>
      </p:sp>
      <p:sp>
        <p:nvSpPr>
          <p:cNvPr id="19" name="bg object 19"/>
          <p:cNvSpPr/>
          <p:nvPr/>
        </p:nvSpPr>
        <p:spPr>
          <a:xfrm>
            <a:off x="635" y="1266189"/>
            <a:ext cx="12191365" cy="25400"/>
          </a:xfrm>
          <a:custGeom>
            <a:avLst/>
            <a:gdLst/>
            <a:ahLst/>
            <a:cxnLst/>
            <a:rect l="l" t="t" r="r" b="b"/>
            <a:pathLst>
              <a:path w="12191365" h="25400">
                <a:moveTo>
                  <a:pt x="12191365" y="0"/>
                </a:moveTo>
                <a:lnTo>
                  <a:pt x="0" y="0"/>
                </a:lnTo>
                <a:lnTo>
                  <a:pt x="0" y="25400"/>
                </a:lnTo>
                <a:lnTo>
                  <a:pt x="12191365" y="25400"/>
                </a:lnTo>
                <a:lnTo>
                  <a:pt x="12191365" y="0"/>
                </a:lnTo>
                <a:close/>
              </a:path>
            </a:pathLst>
          </a:custGeom>
          <a:solidFill>
            <a:srgbClr val="FFFFFF"/>
          </a:solidFill>
        </p:spPr>
        <p:txBody>
          <a:bodyPr wrap="square" lIns="0" tIns="0" rIns="0" bIns="0" rtlCol="0"/>
          <a:lstStyle/>
          <a:p>
            <a:endParaRPr/>
          </a:p>
        </p:txBody>
      </p:sp>
      <p:sp>
        <p:nvSpPr>
          <p:cNvPr id="20" name="bg object 20"/>
          <p:cNvSpPr/>
          <p:nvPr/>
        </p:nvSpPr>
        <p:spPr>
          <a:xfrm>
            <a:off x="635" y="0"/>
            <a:ext cx="0" cy="1279525"/>
          </a:xfrm>
          <a:custGeom>
            <a:avLst/>
            <a:gdLst/>
            <a:ahLst/>
            <a:cxnLst/>
            <a:rect l="l" t="t" r="r" b="b"/>
            <a:pathLst>
              <a:path h="1279525">
                <a:moveTo>
                  <a:pt x="0" y="0"/>
                </a:moveTo>
                <a:lnTo>
                  <a:pt x="0" y="1279525"/>
                </a:lnTo>
              </a:path>
            </a:pathLst>
          </a:custGeom>
          <a:ln w="25400">
            <a:solidFill>
              <a:srgbClr val="FFFFFF"/>
            </a:solidFill>
          </a:ln>
        </p:spPr>
        <p:txBody>
          <a:bodyPr wrap="square" lIns="0" tIns="0" rIns="0" bIns="0" rtlCol="0"/>
          <a:lstStyle/>
          <a:p>
            <a:endParaRPr/>
          </a:p>
        </p:txBody>
      </p:sp>
      <p:sp>
        <p:nvSpPr>
          <p:cNvPr id="2" name="Holder 2"/>
          <p:cNvSpPr>
            <a:spLocks noGrp="1"/>
          </p:cNvSpPr>
          <p:nvPr>
            <p:ph type="title"/>
          </p:nvPr>
        </p:nvSpPr>
        <p:spPr>
          <a:xfrm>
            <a:off x="2315844" y="15811"/>
            <a:ext cx="7560310" cy="939800"/>
          </a:xfrm>
          <a:prstGeom prst="rect">
            <a:avLst/>
          </a:prstGeom>
        </p:spPr>
        <p:txBody>
          <a:bodyPr wrap="square" lIns="0" tIns="0" rIns="0" bIns="0">
            <a:spAutoFit/>
          </a:bodyPr>
          <a:lstStyle>
            <a:lvl1pPr>
              <a:defRPr sz="4000" b="0" i="0">
                <a:solidFill>
                  <a:schemeClr val="bg1"/>
                </a:solidFill>
                <a:latin typeface="Arial Black"/>
                <a:cs typeface="Arial Black"/>
              </a:defRPr>
            </a:lvl1pPr>
          </a:lstStyle>
          <a:p>
            <a:endParaRPr/>
          </a:p>
        </p:txBody>
      </p:sp>
      <p:sp>
        <p:nvSpPr>
          <p:cNvPr id="3" name="Holder 3"/>
          <p:cNvSpPr>
            <a:spLocks noGrp="1"/>
          </p:cNvSpPr>
          <p:nvPr>
            <p:ph type="body" idx="1"/>
          </p:nvPr>
        </p:nvSpPr>
        <p:spPr>
          <a:xfrm>
            <a:off x="794067" y="1725040"/>
            <a:ext cx="10561955" cy="4567555"/>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a:xfrm>
            <a:off x="10985118" y="6553231"/>
            <a:ext cx="191770" cy="194945"/>
          </a:xfrm>
          <a:prstGeom prst="rect">
            <a:avLst/>
          </a:prstGeom>
        </p:spPr>
        <p:txBody>
          <a:bodyPr wrap="square" lIns="0" tIns="0" rIns="0" bIns="0">
            <a:spAutoFit/>
          </a:bodyPr>
          <a:lstStyle>
            <a:lvl1pPr>
              <a:defRPr sz="1050" b="0" i="0">
                <a:solidFill>
                  <a:schemeClr val="bg1"/>
                </a:solidFill>
                <a:latin typeface="Calibri"/>
                <a:cs typeface="Calibri"/>
              </a:defRPr>
            </a:lvl1pPr>
          </a:lstStyle>
          <a:p>
            <a:pPr marL="73025">
              <a:lnSpc>
                <a:spcPct val="100000"/>
              </a:lnSpc>
              <a:spcBef>
                <a:spcPts val="5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doi.org/10.3389/fdgth.2024.1280235"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33490"/>
            <a:ext cx="12192000" cy="524510"/>
            <a:chOff x="0" y="6333490"/>
            <a:chExt cx="12192000" cy="524510"/>
          </a:xfrm>
        </p:grpSpPr>
        <p:sp>
          <p:nvSpPr>
            <p:cNvPr id="3" name="object 3"/>
            <p:cNvSpPr/>
            <p:nvPr/>
          </p:nvSpPr>
          <p:spPr>
            <a:xfrm>
              <a:off x="2540" y="6400800"/>
              <a:ext cx="12189460" cy="457200"/>
            </a:xfrm>
            <a:custGeom>
              <a:avLst/>
              <a:gdLst/>
              <a:ahLst/>
              <a:cxnLst/>
              <a:rect l="l" t="t" r="r" b="b"/>
              <a:pathLst>
                <a:path w="12189460" h="457200">
                  <a:moveTo>
                    <a:pt x="12189460" y="0"/>
                  </a:moveTo>
                  <a:lnTo>
                    <a:pt x="0" y="0"/>
                  </a:lnTo>
                  <a:lnTo>
                    <a:pt x="0" y="457200"/>
                  </a:lnTo>
                  <a:lnTo>
                    <a:pt x="12189460" y="457200"/>
                  </a:lnTo>
                  <a:lnTo>
                    <a:pt x="12189460" y="0"/>
                  </a:lnTo>
                  <a:close/>
                </a:path>
              </a:pathLst>
            </a:custGeom>
            <a:solidFill>
              <a:srgbClr val="BB562C"/>
            </a:solidFill>
          </p:spPr>
          <p:txBody>
            <a:bodyPr wrap="square" lIns="0" tIns="0" rIns="0" bIns="0" rtlCol="0"/>
            <a:lstStyle/>
            <a:p>
              <a:endParaRPr/>
            </a:p>
          </p:txBody>
        </p:sp>
        <p:sp>
          <p:nvSpPr>
            <p:cNvPr id="4" name="object 4"/>
            <p:cNvSpPr/>
            <p:nvPr/>
          </p:nvSpPr>
          <p:spPr>
            <a:xfrm>
              <a:off x="0" y="6333490"/>
              <a:ext cx="12189460" cy="64135"/>
            </a:xfrm>
            <a:custGeom>
              <a:avLst/>
              <a:gdLst/>
              <a:ahLst/>
              <a:cxnLst/>
              <a:rect l="l" t="t" r="r" b="b"/>
              <a:pathLst>
                <a:path w="12189460" h="64135">
                  <a:moveTo>
                    <a:pt x="12189460" y="0"/>
                  </a:moveTo>
                  <a:lnTo>
                    <a:pt x="0" y="0"/>
                  </a:lnTo>
                  <a:lnTo>
                    <a:pt x="0" y="64135"/>
                  </a:lnTo>
                  <a:lnTo>
                    <a:pt x="12189460" y="64135"/>
                  </a:lnTo>
                  <a:lnTo>
                    <a:pt x="12189460" y="0"/>
                  </a:lnTo>
                  <a:close/>
                </a:path>
              </a:pathLst>
            </a:custGeom>
            <a:solidFill>
              <a:srgbClr val="E28312"/>
            </a:solidFill>
          </p:spPr>
          <p:txBody>
            <a:bodyPr wrap="square" lIns="0" tIns="0" rIns="0" bIns="0" rtlCol="0"/>
            <a:lstStyle/>
            <a:p>
              <a:endParaRPr/>
            </a:p>
          </p:txBody>
        </p:sp>
      </p:grpSp>
      <p:sp>
        <p:nvSpPr>
          <p:cNvPr id="6" name="object 6"/>
          <p:cNvSpPr txBox="1"/>
          <p:nvPr/>
        </p:nvSpPr>
        <p:spPr>
          <a:xfrm>
            <a:off x="11045443" y="6553200"/>
            <a:ext cx="93345" cy="185420"/>
          </a:xfrm>
          <a:prstGeom prst="rect">
            <a:avLst/>
          </a:prstGeom>
        </p:spPr>
        <p:txBody>
          <a:bodyPr vert="horz" wrap="square" lIns="0" tIns="12700" rIns="0" bIns="0" rtlCol="0">
            <a:spAutoFit/>
          </a:bodyPr>
          <a:lstStyle/>
          <a:p>
            <a:pPr marL="12700">
              <a:lnSpc>
                <a:spcPct val="100000"/>
              </a:lnSpc>
              <a:spcBef>
                <a:spcPts val="100"/>
              </a:spcBef>
            </a:pPr>
            <a:r>
              <a:rPr sz="1050" spc="-50" dirty="0">
                <a:solidFill>
                  <a:srgbClr val="FFFFFF"/>
                </a:solidFill>
                <a:latin typeface="Calibri"/>
                <a:cs typeface="Calibri"/>
              </a:rPr>
              <a:t>1</a:t>
            </a:r>
            <a:endParaRPr sz="1050">
              <a:latin typeface="Calibri"/>
              <a:cs typeface="Calibri"/>
            </a:endParaRPr>
          </a:p>
        </p:txBody>
      </p:sp>
      <p:sp>
        <p:nvSpPr>
          <p:cNvPr id="7" name="object 7"/>
          <p:cNvSpPr txBox="1"/>
          <p:nvPr/>
        </p:nvSpPr>
        <p:spPr>
          <a:xfrm>
            <a:off x="4039615" y="788873"/>
            <a:ext cx="3391535" cy="434975"/>
          </a:xfrm>
          <a:prstGeom prst="rect">
            <a:avLst/>
          </a:prstGeom>
        </p:spPr>
        <p:txBody>
          <a:bodyPr vert="horz" wrap="square" lIns="0" tIns="0" rIns="0" bIns="0" rtlCol="0">
            <a:spAutoFit/>
          </a:bodyPr>
          <a:lstStyle/>
          <a:p>
            <a:pPr>
              <a:lnSpc>
                <a:spcPts val="3229"/>
              </a:lnSpc>
            </a:pPr>
            <a:r>
              <a:rPr sz="2800" b="1" spc="-30" dirty="0">
                <a:solidFill>
                  <a:srgbClr val="6E2E9F"/>
                </a:solidFill>
                <a:latin typeface="Calibri"/>
                <a:cs typeface="Calibri"/>
              </a:rPr>
              <a:t>Academic</a:t>
            </a:r>
            <a:r>
              <a:rPr sz="2800" b="1" spc="-110" dirty="0">
                <a:solidFill>
                  <a:srgbClr val="6E2E9F"/>
                </a:solidFill>
                <a:latin typeface="Calibri"/>
                <a:cs typeface="Calibri"/>
              </a:rPr>
              <a:t> </a:t>
            </a:r>
            <a:r>
              <a:rPr sz="2800" b="1" spc="-25" dirty="0">
                <a:solidFill>
                  <a:srgbClr val="6E2E9F"/>
                </a:solidFill>
                <a:latin typeface="Calibri"/>
                <a:cs typeface="Calibri"/>
              </a:rPr>
              <a:t>Year</a:t>
            </a:r>
            <a:r>
              <a:rPr sz="2800" b="1" spc="-90" dirty="0">
                <a:solidFill>
                  <a:srgbClr val="6E2E9F"/>
                </a:solidFill>
                <a:latin typeface="Calibri"/>
                <a:cs typeface="Calibri"/>
              </a:rPr>
              <a:t> </a:t>
            </a:r>
            <a:r>
              <a:rPr sz="2800" b="1" spc="-30" dirty="0">
                <a:solidFill>
                  <a:srgbClr val="6E2E9F"/>
                </a:solidFill>
                <a:latin typeface="Calibri"/>
                <a:cs typeface="Calibri"/>
              </a:rPr>
              <a:t>2025-</a:t>
            </a:r>
            <a:r>
              <a:rPr sz="2800" b="1" spc="-25" dirty="0">
                <a:solidFill>
                  <a:srgbClr val="6E2E9F"/>
                </a:solidFill>
                <a:latin typeface="Calibri"/>
                <a:cs typeface="Calibri"/>
              </a:rPr>
              <a:t>26</a:t>
            </a:r>
            <a:endParaRPr sz="2800">
              <a:latin typeface="Calibri"/>
              <a:cs typeface="Calibri"/>
            </a:endParaRPr>
          </a:p>
        </p:txBody>
      </p:sp>
      <p:sp>
        <p:nvSpPr>
          <p:cNvPr id="8" name="object 8"/>
          <p:cNvSpPr txBox="1"/>
          <p:nvPr/>
        </p:nvSpPr>
        <p:spPr>
          <a:xfrm>
            <a:off x="772731" y="1197572"/>
            <a:ext cx="10183495" cy="2841675"/>
          </a:xfrm>
          <a:prstGeom prst="rect">
            <a:avLst/>
          </a:prstGeom>
        </p:spPr>
        <p:txBody>
          <a:bodyPr vert="horz" wrap="square" lIns="0" tIns="12700" rIns="0" bIns="0" rtlCol="0" anchor="t">
            <a:spAutoFit/>
          </a:bodyPr>
          <a:lstStyle/>
          <a:p>
            <a:pPr marL="13335" algn="ctr">
              <a:spcBef>
                <a:spcPts val="100"/>
              </a:spcBef>
            </a:pPr>
            <a:r>
              <a:rPr lang="en-US" sz="2800" b="1" dirty="0">
                <a:solidFill>
                  <a:srgbClr val="7030A0"/>
                </a:solidFill>
                <a:latin typeface="Times New Roman" panose="02020603050405020304" pitchFamily="18" charset="0"/>
                <a:cs typeface="Times New Roman" panose="02020603050405020304" pitchFamily="18" charset="0"/>
              </a:rPr>
              <a:t>Academic Year 2025-26 </a:t>
            </a:r>
          </a:p>
          <a:p>
            <a:pPr marL="13335" algn="ctr">
              <a:spcBef>
                <a:spcPts val="100"/>
              </a:spcBef>
            </a:pPr>
            <a:endParaRPr lang="en-IN" sz="2800" dirty="0">
              <a:solidFill>
                <a:srgbClr val="40749B"/>
              </a:solidFill>
              <a:latin typeface="Calibri"/>
              <a:cs typeface="Calibri"/>
            </a:endParaRPr>
          </a:p>
          <a:p>
            <a:pPr marL="13335" algn="ctr">
              <a:spcBef>
                <a:spcPts val="100"/>
              </a:spcBef>
            </a:pPr>
            <a:r>
              <a:rPr sz="2800" dirty="0">
                <a:solidFill>
                  <a:srgbClr val="40749B"/>
                </a:solidFill>
                <a:latin typeface="Calibri"/>
                <a:cs typeface="Calibri"/>
              </a:rPr>
              <a:t>BE</a:t>
            </a:r>
            <a:r>
              <a:rPr sz="2800" spc="-100" dirty="0">
                <a:solidFill>
                  <a:srgbClr val="40749B"/>
                </a:solidFill>
                <a:latin typeface="Calibri"/>
                <a:cs typeface="Calibri"/>
              </a:rPr>
              <a:t> </a:t>
            </a:r>
            <a:r>
              <a:rPr sz="2800" dirty="0">
                <a:solidFill>
                  <a:srgbClr val="40749B"/>
                </a:solidFill>
                <a:latin typeface="Calibri"/>
                <a:cs typeface="Calibri"/>
              </a:rPr>
              <a:t>Project</a:t>
            </a:r>
            <a:r>
              <a:rPr sz="2800" spc="-75" dirty="0">
                <a:solidFill>
                  <a:srgbClr val="40749B"/>
                </a:solidFill>
                <a:latin typeface="Calibri"/>
                <a:cs typeface="Calibri"/>
              </a:rPr>
              <a:t> </a:t>
            </a:r>
            <a:r>
              <a:rPr lang="en-IN" sz="2800" dirty="0">
                <a:solidFill>
                  <a:srgbClr val="40749B"/>
                </a:solidFill>
                <a:latin typeface="Calibri"/>
                <a:cs typeface="Calibri"/>
              </a:rPr>
              <a:t>review </a:t>
            </a:r>
            <a:r>
              <a:rPr sz="2800" dirty="0">
                <a:solidFill>
                  <a:srgbClr val="40749B"/>
                </a:solidFill>
                <a:latin typeface="Calibri"/>
                <a:cs typeface="Calibri"/>
              </a:rPr>
              <a:t>No</a:t>
            </a:r>
            <a:r>
              <a:rPr sz="2800" spc="-105" dirty="0">
                <a:solidFill>
                  <a:srgbClr val="40749B"/>
                </a:solidFill>
                <a:latin typeface="Calibri"/>
                <a:cs typeface="Calibri"/>
              </a:rPr>
              <a:t> </a:t>
            </a:r>
            <a:r>
              <a:rPr sz="2800" dirty="0">
                <a:solidFill>
                  <a:srgbClr val="40749B"/>
                </a:solidFill>
                <a:latin typeface="Calibri"/>
                <a:cs typeface="Calibri"/>
              </a:rPr>
              <a:t>:</a:t>
            </a:r>
            <a:r>
              <a:rPr lang="en-US" sz="2800" spc="-110" dirty="0">
                <a:solidFill>
                  <a:srgbClr val="40749B"/>
                </a:solidFill>
                <a:latin typeface="Calibri"/>
                <a:cs typeface="Calibri"/>
              </a:rPr>
              <a:t> 2</a:t>
            </a:r>
          </a:p>
          <a:p>
            <a:pPr marL="2540" algn="ctr">
              <a:lnSpc>
                <a:spcPts val="1860"/>
              </a:lnSpc>
              <a:spcBef>
                <a:spcPts val="15"/>
              </a:spcBef>
            </a:pPr>
            <a:endParaRPr sz="1600" dirty="0">
              <a:latin typeface="Calibri"/>
              <a:cs typeface="Calibri"/>
            </a:endParaRPr>
          </a:p>
          <a:p>
            <a:pPr marL="12065" marR="5080" indent="-3810" algn="ctr">
              <a:lnSpc>
                <a:spcPct val="97900"/>
              </a:lnSpc>
              <a:spcBef>
                <a:spcPts val="15"/>
              </a:spcBef>
              <a:tabLst>
                <a:tab pos="2113280" algn="l"/>
              </a:tabLst>
            </a:pPr>
            <a:r>
              <a:rPr lang="en-US" sz="2800" dirty="0" err="1">
                <a:solidFill>
                  <a:srgbClr val="FF0000"/>
                </a:solidFill>
              </a:rPr>
              <a:t>ManaSarathi</a:t>
            </a:r>
            <a:r>
              <a:rPr lang="en-US" sz="2800" dirty="0">
                <a:solidFill>
                  <a:srgbClr val="FF0000"/>
                </a:solidFill>
              </a:rPr>
              <a:t> AI-Powered Mental Wellness Platform with Holistic Healing and Emotional Support</a:t>
            </a:r>
            <a:endParaRPr lang="en-IN" sz="2800" dirty="0">
              <a:solidFill>
                <a:srgbClr val="FF0000"/>
              </a:solidFill>
            </a:endParaRPr>
          </a:p>
          <a:p>
            <a:pPr marL="12065" marR="5080" indent="-3810" algn="ctr">
              <a:lnSpc>
                <a:spcPct val="97900"/>
              </a:lnSpc>
              <a:spcBef>
                <a:spcPts val="15"/>
              </a:spcBef>
              <a:tabLst>
                <a:tab pos="2113280" algn="l"/>
              </a:tabLst>
            </a:pPr>
            <a:endParaRPr sz="2800" dirty="0">
              <a:latin typeface="Bahnschrift"/>
              <a:cs typeface="Bahnschrift"/>
            </a:endParaRPr>
          </a:p>
        </p:txBody>
      </p:sp>
      <p:sp>
        <p:nvSpPr>
          <p:cNvPr id="9" name="object 9"/>
          <p:cNvSpPr txBox="1"/>
          <p:nvPr/>
        </p:nvSpPr>
        <p:spPr>
          <a:xfrm>
            <a:off x="4297808" y="3766175"/>
            <a:ext cx="3133342" cy="2496196"/>
          </a:xfrm>
          <a:prstGeom prst="rect">
            <a:avLst/>
          </a:prstGeom>
        </p:spPr>
        <p:txBody>
          <a:bodyPr vert="horz" wrap="square" lIns="0" tIns="33655" rIns="0" bIns="0" rtlCol="0" anchor="t">
            <a:spAutoFit/>
          </a:bodyPr>
          <a:lstStyle/>
          <a:p>
            <a:pPr algn="ctr"/>
            <a:r>
              <a:rPr lang="en-US" sz="1600" dirty="0">
                <a:solidFill>
                  <a:srgbClr val="C00000"/>
                </a:solidFill>
                <a:latin typeface="Times New Roman" panose="02020603050405020304" pitchFamily="18" charset="0"/>
                <a:cs typeface="Times New Roman" panose="02020603050405020304" pitchFamily="18" charset="0"/>
              </a:rPr>
              <a:t>By :</a:t>
            </a:r>
          </a:p>
          <a:p>
            <a:pPr algn="ctr"/>
            <a:endParaRPr lang="en-IN" dirty="0">
              <a:solidFill>
                <a:srgbClr val="002060"/>
              </a:solidFill>
              <a:latin typeface="Times New Roman" panose="02020603050405020304" pitchFamily="18" charset="0"/>
              <a:cs typeface="Times New Roman" panose="02020603050405020304" pitchFamily="18" charset="0"/>
            </a:endParaRPr>
          </a:p>
          <a:p>
            <a:pPr algn="ctr"/>
            <a:r>
              <a:rPr lang="en-IN" dirty="0">
                <a:solidFill>
                  <a:srgbClr val="002060"/>
                </a:solidFill>
                <a:latin typeface="Times New Roman" panose="02020603050405020304" pitchFamily="18" charset="0"/>
                <a:cs typeface="Times New Roman" panose="02020603050405020304" pitchFamily="18" charset="0"/>
              </a:rPr>
              <a:t>Project Group No : 06</a:t>
            </a:r>
          </a:p>
          <a:p>
            <a:pPr algn="ctr"/>
            <a:endParaRPr lang="en-IN" dirty="0">
              <a:solidFill>
                <a:srgbClr val="002060"/>
              </a:solidFill>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Aditya </a:t>
            </a:r>
            <a:r>
              <a:rPr lang="en-IN" dirty="0" err="1">
                <a:latin typeface="Times New Roman" panose="02020603050405020304" pitchFamily="18" charset="0"/>
                <a:cs typeface="Times New Roman" panose="02020603050405020304" pitchFamily="18" charset="0"/>
              </a:rPr>
              <a:t>Shirsat</a:t>
            </a:r>
            <a:r>
              <a:rPr lang="en-IN" dirty="0">
                <a:latin typeface="Times New Roman" panose="02020603050405020304" pitchFamily="18" charset="0"/>
                <a:cs typeface="Times New Roman" panose="02020603050405020304" pitchFamily="18" charset="0"/>
              </a:rPr>
              <a:t> (ITBA70)</a:t>
            </a:r>
          </a:p>
          <a:p>
            <a:pPr algn="ctr"/>
            <a:r>
              <a:rPr lang="en-IN" dirty="0">
                <a:latin typeface="Times New Roman" panose="02020603050405020304" pitchFamily="18" charset="0"/>
                <a:cs typeface="Times New Roman" panose="02020603050405020304" pitchFamily="18" charset="0"/>
              </a:rPr>
              <a:t>Atharva Lole (ITBA65)</a:t>
            </a:r>
          </a:p>
          <a:p>
            <a:pPr algn="ctr"/>
            <a:r>
              <a:rPr lang="en-IN" dirty="0">
                <a:latin typeface="Times New Roman" panose="02020603050405020304" pitchFamily="18" charset="0"/>
                <a:cs typeface="Times New Roman" panose="02020603050405020304" pitchFamily="18" charset="0"/>
              </a:rPr>
              <a:t>Sourabh </a:t>
            </a:r>
            <a:r>
              <a:rPr lang="en-IN" dirty="0" err="1">
                <a:latin typeface="Times New Roman" panose="02020603050405020304" pitchFamily="18" charset="0"/>
                <a:cs typeface="Times New Roman" panose="02020603050405020304" pitchFamily="18" charset="0"/>
              </a:rPr>
              <a:t>Shirkande</a:t>
            </a:r>
            <a:r>
              <a:rPr lang="en-IN" dirty="0">
                <a:latin typeface="Times New Roman" panose="02020603050405020304" pitchFamily="18" charset="0"/>
                <a:cs typeface="Times New Roman" panose="02020603050405020304" pitchFamily="18" charset="0"/>
              </a:rPr>
              <a:t> (ITBA67)</a:t>
            </a:r>
          </a:p>
          <a:p>
            <a:pPr algn="ctr"/>
            <a:r>
              <a:rPr lang="en-IN" dirty="0">
                <a:latin typeface="Times New Roman" panose="02020603050405020304" pitchFamily="18" charset="0"/>
                <a:cs typeface="Times New Roman" panose="02020603050405020304" pitchFamily="18" charset="0"/>
              </a:rPr>
              <a:t>Neha Kamble(ITBA18)</a:t>
            </a:r>
          </a:p>
          <a:p>
            <a:pPr marL="12700" algn="l">
              <a:lnSpc>
                <a:spcPct val="100000"/>
              </a:lnSpc>
              <a:spcBef>
                <a:spcPts val="30"/>
              </a:spcBef>
            </a:pPr>
            <a:endParaRPr dirty="0">
              <a:latin typeface="Calibri"/>
              <a:cs typeface="Calibri"/>
            </a:endParaRPr>
          </a:p>
        </p:txBody>
      </p:sp>
      <p:sp>
        <p:nvSpPr>
          <p:cNvPr id="10" name="object 10"/>
          <p:cNvSpPr txBox="1"/>
          <p:nvPr/>
        </p:nvSpPr>
        <p:spPr>
          <a:xfrm>
            <a:off x="1238948" y="5920655"/>
            <a:ext cx="2400173" cy="326371"/>
          </a:xfrm>
          <a:prstGeom prst="rect">
            <a:avLst/>
          </a:prstGeom>
        </p:spPr>
        <p:txBody>
          <a:bodyPr vert="horz" wrap="square" lIns="0" tIns="48895" rIns="0" bIns="0" rtlCol="0" anchor="t">
            <a:spAutoFit/>
          </a:bodyPr>
          <a:lstStyle/>
          <a:p>
            <a:pPr marL="12700" algn="ctr">
              <a:spcBef>
                <a:spcPts val="385"/>
              </a:spcBef>
            </a:pPr>
            <a:r>
              <a:rPr lang="en-US" dirty="0">
                <a:solidFill>
                  <a:srgbClr val="FF0000"/>
                </a:solidFill>
                <a:latin typeface="Times New Roman" panose="02020603050405020304" pitchFamily="18" charset="0"/>
                <a:cs typeface="Times New Roman" panose="02020603050405020304" pitchFamily="18" charset="0"/>
              </a:rPr>
              <a:t>Guide: </a:t>
            </a:r>
            <a:r>
              <a:rPr lang="en-US" b="1" dirty="0">
                <a:latin typeface="Times New Roman" panose="02020603050405020304" pitchFamily="18" charset="0"/>
                <a:cs typeface="Times New Roman" panose="02020603050405020304" pitchFamily="18" charset="0"/>
              </a:rPr>
              <a:t>Prof. M . S . Kale</a:t>
            </a:r>
            <a:endParaRPr dirty="0">
              <a:latin typeface="Calibri"/>
              <a:cs typeface="Calibri"/>
            </a:endParaRPr>
          </a:p>
        </p:txBody>
      </p:sp>
      <p:sp>
        <p:nvSpPr>
          <p:cNvPr id="11" name="object 11"/>
          <p:cNvSpPr txBox="1"/>
          <p:nvPr/>
        </p:nvSpPr>
        <p:spPr>
          <a:xfrm>
            <a:off x="7942706" y="5901773"/>
            <a:ext cx="2915667" cy="326371"/>
          </a:xfrm>
          <a:prstGeom prst="rect">
            <a:avLst/>
          </a:prstGeom>
        </p:spPr>
        <p:txBody>
          <a:bodyPr vert="horz" wrap="square" lIns="0" tIns="48895" rIns="0" bIns="0" rtlCol="0">
            <a:spAutoFit/>
          </a:bodyPr>
          <a:lstStyle/>
          <a:p>
            <a:pPr marL="14604">
              <a:lnSpc>
                <a:spcPct val="100000"/>
              </a:lnSpc>
              <a:spcBef>
                <a:spcPts val="385"/>
              </a:spcBef>
            </a:pPr>
            <a:r>
              <a:rPr lang="en-IN" dirty="0">
                <a:solidFill>
                  <a:srgbClr val="FF0000"/>
                </a:solidFill>
                <a:latin typeface="Times New Roman" panose="02020603050405020304" pitchFamily="18" charset="0"/>
                <a:cs typeface="Times New Roman" panose="02020603050405020304" pitchFamily="18" charset="0"/>
              </a:rPr>
              <a:t>Reviewer : </a:t>
            </a:r>
            <a:r>
              <a:rPr lang="en-US" b="1" dirty="0">
                <a:solidFill>
                  <a:schemeClr val="tx1"/>
                </a:solidFill>
                <a:latin typeface="Times New Roman" panose="02020603050405020304" pitchFamily="18" charset="0"/>
                <a:cs typeface="Times New Roman" panose="02020603050405020304" pitchFamily="18" charset="0"/>
              </a:rPr>
              <a:t>Prof. R. R. Yadav</a:t>
            </a:r>
            <a:endParaRPr dirty="0">
              <a:solidFill>
                <a:schemeClr val="tx1"/>
              </a:solidFill>
              <a:latin typeface="Calibri"/>
              <a:cs typeface="Calibri"/>
            </a:endParaRPr>
          </a:p>
        </p:txBody>
      </p:sp>
      <p:grpSp>
        <p:nvGrpSpPr>
          <p:cNvPr id="12" name="object 12"/>
          <p:cNvGrpSpPr/>
          <p:nvPr/>
        </p:nvGrpSpPr>
        <p:grpSpPr>
          <a:xfrm>
            <a:off x="0" y="0"/>
            <a:ext cx="12192000" cy="1259205"/>
            <a:chOff x="0" y="0"/>
            <a:chExt cx="12192000" cy="1259205"/>
          </a:xfrm>
        </p:grpSpPr>
        <p:sp>
          <p:nvSpPr>
            <p:cNvPr id="13" name="object 13"/>
            <p:cNvSpPr/>
            <p:nvPr/>
          </p:nvSpPr>
          <p:spPr>
            <a:xfrm>
              <a:off x="1598930" y="0"/>
              <a:ext cx="10593070" cy="1188085"/>
            </a:xfrm>
            <a:custGeom>
              <a:avLst/>
              <a:gdLst/>
              <a:ahLst/>
              <a:cxnLst/>
              <a:rect l="l" t="t" r="r" b="b"/>
              <a:pathLst>
                <a:path w="10593070" h="1188085">
                  <a:moveTo>
                    <a:pt x="10593070" y="0"/>
                  </a:moveTo>
                  <a:lnTo>
                    <a:pt x="0" y="0"/>
                  </a:lnTo>
                  <a:lnTo>
                    <a:pt x="0" y="1188085"/>
                  </a:lnTo>
                  <a:lnTo>
                    <a:pt x="10593070" y="1188085"/>
                  </a:lnTo>
                  <a:lnTo>
                    <a:pt x="10593070" y="0"/>
                  </a:lnTo>
                  <a:close/>
                </a:path>
              </a:pathLst>
            </a:custGeom>
            <a:solidFill>
              <a:srgbClr val="E28312"/>
            </a:solidFill>
          </p:spPr>
          <p:txBody>
            <a:bodyPr wrap="square" lIns="0" tIns="0" rIns="0" bIns="0" rtlCol="0"/>
            <a:lstStyle/>
            <a:p>
              <a:endParaRPr/>
            </a:p>
          </p:txBody>
        </p:sp>
        <p:sp>
          <p:nvSpPr>
            <p:cNvPr id="14" name="object 14"/>
            <p:cNvSpPr/>
            <p:nvPr/>
          </p:nvSpPr>
          <p:spPr>
            <a:xfrm>
              <a:off x="1598930" y="1174750"/>
              <a:ext cx="10593070" cy="25400"/>
            </a:xfrm>
            <a:custGeom>
              <a:avLst/>
              <a:gdLst/>
              <a:ahLst/>
              <a:cxnLst/>
              <a:rect l="l" t="t" r="r" b="b"/>
              <a:pathLst>
                <a:path w="10593070" h="25400">
                  <a:moveTo>
                    <a:pt x="10593070" y="0"/>
                  </a:moveTo>
                  <a:lnTo>
                    <a:pt x="0" y="0"/>
                  </a:lnTo>
                  <a:lnTo>
                    <a:pt x="0" y="25400"/>
                  </a:lnTo>
                  <a:lnTo>
                    <a:pt x="10593070" y="25400"/>
                  </a:lnTo>
                  <a:lnTo>
                    <a:pt x="10593070" y="0"/>
                  </a:lnTo>
                  <a:close/>
                </a:path>
              </a:pathLst>
            </a:custGeom>
            <a:solidFill>
              <a:srgbClr val="FFFFFF"/>
            </a:solidFill>
          </p:spPr>
          <p:txBody>
            <a:bodyPr wrap="square" lIns="0" tIns="0" rIns="0" bIns="0" rtlCol="0"/>
            <a:lstStyle/>
            <a:p>
              <a:endParaRPr/>
            </a:p>
          </p:txBody>
        </p:sp>
        <p:sp>
          <p:nvSpPr>
            <p:cNvPr id="15" name="object 15"/>
            <p:cNvSpPr/>
            <p:nvPr/>
          </p:nvSpPr>
          <p:spPr>
            <a:xfrm>
              <a:off x="1599564" y="0"/>
              <a:ext cx="0" cy="1188085"/>
            </a:xfrm>
            <a:custGeom>
              <a:avLst/>
              <a:gdLst/>
              <a:ahLst/>
              <a:cxnLst/>
              <a:rect l="l" t="t" r="r" b="b"/>
              <a:pathLst>
                <a:path h="1188085">
                  <a:moveTo>
                    <a:pt x="0" y="0"/>
                  </a:moveTo>
                  <a:lnTo>
                    <a:pt x="0" y="1188085"/>
                  </a:lnTo>
                </a:path>
              </a:pathLst>
            </a:custGeom>
            <a:ln w="25400">
              <a:solidFill>
                <a:srgbClr val="FFFFFF"/>
              </a:solidFill>
            </a:ln>
          </p:spPr>
          <p:txBody>
            <a:bodyPr wrap="square" lIns="0" tIns="0" rIns="0" bIns="0" rtlCol="0"/>
            <a:lstStyle/>
            <a:p>
              <a:endParaRPr/>
            </a:p>
          </p:txBody>
        </p:sp>
        <p:pic>
          <p:nvPicPr>
            <p:cNvPr id="16" name="object 16"/>
            <p:cNvPicPr/>
            <p:nvPr/>
          </p:nvPicPr>
          <p:blipFill>
            <a:blip r:embed="rId2" cstate="print"/>
            <a:stretch>
              <a:fillRect/>
            </a:stretch>
          </p:blipFill>
          <p:spPr>
            <a:xfrm>
              <a:off x="10593069" y="0"/>
              <a:ext cx="1598929" cy="1187450"/>
            </a:xfrm>
            <a:prstGeom prst="rect">
              <a:avLst/>
            </a:prstGeom>
          </p:spPr>
        </p:pic>
        <p:pic>
          <p:nvPicPr>
            <p:cNvPr id="17" name="object 17"/>
            <p:cNvPicPr/>
            <p:nvPr/>
          </p:nvPicPr>
          <p:blipFill>
            <a:blip r:embed="rId3" cstate="print"/>
            <a:stretch>
              <a:fillRect/>
            </a:stretch>
          </p:blipFill>
          <p:spPr>
            <a:xfrm>
              <a:off x="0" y="0"/>
              <a:ext cx="1598930" cy="1259204"/>
            </a:xfrm>
            <a:prstGeom prst="rect">
              <a:avLst/>
            </a:prstGeom>
          </p:spPr>
        </p:pic>
      </p:grpSp>
      <p:sp>
        <p:nvSpPr>
          <p:cNvPr id="18" name="object 18"/>
          <p:cNvSpPr txBox="1">
            <a:spLocks noGrp="1"/>
          </p:cNvSpPr>
          <p:nvPr>
            <p:ph type="title"/>
          </p:nvPr>
        </p:nvSpPr>
        <p:spPr>
          <a:xfrm>
            <a:off x="2439035" y="101536"/>
            <a:ext cx="6559550" cy="833119"/>
          </a:xfrm>
          <a:prstGeom prst="rect">
            <a:avLst/>
          </a:prstGeom>
        </p:spPr>
        <p:txBody>
          <a:bodyPr vert="horz" wrap="square" lIns="0" tIns="88265" rIns="0" bIns="0" rtlCol="0">
            <a:spAutoFit/>
          </a:bodyPr>
          <a:lstStyle/>
          <a:p>
            <a:pPr marL="12700" marR="5080" indent="476250">
              <a:lnSpc>
                <a:spcPts val="2880"/>
              </a:lnSpc>
              <a:spcBef>
                <a:spcPts val="695"/>
              </a:spcBef>
            </a:pPr>
            <a:r>
              <a:rPr sz="2900" b="1" spc="-25" dirty="0">
                <a:latin typeface="Arial"/>
                <a:cs typeface="Arial"/>
              </a:rPr>
              <a:t>Sinhgad</a:t>
            </a:r>
            <a:r>
              <a:rPr sz="2900" b="1" spc="-225" dirty="0">
                <a:latin typeface="Arial"/>
                <a:cs typeface="Arial"/>
              </a:rPr>
              <a:t> </a:t>
            </a:r>
            <a:r>
              <a:rPr sz="2900" b="1" spc="-20" dirty="0">
                <a:latin typeface="Arial"/>
                <a:cs typeface="Arial"/>
              </a:rPr>
              <a:t>Academy</a:t>
            </a:r>
            <a:r>
              <a:rPr sz="2900" b="1" spc="-185" dirty="0">
                <a:latin typeface="Arial"/>
                <a:cs typeface="Arial"/>
              </a:rPr>
              <a:t> </a:t>
            </a:r>
            <a:r>
              <a:rPr sz="2900" b="1" dirty="0">
                <a:latin typeface="Arial"/>
                <a:cs typeface="Arial"/>
              </a:rPr>
              <a:t>of</a:t>
            </a:r>
            <a:r>
              <a:rPr sz="2900" b="1" spc="-90" dirty="0">
                <a:latin typeface="Arial"/>
                <a:cs typeface="Arial"/>
              </a:rPr>
              <a:t> </a:t>
            </a:r>
            <a:r>
              <a:rPr sz="2900" b="1" spc="-10" dirty="0">
                <a:latin typeface="Arial"/>
                <a:cs typeface="Arial"/>
              </a:rPr>
              <a:t>Engineering </a:t>
            </a:r>
            <a:r>
              <a:rPr sz="2900" b="1" spc="-60" dirty="0">
                <a:latin typeface="Arial"/>
                <a:cs typeface="Arial"/>
              </a:rPr>
              <a:t>Department</a:t>
            </a:r>
            <a:r>
              <a:rPr sz="2900" b="1" spc="-160" dirty="0">
                <a:latin typeface="Arial"/>
                <a:cs typeface="Arial"/>
              </a:rPr>
              <a:t> </a:t>
            </a:r>
            <a:r>
              <a:rPr sz="2900" b="1" spc="-25" dirty="0">
                <a:latin typeface="Arial"/>
                <a:cs typeface="Arial"/>
              </a:rPr>
              <a:t>of</a:t>
            </a:r>
            <a:r>
              <a:rPr sz="2900" b="1" spc="-135" dirty="0">
                <a:latin typeface="Arial"/>
                <a:cs typeface="Arial"/>
              </a:rPr>
              <a:t> </a:t>
            </a:r>
            <a:r>
              <a:rPr sz="2900" b="1" spc="-65" dirty="0">
                <a:latin typeface="Arial"/>
                <a:cs typeface="Arial"/>
              </a:rPr>
              <a:t>Information</a:t>
            </a:r>
            <a:r>
              <a:rPr sz="2900" b="1" spc="-165" dirty="0">
                <a:latin typeface="Arial"/>
                <a:cs typeface="Arial"/>
              </a:rPr>
              <a:t> </a:t>
            </a:r>
            <a:r>
              <a:rPr sz="2900" b="1" spc="-30" dirty="0">
                <a:latin typeface="Arial"/>
                <a:cs typeface="Arial"/>
              </a:rPr>
              <a:t>Technology</a:t>
            </a:r>
            <a:endParaRPr sz="29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5844" y="15811"/>
            <a:ext cx="7560310" cy="895758"/>
          </a:xfrm>
          <a:prstGeom prst="rect">
            <a:avLst/>
          </a:prstGeom>
        </p:spPr>
        <p:txBody>
          <a:bodyPr vert="horz" wrap="square" lIns="0" tIns="155575" rIns="0" bIns="0" rtlCol="0" anchor="t">
            <a:spAutoFit/>
          </a:bodyPr>
          <a:lstStyle/>
          <a:p>
            <a:pPr marL="2854325">
              <a:lnSpc>
                <a:spcPct val="100000"/>
              </a:lnSpc>
              <a:spcBef>
                <a:spcPts val="100"/>
              </a:spcBef>
            </a:pPr>
            <a:r>
              <a:rPr sz="4800" spc="-10" dirty="0"/>
              <a:t>Index</a:t>
            </a:r>
            <a:endParaRPr lang="en-US" sz="4800" dirty="0"/>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73025">
              <a:lnSpc>
                <a:spcPct val="100000"/>
              </a:lnSpc>
              <a:spcBef>
                <a:spcPts val="50"/>
              </a:spcBef>
            </a:pPr>
            <a:fld id="{81D60167-4931-47E6-BA6A-407CBD079E47}" type="slidenum">
              <a:rPr spc="-50" dirty="0"/>
              <a:t>2</a:t>
            </a:fld>
            <a:endParaRPr spc="-50" dirty="0"/>
          </a:p>
        </p:txBody>
      </p:sp>
      <p:sp>
        <p:nvSpPr>
          <p:cNvPr id="3" name="object 3"/>
          <p:cNvSpPr txBox="1"/>
          <p:nvPr/>
        </p:nvSpPr>
        <p:spPr>
          <a:xfrm>
            <a:off x="1015112" y="1113280"/>
            <a:ext cx="4416109" cy="5439951"/>
          </a:xfrm>
          <a:prstGeom prst="rect">
            <a:avLst/>
          </a:prstGeom>
        </p:spPr>
        <p:txBody>
          <a:bodyPr vert="horz" wrap="square" lIns="0" tIns="12700" rIns="0" bIns="0" rtlCol="0">
            <a:spAutoFit/>
          </a:bodyPr>
          <a:lstStyle/>
          <a:p>
            <a:pPr marL="354965" indent="-342265">
              <a:lnSpc>
                <a:spcPts val="2840"/>
              </a:lnSpc>
              <a:spcBef>
                <a:spcPts val="100"/>
              </a:spcBef>
              <a:buFont typeface="Microsoft Sans Serif"/>
              <a:buChar char="•"/>
              <a:tabLst>
                <a:tab pos="354965" algn="l"/>
              </a:tabLst>
            </a:pPr>
            <a:r>
              <a:rPr sz="2400" spc="-10" dirty="0">
                <a:solidFill>
                  <a:srgbClr val="006EC0"/>
                </a:solidFill>
                <a:latin typeface="Times New Roman"/>
                <a:cs typeface="Times New Roman"/>
              </a:rPr>
              <a:t>Introduction</a:t>
            </a:r>
            <a:endParaRPr sz="2400" dirty="0">
              <a:latin typeface="Times New Roman"/>
              <a:cs typeface="Times New Roman"/>
            </a:endParaRPr>
          </a:p>
          <a:p>
            <a:pPr marL="354965" indent="-342265">
              <a:lnSpc>
                <a:spcPts val="2800"/>
              </a:lnSpc>
              <a:buFont typeface="Microsoft Sans Serif"/>
              <a:buChar char="•"/>
              <a:tabLst>
                <a:tab pos="354965" algn="l"/>
              </a:tabLst>
            </a:pPr>
            <a:r>
              <a:rPr sz="2400" spc="-10" dirty="0">
                <a:solidFill>
                  <a:srgbClr val="006EC0"/>
                </a:solidFill>
                <a:latin typeface="Times New Roman"/>
                <a:cs typeface="Times New Roman"/>
              </a:rPr>
              <a:t>Aim</a:t>
            </a:r>
            <a:r>
              <a:rPr sz="2400" spc="-140" dirty="0">
                <a:solidFill>
                  <a:srgbClr val="006EC0"/>
                </a:solidFill>
                <a:latin typeface="Times New Roman"/>
                <a:cs typeface="Times New Roman"/>
              </a:rPr>
              <a:t> </a:t>
            </a:r>
            <a:r>
              <a:rPr sz="2400" dirty="0">
                <a:solidFill>
                  <a:srgbClr val="006EC0"/>
                </a:solidFill>
                <a:latin typeface="Times New Roman"/>
                <a:cs typeface="Times New Roman"/>
              </a:rPr>
              <a:t>And</a:t>
            </a:r>
            <a:r>
              <a:rPr sz="2400" spc="-25" dirty="0">
                <a:solidFill>
                  <a:srgbClr val="006EC0"/>
                </a:solidFill>
                <a:latin typeface="Times New Roman"/>
                <a:cs typeface="Times New Roman"/>
              </a:rPr>
              <a:t> </a:t>
            </a:r>
            <a:r>
              <a:rPr sz="2400" spc="-10" dirty="0">
                <a:solidFill>
                  <a:srgbClr val="006EC0"/>
                </a:solidFill>
                <a:latin typeface="Times New Roman"/>
                <a:cs typeface="Times New Roman"/>
              </a:rPr>
              <a:t>Objective</a:t>
            </a:r>
            <a:endParaRPr sz="2400" dirty="0">
              <a:latin typeface="Times New Roman"/>
              <a:cs typeface="Times New Roman"/>
            </a:endParaRPr>
          </a:p>
          <a:p>
            <a:pPr marL="354965" indent="-342265">
              <a:lnSpc>
                <a:spcPts val="2800"/>
              </a:lnSpc>
              <a:buFont typeface="Microsoft Sans Serif"/>
              <a:buChar char="•"/>
              <a:tabLst>
                <a:tab pos="354965" algn="l"/>
              </a:tabLst>
            </a:pPr>
            <a:r>
              <a:rPr sz="2400" spc="-10" dirty="0">
                <a:solidFill>
                  <a:srgbClr val="006EC0"/>
                </a:solidFill>
                <a:latin typeface="Times New Roman"/>
                <a:cs typeface="Times New Roman"/>
              </a:rPr>
              <a:t>Scope</a:t>
            </a:r>
            <a:endParaRPr sz="2400" dirty="0">
              <a:latin typeface="Times New Roman"/>
              <a:cs typeface="Times New Roman"/>
            </a:endParaRPr>
          </a:p>
          <a:p>
            <a:pPr marL="354965" indent="-342265">
              <a:lnSpc>
                <a:spcPts val="2815"/>
              </a:lnSpc>
              <a:buFont typeface="Microsoft Sans Serif"/>
              <a:buChar char="•"/>
              <a:tabLst>
                <a:tab pos="354965" algn="l"/>
              </a:tabLst>
            </a:pPr>
            <a:r>
              <a:rPr sz="2400" dirty="0">
                <a:solidFill>
                  <a:srgbClr val="006EC0"/>
                </a:solidFill>
                <a:latin typeface="Times New Roman"/>
                <a:cs typeface="Times New Roman"/>
              </a:rPr>
              <a:t>Literature</a:t>
            </a:r>
            <a:r>
              <a:rPr sz="2400" spc="-75" dirty="0">
                <a:solidFill>
                  <a:srgbClr val="006EC0"/>
                </a:solidFill>
                <a:latin typeface="Times New Roman"/>
                <a:cs typeface="Times New Roman"/>
              </a:rPr>
              <a:t> </a:t>
            </a:r>
            <a:r>
              <a:rPr sz="2400" spc="-10" dirty="0">
                <a:solidFill>
                  <a:srgbClr val="006EC0"/>
                </a:solidFill>
                <a:latin typeface="Times New Roman"/>
                <a:cs typeface="Times New Roman"/>
              </a:rPr>
              <a:t>Survey</a:t>
            </a:r>
            <a:endParaRPr sz="2400" dirty="0">
              <a:latin typeface="Times New Roman"/>
              <a:cs typeface="Times New Roman"/>
            </a:endParaRPr>
          </a:p>
          <a:p>
            <a:pPr marL="354965" indent="-342265">
              <a:lnSpc>
                <a:spcPts val="2815"/>
              </a:lnSpc>
              <a:buFont typeface="Microsoft Sans Serif"/>
              <a:buChar char="•"/>
              <a:tabLst>
                <a:tab pos="354965" algn="l"/>
              </a:tabLst>
            </a:pPr>
            <a:r>
              <a:rPr sz="2400" dirty="0">
                <a:solidFill>
                  <a:srgbClr val="006EC0"/>
                </a:solidFill>
                <a:latin typeface="Times New Roman"/>
                <a:cs typeface="Times New Roman"/>
              </a:rPr>
              <a:t>Problems</a:t>
            </a:r>
            <a:r>
              <a:rPr sz="2400" spc="-50" dirty="0">
                <a:solidFill>
                  <a:srgbClr val="006EC0"/>
                </a:solidFill>
                <a:latin typeface="Times New Roman"/>
                <a:cs typeface="Times New Roman"/>
              </a:rPr>
              <a:t> </a:t>
            </a:r>
            <a:r>
              <a:rPr sz="2400" spc="-10" dirty="0">
                <a:solidFill>
                  <a:srgbClr val="006EC0"/>
                </a:solidFill>
                <a:latin typeface="Times New Roman"/>
                <a:cs typeface="Times New Roman"/>
              </a:rPr>
              <a:t>Identified</a:t>
            </a:r>
            <a:endParaRPr sz="2400" dirty="0">
              <a:latin typeface="Times New Roman"/>
              <a:cs typeface="Times New Roman"/>
            </a:endParaRPr>
          </a:p>
          <a:p>
            <a:pPr marL="354965" indent="-342265">
              <a:lnSpc>
                <a:spcPts val="2800"/>
              </a:lnSpc>
              <a:buFont typeface="Microsoft Sans Serif"/>
              <a:buChar char="•"/>
              <a:tabLst>
                <a:tab pos="354965" algn="l"/>
              </a:tabLst>
            </a:pPr>
            <a:r>
              <a:rPr sz="2400" dirty="0">
                <a:solidFill>
                  <a:srgbClr val="006EC0"/>
                </a:solidFill>
                <a:latin typeface="Times New Roman"/>
                <a:cs typeface="Times New Roman"/>
              </a:rPr>
              <a:t>Proposed</a:t>
            </a:r>
            <a:r>
              <a:rPr sz="2400" spc="-100" dirty="0">
                <a:solidFill>
                  <a:srgbClr val="006EC0"/>
                </a:solidFill>
                <a:latin typeface="Times New Roman"/>
                <a:cs typeface="Times New Roman"/>
              </a:rPr>
              <a:t> </a:t>
            </a:r>
            <a:r>
              <a:rPr sz="2400" spc="-10" dirty="0">
                <a:solidFill>
                  <a:srgbClr val="006EC0"/>
                </a:solidFill>
                <a:latin typeface="Times New Roman"/>
                <a:cs typeface="Times New Roman"/>
              </a:rPr>
              <a:t>System/Solution</a:t>
            </a:r>
            <a:endParaRPr lang="en-IN" sz="2400" spc="-10" dirty="0">
              <a:solidFill>
                <a:srgbClr val="006EC0"/>
              </a:solidFill>
              <a:latin typeface="Times New Roman"/>
              <a:cs typeface="Times New Roman"/>
            </a:endParaRPr>
          </a:p>
          <a:p>
            <a:pPr marL="342900" lvl="0" indent="-342900">
              <a:buFont typeface="Arial" panose="020B0604020202020204" pitchFamily="34" charset="0"/>
              <a:buChar char="•"/>
              <a:tabLst>
                <a:tab pos="457200" algn="l"/>
              </a:tabLst>
            </a:pPr>
            <a:r>
              <a:rPr lang="en-US" sz="2400" kern="12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Objective  </a:t>
            </a:r>
            <a:r>
              <a:rPr lang="en-US" sz="2400" kern="12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Finalized</a:t>
            </a:r>
            <a:endParaRPr lang="en-US" sz="2400" kern="12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tabLst>
                <a:tab pos="457200" algn="l"/>
              </a:tabLst>
            </a:pPr>
            <a:r>
              <a:rPr lang="en-US" sz="24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Dataflow Diagram</a:t>
            </a:r>
          </a:p>
          <a:p>
            <a:pPr marL="342900" lvl="0" indent="-342900">
              <a:buFont typeface="Arial" panose="020B0604020202020204" pitchFamily="34" charset="0"/>
              <a:buChar char="•"/>
              <a:tabLst>
                <a:tab pos="457200" algn="l"/>
              </a:tabLst>
            </a:pPr>
            <a:r>
              <a:rPr lang="en-US" sz="24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UML Class Diagram</a:t>
            </a:r>
          </a:p>
          <a:p>
            <a:pPr marL="342900" lvl="0" indent="-342900">
              <a:buFont typeface="Arial" panose="020B0604020202020204" pitchFamily="34" charset="0"/>
              <a:buChar char="•"/>
              <a:tabLst>
                <a:tab pos="457200" algn="l"/>
              </a:tabLst>
            </a:pPr>
            <a:r>
              <a:rPr lang="en-US" sz="24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Sequence Diagram</a:t>
            </a:r>
            <a:endParaRPr sz="2400" dirty="0">
              <a:latin typeface="Times New Roman"/>
              <a:cs typeface="Times New Roman"/>
            </a:endParaRPr>
          </a:p>
          <a:p>
            <a:pPr marL="354965" indent="-342265">
              <a:lnSpc>
                <a:spcPts val="2800"/>
              </a:lnSpc>
              <a:buFont typeface="Microsoft Sans Serif"/>
              <a:buChar char="•"/>
              <a:tabLst>
                <a:tab pos="354965" algn="l"/>
              </a:tabLst>
            </a:pPr>
            <a:r>
              <a:rPr sz="2400" dirty="0">
                <a:solidFill>
                  <a:srgbClr val="006EC0"/>
                </a:solidFill>
                <a:latin typeface="Times New Roman"/>
                <a:cs typeface="Times New Roman"/>
              </a:rPr>
              <a:t>Architecture</a:t>
            </a:r>
            <a:r>
              <a:rPr sz="2400" spc="-50" dirty="0">
                <a:solidFill>
                  <a:srgbClr val="006EC0"/>
                </a:solidFill>
                <a:latin typeface="Times New Roman"/>
                <a:cs typeface="Times New Roman"/>
              </a:rPr>
              <a:t> </a:t>
            </a:r>
            <a:r>
              <a:rPr sz="2400" spc="-10" dirty="0">
                <a:solidFill>
                  <a:srgbClr val="006EC0"/>
                </a:solidFill>
                <a:latin typeface="Times New Roman"/>
                <a:cs typeface="Times New Roman"/>
              </a:rPr>
              <a:t>Diagram</a:t>
            </a:r>
            <a:endParaRPr sz="2400" dirty="0">
              <a:latin typeface="Times New Roman"/>
              <a:cs typeface="Times New Roman"/>
            </a:endParaRPr>
          </a:p>
          <a:p>
            <a:pPr marL="354965" indent="-342265">
              <a:lnSpc>
                <a:spcPts val="2800"/>
              </a:lnSpc>
              <a:buFont typeface="Microsoft Sans Serif"/>
              <a:buChar char="•"/>
              <a:tabLst>
                <a:tab pos="354965" algn="l"/>
              </a:tabLst>
            </a:pPr>
            <a:r>
              <a:rPr sz="2400" dirty="0">
                <a:solidFill>
                  <a:srgbClr val="006EC0"/>
                </a:solidFill>
                <a:latin typeface="Times New Roman"/>
                <a:cs typeface="Times New Roman"/>
              </a:rPr>
              <a:t>Software</a:t>
            </a:r>
            <a:r>
              <a:rPr sz="2400" spc="-60" dirty="0">
                <a:solidFill>
                  <a:srgbClr val="006EC0"/>
                </a:solidFill>
                <a:latin typeface="Times New Roman"/>
                <a:cs typeface="Times New Roman"/>
              </a:rPr>
              <a:t> </a:t>
            </a:r>
            <a:r>
              <a:rPr sz="2400" dirty="0">
                <a:solidFill>
                  <a:srgbClr val="006EC0"/>
                </a:solidFill>
                <a:latin typeface="Times New Roman"/>
                <a:cs typeface="Times New Roman"/>
              </a:rPr>
              <a:t>/</a:t>
            </a:r>
            <a:r>
              <a:rPr sz="2400" spc="-65" dirty="0">
                <a:solidFill>
                  <a:srgbClr val="006EC0"/>
                </a:solidFill>
                <a:latin typeface="Times New Roman"/>
                <a:cs typeface="Times New Roman"/>
              </a:rPr>
              <a:t> </a:t>
            </a:r>
            <a:r>
              <a:rPr sz="2400" spc="-10" dirty="0">
                <a:solidFill>
                  <a:srgbClr val="006EC0"/>
                </a:solidFill>
                <a:latin typeface="Times New Roman"/>
                <a:cs typeface="Times New Roman"/>
              </a:rPr>
              <a:t>Hardware</a:t>
            </a:r>
            <a:endParaRPr sz="2400" dirty="0">
              <a:latin typeface="Times New Roman"/>
              <a:cs typeface="Times New Roman"/>
            </a:endParaRPr>
          </a:p>
          <a:p>
            <a:pPr marL="354965" indent="-342265">
              <a:lnSpc>
                <a:spcPts val="2800"/>
              </a:lnSpc>
              <a:buFont typeface="Microsoft Sans Serif"/>
              <a:buChar char="•"/>
              <a:tabLst>
                <a:tab pos="354965" algn="l"/>
              </a:tabLst>
            </a:pPr>
            <a:r>
              <a:rPr sz="2400" dirty="0">
                <a:solidFill>
                  <a:srgbClr val="006EC0"/>
                </a:solidFill>
                <a:latin typeface="Times New Roman"/>
                <a:cs typeface="Times New Roman"/>
              </a:rPr>
              <a:t>Project</a:t>
            </a:r>
            <a:r>
              <a:rPr sz="2400" spc="-20" dirty="0">
                <a:solidFill>
                  <a:srgbClr val="006EC0"/>
                </a:solidFill>
                <a:latin typeface="Times New Roman"/>
                <a:cs typeface="Times New Roman"/>
              </a:rPr>
              <a:t> Plan</a:t>
            </a:r>
            <a:endParaRPr sz="2400" dirty="0">
              <a:latin typeface="Times New Roman"/>
              <a:cs typeface="Times New Roman"/>
            </a:endParaRPr>
          </a:p>
          <a:p>
            <a:pPr marL="354965" indent="-342265">
              <a:lnSpc>
                <a:spcPts val="2800"/>
              </a:lnSpc>
              <a:buFont typeface="Microsoft Sans Serif"/>
              <a:buChar char="•"/>
              <a:tabLst>
                <a:tab pos="354965" algn="l"/>
              </a:tabLst>
            </a:pPr>
            <a:r>
              <a:rPr sz="2400" spc="-10" dirty="0">
                <a:solidFill>
                  <a:srgbClr val="006EC0"/>
                </a:solidFill>
                <a:latin typeface="Times New Roman"/>
                <a:cs typeface="Times New Roman"/>
              </a:rPr>
              <a:t>Conclusion</a:t>
            </a:r>
            <a:endParaRPr sz="2400" dirty="0">
              <a:latin typeface="Times New Roman"/>
              <a:cs typeface="Times New Roman"/>
            </a:endParaRPr>
          </a:p>
          <a:p>
            <a:pPr marL="354965" indent="-342265">
              <a:lnSpc>
                <a:spcPts val="2840"/>
              </a:lnSpc>
              <a:buFont typeface="Microsoft Sans Serif"/>
              <a:buChar char="•"/>
              <a:tabLst>
                <a:tab pos="354965" algn="l"/>
              </a:tabLst>
            </a:pPr>
            <a:r>
              <a:rPr sz="2400" spc="-10" dirty="0">
                <a:solidFill>
                  <a:srgbClr val="006EC0"/>
                </a:solidFill>
                <a:latin typeface="Times New Roman"/>
                <a:cs typeface="Times New Roman"/>
              </a:rPr>
              <a:t>References</a:t>
            </a: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42790" y="158686"/>
            <a:ext cx="4112895" cy="757555"/>
          </a:xfrm>
          <a:prstGeom prst="rect">
            <a:avLst/>
          </a:prstGeom>
        </p:spPr>
        <p:txBody>
          <a:bodyPr vert="horz" wrap="square" lIns="0" tIns="12700" rIns="0" bIns="0" rtlCol="0">
            <a:spAutoFit/>
          </a:bodyPr>
          <a:lstStyle/>
          <a:p>
            <a:pPr marL="12700">
              <a:lnSpc>
                <a:spcPct val="100000"/>
              </a:lnSpc>
              <a:spcBef>
                <a:spcPts val="100"/>
              </a:spcBef>
            </a:pPr>
            <a:r>
              <a:rPr sz="4800" spc="-10" dirty="0"/>
              <a:t>Introduction</a:t>
            </a:r>
            <a:endParaRPr sz="4800"/>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73025">
              <a:lnSpc>
                <a:spcPct val="100000"/>
              </a:lnSpc>
              <a:spcBef>
                <a:spcPts val="50"/>
              </a:spcBef>
            </a:pPr>
            <a:fld id="{81D60167-4931-47E6-BA6A-407CBD079E47}" type="slidenum">
              <a:rPr spc="-50" dirty="0"/>
              <a:t>3</a:t>
            </a:fld>
            <a:endParaRPr spc="-50" dirty="0"/>
          </a:p>
        </p:txBody>
      </p:sp>
      <p:sp>
        <p:nvSpPr>
          <p:cNvPr id="3" name="object 3"/>
          <p:cNvSpPr txBox="1"/>
          <p:nvPr/>
        </p:nvSpPr>
        <p:spPr>
          <a:xfrm>
            <a:off x="334010" y="1600200"/>
            <a:ext cx="11523980" cy="2763520"/>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Arial"/>
                <a:cs typeface="Arial"/>
              </a:rPr>
              <a:t>Introduction</a:t>
            </a:r>
            <a:r>
              <a:rPr sz="1800" b="1" spc="-10" dirty="0">
                <a:latin typeface="Arial"/>
                <a:cs typeface="Arial"/>
              </a:rPr>
              <a:t>:</a:t>
            </a:r>
            <a:endParaRPr sz="1800" dirty="0">
              <a:latin typeface="Arial"/>
              <a:cs typeface="Arial"/>
            </a:endParaRPr>
          </a:p>
          <a:p>
            <a:pPr marL="31750" marR="5080" algn="just">
              <a:lnSpc>
                <a:spcPct val="152600"/>
              </a:lnSpc>
              <a:spcBef>
                <a:spcPts val="840"/>
              </a:spcBef>
            </a:pPr>
            <a:r>
              <a:rPr sz="2000" dirty="0">
                <a:latin typeface="Calibri"/>
                <a:cs typeface="Calibri"/>
              </a:rPr>
              <a:t>Mental</a:t>
            </a:r>
            <a:r>
              <a:rPr sz="2000" spc="-65" dirty="0">
                <a:latin typeface="Calibri"/>
                <a:cs typeface="Calibri"/>
              </a:rPr>
              <a:t> </a:t>
            </a:r>
            <a:r>
              <a:rPr sz="2000" dirty="0">
                <a:latin typeface="Calibri"/>
                <a:cs typeface="Calibri"/>
              </a:rPr>
              <a:t>health</a:t>
            </a:r>
            <a:r>
              <a:rPr sz="2000" spc="-35" dirty="0">
                <a:latin typeface="Calibri"/>
                <a:cs typeface="Calibri"/>
              </a:rPr>
              <a:t> </a:t>
            </a:r>
            <a:r>
              <a:rPr sz="2000" dirty="0">
                <a:latin typeface="Calibri"/>
                <a:cs typeface="Calibri"/>
              </a:rPr>
              <a:t>issues</a:t>
            </a:r>
            <a:r>
              <a:rPr sz="2000" spc="-40" dirty="0">
                <a:latin typeface="Calibri"/>
                <a:cs typeface="Calibri"/>
              </a:rPr>
              <a:t> </a:t>
            </a:r>
            <a:r>
              <a:rPr sz="2000" dirty="0">
                <a:latin typeface="Calibri"/>
                <a:cs typeface="Calibri"/>
              </a:rPr>
              <a:t>such</a:t>
            </a:r>
            <a:r>
              <a:rPr sz="2000" spc="-60" dirty="0">
                <a:latin typeface="Calibri"/>
                <a:cs typeface="Calibri"/>
              </a:rPr>
              <a:t> </a:t>
            </a:r>
            <a:r>
              <a:rPr sz="2000" dirty="0">
                <a:latin typeface="Calibri"/>
                <a:cs typeface="Calibri"/>
              </a:rPr>
              <a:t>as</a:t>
            </a:r>
            <a:r>
              <a:rPr sz="2000" spc="-50" dirty="0">
                <a:latin typeface="Calibri"/>
                <a:cs typeface="Calibri"/>
              </a:rPr>
              <a:t> </a:t>
            </a:r>
            <a:r>
              <a:rPr sz="2000" b="1" dirty="0">
                <a:latin typeface="Calibri"/>
                <a:cs typeface="Calibri"/>
              </a:rPr>
              <a:t>anxiety,</a:t>
            </a:r>
            <a:r>
              <a:rPr sz="2000" b="1" spc="-55" dirty="0">
                <a:latin typeface="Calibri"/>
                <a:cs typeface="Calibri"/>
              </a:rPr>
              <a:t> </a:t>
            </a:r>
            <a:r>
              <a:rPr sz="2000" b="1" dirty="0">
                <a:latin typeface="Calibri"/>
                <a:cs typeface="Calibri"/>
              </a:rPr>
              <a:t>depression,</a:t>
            </a:r>
            <a:r>
              <a:rPr sz="2000" b="1" spc="-60" dirty="0">
                <a:latin typeface="Calibri"/>
                <a:cs typeface="Calibri"/>
              </a:rPr>
              <a:t> </a:t>
            </a:r>
            <a:r>
              <a:rPr sz="2000" b="1" dirty="0">
                <a:latin typeface="Calibri"/>
                <a:cs typeface="Calibri"/>
              </a:rPr>
              <a:t>stress,</a:t>
            </a:r>
            <a:r>
              <a:rPr sz="2000" b="1" spc="-55" dirty="0">
                <a:latin typeface="Calibri"/>
                <a:cs typeface="Calibri"/>
              </a:rPr>
              <a:t> </a:t>
            </a:r>
            <a:r>
              <a:rPr sz="2000" b="1" dirty="0">
                <a:latin typeface="Calibri"/>
                <a:cs typeface="Calibri"/>
              </a:rPr>
              <a:t>and</a:t>
            </a:r>
            <a:r>
              <a:rPr sz="2000" b="1" spc="-20" dirty="0">
                <a:latin typeface="Calibri"/>
                <a:cs typeface="Calibri"/>
              </a:rPr>
              <a:t> </a:t>
            </a:r>
            <a:r>
              <a:rPr sz="2000" b="1" dirty="0">
                <a:latin typeface="Calibri"/>
                <a:cs typeface="Calibri"/>
              </a:rPr>
              <a:t>emotional</a:t>
            </a:r>
            <a:r>
              <a:rPr sz="2000" b="1" spc="-60" dirty="0">
                <a:latin typeface="Calibri"/>
                <a:cs typeface="Calibri"/>
              </a:rPr>
              <a:t> </a:t>
            </a:r>
            <a:r>
              <a:rPr sz="2000" b="1" dirty="0">
                <a:latin typeface="Calibri"/>
                <a:cs typeface="Calibri"/>
              </a:rPr>
              <a:t>imbalance</a:t>
            </a:r>
            <a:r>
              <a:rPr sz="2000" spc="-50" dirty="0">
                <a:latin typeface="Calibri"/>
                <a:cs typeface="Calibri"/>
              </a:rPr>
              <a:t> </a:t>
            </a:r>
            <a:r>
              <a:rPr sz="2000" dirty="0">
                <a:latin typeface="Calibri"/>
                <a:cs typeface="Calibri"/>
              </a:rPr>
              <a:t>are</a:t>
            </a:r>
            <a:r>
              <a:rPr sz="2000" spc="-60" dirty="0">
                <a:latin typeface="Calibri"/>
                <a:cs typeface="Calibri"/>
              </a:rPr>
              <a:t> </a:t>
            </a:r>
            <a:r>
              <a:rPr sz="2000" dirty="0">
                <a:latin typeface="Calibri"/>
                <a:cs typeface="Calibri"/>
              </a:rPr>
              <a:t>on</a:t>
            </a:r>
            <a:r>
              <a:rPr sz="2000" spc="-55" dirty="0">
                <a:latin typeface="Calibri"/>
                <a:cs typeface="Calibri"/>
              </a:rPr>
              <a:t> </a:t>
            </a:r>
            <a:r>
              <a:rPr sz="2000" dirty="0">
                <a:latin typeface="Calibri"/>
                <a:cs typeface="Calibri"/>
              </a:rPr>
              <a:t>the</a:t>
            </a:r>
            <a:r>
              <a:rPr sz="2000" spc="375" dirty="0">
                <a:latin typeface="Calibri"/>
                <a:cs typeface="Calibri"/>
              </a:rPr>
              <a:t> </a:t>
            </a:r>
            <a:r>
              <a:rPr sz="2000" dirty="0">
                <a:latin typeface="Calibri"/>
                <a:cs typeface="Calibri"/>
              </a:rPr>
              <a:t>rise,</a:t>
            </a:r>
            <a:r>
              <a:rPr sz="2000" spc="-55" dirty="0">
                <a:latin typeface="Calibri"/>
                <a:cs typeface="Calibri"/>
              </a:rPr>
              <a:t> </a:t>
            </a:r>
            <a:r>
              <a:rPr sz="2000" dirty="0">
                <a:latin typeface="Calibri"/>
                <a:cs typeface="Calibri"/>
              </a:rPr>
              <a:t>especially</a:t>
            </a:r>
            <a:r>
              <a:rPr sz="2000" spc="-55" dirty="0">
                <a:latin typeface="Calibri"/>
                <a:cs typeface="Calibri"/>
              </a:rPr>
              <a:t> </a:t>
            </a:r>
            <a:r>
              <a:rPr sz="2000" spc="-25" dirty="0">
                <a:latin typeface="Calibri"/>
                <a:cs typeface="Calibri"/>
              </a:rPr>
              <a:t>in </a:t>
            </a:r>
            <a:r>
              <a:rPr sz="2000" spc="-20" dirty="0">
                <a:latin typeface="Calibri"/>
                <a:cs typeface="Calibri"/>
              </a:rPr>
              <a:t>fast-</a:t>
            </a:r>
            <a:r>
              <a:rPr sz="2000" dirty="0">
                <a:latin typeface="Calibri"/>
                <a:cs typeface="Calibri"/>
              </a:rPr>
              <a:t>paced,</a:t>
            </a:r>
            <a:r>
              <a:rPr sz="2000" spc="-50" dirty="0">
                <a:latin typeface="Calibri"/>
                <a:cs typeface="Calibri"/>
              </a:rPr>
              <a:t> </a:t>
            </a:r>
            <a:r>
              <a:rPr sz="2000" spc="-10" dirty="0">
                <a:latin typeface="Calibri"/>
                <a:cs typeface="Calibri"/>
              </a:rPr>
              <a:t>technology-</a:t>
            </a:r>
            <a:r>
              <a:rPr sz="2000" dirty="0">
                <a:latin typeface="Calibri"/>
                <a:cs typeface="Calibri"/>
              </a:rPr>
              <a:t>driven</a:t>
            </a:r>
            <a:r>
              <a:rPr sz="2000" spc="-55" dirty="0">
                <a:latin typeface="Calibri"/>
                <a:cs typeface="Calibri"/>
              </a:rPr>
              <a:t> </a:t>
            </a:r>
            <a:r>
              <a:rPr sz="2000" dirty="0">
                <a:latin typeface="Calibri"/>
                <a:cs typeface="Calibri"/>
              </a:rPr>
              <a:t>lifestyles.</a:t>
            </a:r>
            <a:r>
              <a:rPr sz="2000" spc="-55" dirty="0">
                <a:latin typeface="Calibri"/>
                <a:cs typeface="Calibri"/>
              </a:rPr>
              <a:t> </a:t>
            </a:r>
            <a:r>
              <a:rPr sz="2000" dirty="0">
                <a:latin typeface="Calibri"/>
                <a:cs typeface="Calibri"/>
              </a:rPr>
              <a:t>Many</a:t>
            </a:r>
            <a:r>
              <a:rPr sz="2000" spc="-55" dirty="0">
                <a:latin typeface="Calibri"/>
                <a:cs typeface="Calibri"/>
              </a:rPr>
              <a:t> </a:t>
            </a:r>
            <a:r>
              <a:rPr sz="2000" dirty="0">
                <a:latin typeface="Calibri"/>
                <a:cs typeface="Calibri"/>
              </a:rPr>
              <a:t>people</a:t>
            </a:r>
            <a:r>
              <a:rPr sz="2000" spc="-50" dirty="0">
                <a:latin typeface="Calibri"/>
                <a:cs typeface="Calibri"/>
              </a:rPr>
              <a:t> </a:t>
            </a:r>
            <a:r>
              <a:rPr sz="2000" dirty="0">
                <a:latin typeface="Calibri"/>
                <a:cs typeface="Calibri"/>
              </a:rPr>
              <a:t>lack</a:t>
            </a:r>
            <a:r>
              <a:rPr sz="2000" spc="-60" dirty="0">
                <a:latin typeface="Calibri"/>
                <a:cs typeface="Calibri"/>
              </a:rPr>
              <a:t> </a:t>
            </a:r>
            <a:r>
              <a:rPr sz="2000" dirty="0">
                <a:latin typeface="Calibri"/>
                <a:cs typeface="Calibri"/>
              </a:rPr>
              <a:t>easy</a:t>
            </a:r>
            <a:r>
              <a:rPr sz="2000" spc="-55" dirty="0">
                <a:latin typeface="Calibri"/>
                <a:cs typeface="Calibri"/>
              </a:rPr>
              <a:t> </a:t>
            </a:r>
            <a:r>
              <a:rPr sz="2000" dirty="0">
                <a:latin typeface="Calibri"/>
                <a:cs typeface="Calibri"/>
              </a:rPr>
              <a:t>access</a:t>
            </a:r>
            <a:r>
              <a:rPr sz="2000" spc="-65"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professional</a:t>
            </a:r>
            <a:r>
              <a:rPr sz="2000" spc="-60" dirty="0">
                <a:latin typeface="Calibri"/>
                <a:cs typeface="Calibri"/>
              </a:rPr>
              <a:t> </a:t>
            </a:r>
            <a:r>
              <a:rPr sz="2000" dirty="0">
                <a:latin typeface="Calibri"/>
                <a:cs typeface="Calibri"/>
              </a:rPr>
              <a:t>help,</a:t>
            </a:r>
            <a:r>
              <a:rPr sz="2000" spc="-30" dirty="0">
                <a:latin typeface="Calibri"/>
                <a:cs typeface="Calibri"/>
              </a:rPr>
              <a:t> </a:t>
            </a:r>
            <a:r>
              <a:rPr sz="2000" dirty="0">
                <a:latin typeface="Calibri"/>
                <a:cs typeface="Calibri"/>
              </a:rPr>
              <a:t>while</a:t>
            </a:r>
            <a:r>
              <a:rPr sz="2000" spc="-50" dirty="0">
                <a:latin typeface="Calibri"/>
                <a:cs typeface="Calibri"/>
              </a:rPr>
              <a:t> </a:t>
            </a:r>
            <a:r>
              <a:rPr sz="2000" dirty="0">
                <a:latin typeface="Calibri"/>
                <a:cs typeface="Calibri"/>
              </a:rPr>
              <a:t>others</a:t>
            </a:r>
            <a:r>
              <a:rPr sz="2000" spc="-60" dirty="0">
                <a:latin typeface="Calibri"/>
                <a:cs typeface="Calibri"/>
              </a:rPr>
              <a:t> </a:t>
            </a:r>
            <a:r>
              <a:rPr sz="2000" spc="-10" dirty="0">
                <a:latin typeface="Calibri"/>
                <a:cs typeface="Calibri"/>
              </a:rPr>
              <a:t>prefer </a:t>
            </a:r>
            <a:r>
              <a:rPr sz="2000" spc="-20" dirty="0">
                <a:latin typeface="Calibri"/>
                <a:cs typeface="Calibri"/>
              </a:rPr>
              <a:t>self-</a:t>
            </a:r>
            <a:r>
              <a:rPr sz="2000" dirty="0">
                <a:latin typeface="Calibri"/>
                <a:cs typeface="Calibri"/>
              </a:rPr>
              <a:t>paced,</a:t>
            </a:r>
            <a:r>
              <a:rPr sz="2000" spc="-35" dirty="0">
                <a:latin typeface="Calibri"/>
                <a:cs typeface="Calibri"/>
              </a:rPr>
              <a:t> </a:t>
            </a:r>
            <a:r>
              <a:rPr sz="2000" dirty="0">
                <a:latin typeface="Calibri"/>
                <a:cs typeface="Calibri"/>
              </a:rPr>
              <a:t>private</a:t>
            </a:r>
            <a:r>
              <a:rPr sz="2000" spc="-30" dirty="0">
                <a:latin typeface="Calibri"/>
                <a:cs typeface="Calibri"/>
              </a:rPr>
              <a:t> </a:t>
            </a:r>
            <a:r>
              <a:rPr sz="2000" dirty="0">
                <a:latin typeface="Calibri"/>
                <a:cs typeface="Calibri"/>
              </a:rPr>
              <a:t>wellness</a:t>
            </a:r>
            <a:r>
              <a:rPr sz="2000" spc="-50" dirty="0">
                <a:latin typeface="Calibri"/>
                <a:cs typeface="Calibri"/>
              </a:rPr>
              <a:t> </a:t>
            </a:r>
            <a:r>
              <a:rPr sz="2000" dirty="0">
                <a:latin typeface="Calibri"/>
                <a:cs typeface="Calibri"/>
              </a:rPr>
              <a:t>solutions.</a:t>
            </a:r>
            <a:r>
              <a:rPr sz="2000" spc="-40" dirty="0">
                <a:latin typeface="Calibri"/>
                <a:cs typeface="Calibri"/>
              </a:rPr>
              <a:t> </a:t>
            </a:r>
            <a:r>
              <a:rPr sz="2000" dirty="0">
                <a:latin typeface="Calibri"/>
                <a:cs typeface="Calibri"/>
              </a:rPr>
              <a:t>Our</a:t>
            </a:r>
            <a:r>
              <a:rPr sz="2000" spc="-35" dirty="0">
                <a:latin typeface="Calibri"/>
                <a:cs typeface="Calibri"/>
              </a:rPr>
              <a:t> </a:t>
            </a:r>
            <a:r>
              <a:rPr sz="2000" spc="-10" dirty="0">
                <a:latin typeface="Calibri"/>
                <a:cs typeface="Calibri"/>
              </a:rPr>
              <a:t>AI-</a:t>
            </a:r>
            <a:r>
              <a:rPr sz="2000" dirty="0">
                <a:latin typeface="Calibri"/>
                <a:cs typeface="Calibri"/>
              </a:rPr>
              <a:t>Powered</a:t>
            </a:r>
            <a:r>
              <a:rPr sz="2000" spc="-35" dirty="0">
                <a:latin typeface="Calibri"/>
                <a:cs typeface="Calibri"/>
              </a:rPr>
              <a:t> </a:t>
            </a:r>
            <a:r>
              <a:rPr sz="2000" dirty="0">
                <a:latin typeface="Calibri"/>
                <a:cs typeface="Calibri"/>
              </a:rPr>
              <a:t>Mental</a:t>
            </a:r>
            <a:r>
              <a:rPr sz="2000" spc="390" dirty="0">
                <a:latin typeface="Calibri"/>
                <a:cs typeface="Calibri"/>
              </a:rPr>
              <a:t> </a:t>
            </a:r>
            <a:r>
              <a:rPr sz="2000" dirty="0">
                <a:latin typeface="Calibri"/>
                <a:cs typeface="Calibri"/>
              </a:rPr>
              <a:t>Well</a:t>
            </a:r>
            <a:r>
              <a:rPr lang="en-IN" sz="2000" dirty="0">
                <a:latin typeface="Calibri"/>
                <a:cs typeface="Calibri"/>
              </a:rPr>
              <a:t>ness</a:t>
            </a:r>
            <a:r>
              <a:rPr sz="2000" spc="390" dirty="0">
                <a:latin typeface="Calibri"/>
                <a:cs typeface="Calibri"/>
              </a:rPr>
              <a:t> </a:t>
            </a:r>
            <a:r>
              <a:rPr lang="en-IN" sz="2000" dirty="0">
                <a:latin typeface="Calibri"/>
                <a:cs typeface="Calibri"/>
              </a:rPr>
              <a:t>platform b</a:t>
            </a:r>
            <a:r>
              <a:rPr sz="2000" dirty="0">
                <a:latin typeface="Calibri"/>
                <a:cs typeface="Calibri"/>
              </a:rPr>
              <a:t>ridges this</a:t>
            </a:r>
            <a:r>
              <a:rPr sz="2000" spc="-25" dirty="0">
                <a:latin typeface="Calibri"/>
                <a:cs typeface="Calibri"/>
              </a:rPr>
              <a:t> </a:t>
            </a:r>
            <a:r>
              <a:rPr sz="2000" dirty="0">
                <a:latin typeface="Calibri"/>
                <a:cs typeface="Calibri"/>
              </a:rPr>
              <a:t>gap</a:t>
            </a:r>
            <a:r>
              <a:rPr sz="2000" spc="-35" dirty="0">
                <a:latin typeface="Calibri"/>
                <a:cs typeface="Calibri"/>
              </a:rPr>
              <a:t> </a:t>
            </a:r>
            <a:r>
              <a:rPr sz="2000" dirty="0">
                <a:latin typeface="Calibri"/>
                <a:cs typeface="Calibri"/>
              </a:rPr>
              <a:t>by</a:t>
            </a:r>
            <a:r>
              <a:rPr sz="2000" spc="-45" dirty="0">
                <a:latin typeface="Calibri"/>
                <a:cs typeface="Calibri"/>
              </a:rPr>
              <a:t> </a:t>
            </a:r>
            <a:r>
              <a:rPr sz="2000" spc="-10" dirty="0">
                <a:latin typeface="Calibri"/>
                <a:cs typeface="Calibri"/>
              </a:rPr>
              <a:t>combining </a:t>
            </a:r>
            <a:r>
              <a:rPr sz="2000" dirty="0">
                <a:latin typeface="Calibri"/>
                <a:cs typeface="Calibri"/>
              </a:rPr>
              <a:t>modern</a:t>
            </a:r>
            <a:r>
              <a:rPr sz="2000" spc="-55" dirty="0">
                <a:latin typeface="Calibri"/>
                <a:cs typeface="Calibri"/>
              </a:rPr>
              <a:t> </a:t>
            </a:r>
            <a:r>
              <a:rPr sz="2000" dirty="0">
                <a:latin typeface="Calibri"/>
                <a:cs typeface="Calibri"/>
              </a:rPr>
              <a:t>psychological</a:t>
            </a:r>
            <a:r>
              <a:rPr sz="2000" spc="-60" dirty="0">
                <a:latin typeface="Calibri"/>
                <a:cs typeface="Calibri"/>
              </a:rPr>
              <a:t> </a:t>
            </a:r>
            <a:r>
              <a:rPr sz="2000" dirty="0">
                <a:latin typeface="Calibri"/>
                <a:cs typeface="Calibri"/>
              </a:rPr>
              <a:t>practices</a:t>
            </a:r>
            <a:r>
              <a:rPr sz="2000" spc="-35" dirty="0">
                <a:latin typeface="Calibri"/>
                <a:cs typeface="Calibri"/>
              </a:rPr>
              <a:t> </a:t>
            </a:r>
            <a:r>
              <a:rPr sz="2000" dirty="0">
                <a:latin typeface="Calibri"/>
                <a:cs typeface="Calibri"/>
              </a:rPr>
              <a:t>with</a:t>
            </a:r>
            <a:r>
              <a:rPr sz="2000" spc="-55" dirty="0">
                <a:latin typeface="Calibri"/>
                <a:cs typeface="Calibri"/>
              </a:rPr>
              <a:t> </a:t>
            </a:r>
            <a:r>
              <a:rPr sz="2000" dirty="0">
                <a:latin typeface="Calibri"/>
                <a:cs typeface="Calibri"/>
              </a:rPr>
              <a:t>ancient</a:t>
            </a:r>
            <a:r>
              <a:rPr sz="2000" spc="-45" dirty="0">
                <a:latin typeface="Calibri"/>
                <a:cs typeface="Calibri"/>
              </a:rPr>
              <a:t> </a:t>
            </a:r>
            <a:r>
              <a:rPr sz="2000" dirty="0">
                <a:latin typeface="Calibri"/>
                <a:cs typeface="Calibri"/>
              </a:rPr>
              <a:t>wellness</a:t>
            </a:r>
            <a:r>
              <a:rPr sz="2000" spc="-65" dirty="0">
                <a:latin typeface="Calibri"/>
                <a:cs typeface="Calibri"/>
              </a:rPr>
              <a:t> </a:t>
            </a:r>
            <a:r>
              <a:rPr sz="2000" dirty="0">
                <a:latin typeface="Calibri"/>
                <a:cs typeface="Calibri"/>
              </a:rPr>
              <a:t>techniques</a:t>
            </a:r>
            <a:r>
              <a:rPr lang="en-IN" sz="2000" spc="355" dirty="0">
                <a:latin typeface="Calibri"/>
                <a:cs typeface="Calibri"/>
              </a:rPr>
              <a:t> </a:t>
            </a:r>
            <a:r>
              <a:rPr sz="2000" dirty="0">
                <a:latin typeface="Calibri"/>
                <a:cs typeface="Calibri"/>
              </a:rPr>
              <a:t>to</a:t>
            </a:r>
            <a:r>
              <a:rPr sz="2000" spc="-55" dirty="0">
                <a:latin typeface="Calibri"/>
                <a:cs typeface="Calibri"/>
              </a:rPr>
              <a:t> </a:t>
            </a:r>
            <a:r>
              <a:rPr sz="2000" dirty="0">
                <a:latin typeface="Calibri"/>
                <a:cs typeface="Calibri"/>
              </a:rPr>
              <a:t>guide</a:t>
            </a:r>
            <a:r>
              <a:rPr sz="2000" spc="-50" dirty="0">
                <a:latin typeface="Calibri"/>
                <a:cs typeface="Calibri"/>
              </a:rPr>
              <a:t> </a:t>
            </a:r>
            <a:r>
              <a:rPr sz="2000" dirty="0">
                <a:latin typeface="Calibri"/>
                <a:cs typeface="Calibri"/>
              </a:rPr>
              <a:t>users</a:t>
            </a:r>
            <a:r>
              <a:rPr sz="2000" spc="-60" dirty="0">
                <a:latin typeface="Calibri"/>
                <a:cs typeface="Calibri"/>
              </a:rPr>
              <a:t> </a:t>
            </a:r>
            <a:r>
              <a:rPr sz="2000" dirty="0">
                <a:latin typeface="Calibri"/>
                <a:cs typeface="Calibri"/>
              </a:rPr>
              <a:t>toward</a:t>
            </a:r>
            <a:r>
              <a:rPr sz="2000" spc="-30" dirty="0">
                <a:latin typeface="Calibri"/>
                <a:cs typeface="Calibri"/>
              </a:rPr>
              <a:t> </a:t>
            </a:r>
            <a:r>
              <a:rPr sz="2000" dirty="0">
                <a:latin typeface="Calibri"/>
                <a:cs typeface="Calibri"/>
              </a:rPr>
              <a:t>improved</a:t>
            </a:r>
            <a:r>
              <a:rPr sz="2000" spc="-55" dirty="0">
                <a:latin typeface="Calibri"/>
                <a:cs typeface="Calibri"/>
              </a:rPr>
              <a:t> </a:t>
            </a:r>
            <a:r>
              <a:rPr sz="2000" dirty="0">
                <a:latin typeface="Calibri"/>
                <a:cs typeface="Calibri"/>
              </a:rPr>
              <a:t>mental</a:t>
            </a:r>
            <a:r>
              <a:rPr sz="2000" spc="-60" dirty="0">
                <a:latin typeface="Calibri"/>
                <a:cs typeface="Calibri"/>
              </a:rPr>
              <a:t> </a:t>
            </a:r>
            <a:r>
              <a:rPr sz="2000" spc="-25" dirty="0">
                <a:latin typeface="Calibri"/>
                <a:cs typeface="Calibri"/>
              </a:rPr>
              <a:t>and </a:t>
            </a:r>
            <a:r>
              <a:rPr sz="2000" dirty="0">
                <a:latin typeface="Calibri"/>
                <a:cs typeface="Calibri"/>
              </a:rPr>
              <a:t>emotional</a:t>
            </a:r>
            <a:r>
              <a:rPr sz="2000" spc="-90" dirty="0">
                <a:latin typeface="Calibri"/>
                <a:cs typeface="Calibri"/>
              </a:rPr>
              <a:t> </a:t>
            </a:r>
            <a:r>
              <a:rPr sz="2000" spc="-10" dirty="0">
                <a:latin typeface="Calibri"/>
                <a:cs typeface="Calibri"/>
              </a:rPr>
              <a:t>health.</a:t>
            </a:r>
            <a:endParaRPr sz="20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2565" y="222186"/>
            <a:ext cx="5815965" cy="628377"/>
          </a:xfrm>
          <a:prstGeom prst="rect">
            <a:avLst/>
          </a:prstGeom>
        </p:spPr>
        <p:txBody>
          <a:bodyPr vert="horz" wrap="square" lIns="0" tIns="12700" rIns="0" bIns="0" rtlCol="0" anchor="t">
            <a:spAutoFit/>
          </a:bodyPr>
          <a:lstStyle/>
          <a:p>
            <a:pPr marL="12700">
              <a:lnSpc>
                <a:spcPct val="100000"/>
              </a:lnSpc>
              <a:spcBef>
                <a:spcPts val="100"/>
              </a:spcBef>
            </a:pPr>
            <a:r>
              <a:rPr spc="-20" dirty="0"/>
              <a:t>AIM</a:t>
            </a:r>
            <a:r>
              <a:rPr spc="-315" dirty="0"/>
              <a:t> </a:t>
            </a:r>
            <a:r>
              <a:rPr dirty="0"/>
              <a:t>AND</a:t>
            </a:r>
            <a:r>
              <a:rPr spc="-325" dirty="0"/>
              <a:t> </a:t>
            </a:r>
            <a:r>
              <a:rPr spc="-10" dirty="0"/>
              <a:t>OBJECTIVE</a:t>
            </a:r>
            <a:endParaRPr lang="en-US" spc="-10"/>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73025">
              <a:lnSpc>
                <a:spcPct val="100000"/>
              </a:lnSpc>
              <a:spcBef>
                <a:spcPts val="50"/>
              </a:spcBef>
            </a:pPr>
            <a:fld id="{81D60167-4931-47E6-BA6A-407CBD079E47}" type="slidenum">
              <a:rPr spc="-50" dirty="0"/>
              <a:t>4</a:t>
            </a:fld>
            <a:endParaRPr spc="-50" dirty="0"/>
          </a:p>
        </p:txBody>
      </p:sp>
      <p:sp>
        <p:nvSpPr>
          <p:cNvPr id="3" name="object 3"/>
          <p:cNvSpPr txBox="1"/>
          <p:nvPr/>
        </p:nvSpPr>
        <p:spPr>
          <a:xfrm>
            <a:off x="304800" y="1524000"/>
            <a:ext cx="11658600" cy="4880310"/>
          </a:xfrm>
          <a:prstGeom prst="rect">
            <a:avLst/>
          </a:prstGeom>
        </p:spPr>
        <p:txBody>
          <a:bodyPr vert="horz" wrap="square" lIns="0" tIns="12700" rIns="0" bIns="0" rtlCol="0">
            <a:spAutoFit/>
          </a:bodyPr>
          <a:lstStyle/>
          <a:p>
            <a:pPr marL="34925">
              <a:lnSpc>
                <a:spcPct val="100000"/>
              </a:lnSpc>
              <a:spcBef>
                <a:spcPts val="100"/>
              </a:spcBef>
            </a:pPr>
            <a:r>
              <a:rPr sz="2000" b="1" spc="-20" dirty="0">
                <a:latin typeface="Arial"/>
                <a:cs typeface="Arial"/>
              </a:rPr>
              <a:t>Aim:</a:t>
            </a:r>
            <a:endParaRPr sz="2000" dirty="0">
              <a:latin typeface="Arial"/>
              <a:cs typeface="Arial"/>
            </a:endParaRPr>
          </a:p>
          <a:p>
            <a:pPr marL="34925" marR="5080">
              <a:lnSpc>
                <a:spcPct val="152100"/>
              </a:lnSpc>
              <a:spcBef>
                <a:spcPts val="1025"/>
              </a:spcBef>
            </a:pPr>
            <a:r>
              <a:rPr sz="2000" dirty="0">
                <a:latin typeface="Calibri"/>
                <a:cs typeface="Calibri"/>
              </a:rPr>
              <a:t>To</a:t>
            </a:r>
            <a:r>
              <a:rPr sz="2000" spc="-50" dirty="0">
                <a:latin typeface="Calibri"/>
                <a:cs typeface="Calibri"/>
              </a:rPr>
              <a:t> </a:t>
            </a:r>
            <a:r>
              <a:rPr sz="2000" dirty="0">
                <a:latin typeface="Calibri"/>
                <a:cs typeface="Calibri"/>
              </a:rPr>
              <a:t>create</a:t>
            </a:r>
            <a:r>
              <a:rPr sz="2000" spc="-40" dirty="0">
                <a:latin typeface="Calibri"/>
                <a:cs typeface="Calibri"/>
              </a:rPr>
              <a:t> </a:t>
            </a:r>
            <a:r>
              <a:rPr sz="2000" dirty="0">
                <a:latin typeface="Calibri"/>
                <a:cs typeface="Calibri"/>
              </a:rPr>
              <a:t>an</a:t>
            </a:r>
            <a:r>
              <a:rPr sz="2000" spc="-50" dirty="0">
                <a:latin typeface="Calibri"/>
                <a:cs typeface="Calibri"/>
              </a:rPr>
              <a:t> </a:t>
            </a:r>
            <a:r>
              <a:rPr sz="2000" spc="-10" dirty="0">
                <a:latin typeface="Calibri"/>
                <a:cs typeface="Calibri"/>
              </a:rPr>
              <a:t>AI-</a:t>
            </a:r>
            <a:r>
              <a:rPr sz="2000" dirty="0">
                <a:latin typeface="Calibri"/>
                <a:cs typeface="Calibri"/>
              </a:rPr>
              <a:t>driven</a:t>
            </a:r>
            <a:r>
              <a:rPr sz="2000" spc="-45" dirty="0">
                <a:latin typeface="Calibri"/>
                <a:cs typeface="Calibri"/>
              </a:rPr>
              <a:t> </a:t>
            </a:r>
            <a:r>
              <a:rPr lang="en-IN" sz="2000" spc="-45" dirty="0">
                <a:latin typeface="Calibri"/>
                <a:cs typeface="Calibri"/>
              </a:rPr>
              <a:t>web </a:t>
            </a:r>
            <a:r>
              <a:rPr sz="2000" dirty="0">
                <a:latin typeface="Calibri"/>
                <a:cs typeface="Calibri"/>
              </a:rPr>
              <a:t>application</a:t>
            </a:r>
            <a:r>
              <a:rPr sz="2000" spc="-50" dirty="0">
                <a:latin typeface="Calibri"/>
                <a:cs typeface="Calibri"/>
              </a:rPr>
              <a:t> </a:t>
            </a:r>
            <a:r>
              <a:rPr sz="2000" dirty="0">
                <a:latin typeface="Calibri"/>
                <a:cs typeface="Calibri"/>
              </a:rPr>
              <a:t>that</a:t>
            </a:r>
            <a:r>
              <a:rPr sz="2000" spc="-45" dirty="0">
                <a:latin typeface="Calibri"/>
                <a:cs typeface="Calibri"/>
              </a:rPr>
              <a:t> </a:t>
            </a:r>
            <a:r>
              <a:rPr sz="2000" dirty="0">
                <a:latin typeface="Calibri"/>
                <a:cs typeface="Calibri"/>
              </a:rPr>
              <a:t>assesses,</a:t>
            </a:r>
            <a:r>
              <a:rPr sz="2000" spc="-45" dirty="0">
                <a:latin typeface="Calibri"/>
                <a:cs typeface="Calibri"/>
              </a:rPr>
              <a:t> </a:t>
            </a:r>
            <a:r>
              <a:rPr sz="2000" dirty="0">
                <a:latin typeface="Calibri"/>
                <a:cs typeface="Calibri"/>
              </a:rPr>
              <a:t>guides,</a:t>
            </a:r>
            <a:r>
              <a:rPr sz="2000" spc="-40" dirty="0">
                <a:latin typeface="Calibri"/>
                <a:cs typeface="Calibri"/>
              </a:rPr>
              <a:t> </a:t>
            </a:r>
            <a:r>
              <a:rPr sz="2000" dirty="0">
                <a:latin typeface="Calibri"/>
                <a:cs typeface="Calibri"/>
              </a:rPr>
              <a:t>and</a:t>
            </a:r>
            <a:r>
              <a:rPr sz="2000" spc="-50" dirty="0">
                <a:latin typeface="Calibri"/>
                <a:cs typeface="Calibri"/>
              </a:rPr>
              <a:t> </a:t>
            </a:r>
            <a:r>
              <a:rPr sz="2000" spc="-10" dirty="0">
                <a:latin typeface="Calibri"/>
                <a:cs typeface="Calibri"/>
              </a:rPr>
              <a:t>supports</a:t>
            </a:r>
            <a:r>
              <a:rPr sz="2000" spc="-50" dirty="0">
                <a:latin typeface="Calibri"/>
                <a:cs typeface="Calibri"/>
              </a:rPr>
              <a:t> </a:t>
            </a:r>
            <a:r>
              <a:rPr sz="2000" dirty="0">
                <a:latin typeface="Calibri"/>
                <a:cs typeface="Calibri"/>
              </a:rPr>
              <a:t>users</a:t>
            </a:r>
            <a:r>
              <a:rPr sz="2000" spc="-30" dirty="0">
                <a:latin typeface="Calibri"/>
                <a:cs typeface="Calibri"/>
              </a:rPr>
              <a:t> </a:t>
            </a:r>
            <a:r>
              <a:rPr sz="2000" dirty="0">
                <a:latin typeface="Calibri"/>
                <a:cs typeface="Calibri"/>
              </a:rPr>
              <a:t>in</a:t>
            </a:r>
            <a:r>
              <a:rPr sz="2000" spc="-45" dirty="0">
                <a:latin typeface="Calibri"/>
                <a:cs typeface="Calibri"/>
              </a:rPr>
              <a:t> </a:t>
            </a:r>
            <a:r>
              <a:rPr sz="2000" dirty="0">
                <a:latin typeface="Calibri"/>
                <a:cs typeface="Calibri"/>
              </a:rPr>
              <a:t>improving</a:t>
            </a:r>
            <a:r>
              <a:rPr sz="2000" spc="-35" dirty="0">
                <a:latin typeface="Calibri"/>
                <a:cs typeface="Calibri"/>
              </a:rPr>
              <a:t> </a:t>
            </a:r>
            <a:r>
              <a:rPr sz="2000" dirty="0">
                <a:latin typeface="Calibri"/>
                <a:cs typeface="Calibri"/>
              </a:rPr>
              <a:t>their</a:t>
            </a:r>
            <a:r>
              <a:rPr sz="2000" spc="-45" dirty="0">
                <a:latin typeface="Calibri"/>
                <a:cs typeface="Calibri"/>
              </a:rPr>
              <a:t> </a:t>
            </a:r>
            <a:r>
              <a:rPr sz="2000" spc="-10" dirty="0">
                <a:latin typeface="Calibri"/>
                <a:cs typeface="Calibri"/>
              </a:rPr>
              <a:t>mental </a:t>
            </a:r>
            <a:r>
              <a:rPr sz="2000" dirty="0">
                <a:latin typeface="Calibri"/>
                <a:cs typeface="Calibri"/>
              </a:rPr>
              <a:t>well</a:t>
            </a:r>
            <a:r>
              <a:rPr lang="en-IN" sz="2000" dirty="0">
                <a:latin typeface="Calibri"/>
                <a:cs typeface="Calibri"/>
              </a:rPr>
              <a:t>ness </a:t>
            </a:r>
            <a:r>
              <a:rPr sz="2000" dirty="0">
                <a:latin typeface="Calibri"/>
                <a:cs typeface="Calibri"/>
              </a:rPr>
              <a:t>using</a:t>
            </a:r>
            <a:r>
              <a:rPr sz="2000" spc="-45"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blend</a:t>
            </a:r>
            <a:r>
              <a:rPr sz="2000" spc="-55" dirty="0">
                <a:latin typeface="Calibri"/>
                <a:cs typeface="Calibri"/>
              </a:rPr>
              <a:t> </a:t>
            </a:r>
            <a:r>
              <a:rPr sz="2000" dirty="0">
                <a:latin typeface="Calibri"/>
                <a:cs typeface="Calibri"/>
              </a:rPr>
              <a:t>of</a:t>
            </a:r>
            <a:r>
              <a:rPr sz="2000" spc="-40" dirty="0">
                <a:latin typeface="Calibri"/>
                <a:cs typeface="Calibri"/>
              </a:rPr>
              <a:t> </a:t>
            </a:r>
            <a:r>
              <a:rPr sz="2000" dirty="0">
                <a:latin typeface="Calibri"/>
                <a:cs typeface="Calibri"/>
              </a:rPr>
              <a:t>Western</a:t>
            </a:r>
            <a:r>
              <a:rPr sz="2000" spc="-55" dirty="0">
                <a:latin typeface="Calibri"/>
                <a:cs typeface="Calibri"/>
              </a:rPr>
              <a:t> </a:t>
            </a:r>
            <a:r>
              <a:rPr sz="2000" dirty="0">
                <a:latin typeface="Calibri"/>
                <a:cs typeface="Calibri"/>
              </a:rPr>
              <a:t>therapy</a:t>
            </a:r>
            <a:r>
              <a:rPr sz="2000" spc="-60" dirty="0">
                <a:latin typeface="Calibri"/>
                <a:cs typeface="Calibri"/>
              </a:rPr>
              <a:t> </a:t>
            </a:r>
            <a:r>
              <a:rPr sz="2000" dirty="0">
                <a:latin typeface="Calibri"/>
                <a:cs typeface="Calibri"/>
              </a:rPr>
              <a:t>and</a:t>
            </a:r>
            <a:r>
              <a:rPr sz="2000" spc="-55" dirty="0">
                <a:latin typeface="Calibri"/>
                <a:cs typeface="Calibri"/>
              </a:rPr>
              <a:t> </a:t>
            </a:r>
            <a:r>
              <a:rPr sz="2000" dirty="0">
                <a:latin typeface="Calibri"/>
                <a:cs typeface="Calibri"/>
              </a:rPr>
              <a:t>Eastern</a:t>
            </a:r>
            <a:r>
              <a:rPr sz="2000" spc="-55" dirty="0">
                <a:latin typeface="Calibri"/>
                <a:cs typeface="Calibri"/>
              </a:rPr>
              <a:t> </a:t>
            </a:r>
            <a:r>
              <a:rPr sz="2000" dirty="0">
                <a:latin typeface="Calibri"/>
                <a:cs typeface="Calibri"/>
              </a:rPr>
              <a:t>wellness</a:t>
            </a:r>
            <a:r>
              <a:rPr sz="2000" spc="-60" dirty="0">
                <a:latin typeface="Calibri"/>
                <a:cs typeface="Calibri"/>
              </a:rPr>
              <a:t> </a:t>
            </a:r>
            <a:r>
              <a:rPr sz="2000" spc="-10" dirty="0">
                <a:latin typeface="Calibri"/>
                <a:cs typeface="Calibri"/>
              </a:rPr>
              <a:t>approaches.</a:t>
            </a:r>
            <a:endParaRPr sz="2000" dirty="0">
              <a:latin typeface="Calibri"/>
              <a:cs typeface="Calibri"/>
            </a:endParaRPr>
          </a:p>
          <a:p>
            <a:pPr>
              <a:lnSpc>
                <a:spcPct val="100000"/>
              </a:lnSpc>
              <a:spcBef>
                <a:spcPts val="1045"/>
              </a:spcBef>
            </a:pPr>
            <a:endParaRPr sz="2000" dirty="0">
              <a:latin typeface="Calibri"/>
              <a:cs typeface="Calibri"/>
            </a:endParaRPr>
          </a:p>
          <a:p>
            <a:pPr marL="12700">
              <a:lnSpc>
                <a:spcPct val="100000"/>
              </a:lnSpc>
            </a:pPr>
            <a:r>
              <a:rPr sz="2000" b="1" spc="-10" dirty="0">
                <a:latin typeface="Arial"/>
                <a:cs typeface="Arial"/>
              </a:rPr>
              <a:t>Objectives:</a:t>
            </a:r>
            <a:endParaRPr sz="2000" dirty="0">
              <a:latin typeface="Arial"/>
              <a:cs typeface="Arial"/>
            </a:endParaRPr>
          </a:p>
          <a:p>
            <a:pPr>
              <a:lnSpc>
                <a:spcPct val="100000"/>
              </a:lnSpc>
              <a:spcBef>
                <a:spcPts val="80"/>
              </a:spcBef>
            </a:pPr>
            <a:endParaRPr sz="2000" dirty="0">
              <a:latin typeface="Arial"/>
              <a:cs typeface="Arial"/>
            </a:endParaRPr>
          </a:p>
          <a:p>
            <a:pPr marL="342900" indent="-342900" algn="l">
              <a:buSzPct val="55000"/>
              <a:buFont typeface="Arial" panose="020B0604020202020204" pitchFamily="34" charset="0"/>
              <a:buChar char="•"/>
              <a:tabLst>
                <a:tab pos="241300" algn="l"/>
              </a:tabLst>
            </a:pPr>
            <a:r>
              <a:rPr lang="en-US" sz="2000" spc="-10" dirty="0"/>
              <a:t>To develop an AI-powered platform that provides personalized emotional and mental wellness support.</a:t>
            </a:r>
            <a:endParaRPr lang="en-US" sz="2000" dirty="0"/>
          </a:p>
          <a:p>
            <a:pPr marL="342900" indent="-342900" algn="l">
              <a:buFont typeface="Arial"/>
              <a:buChar char="•"/>
              <a:tabLst>
                <a:tab pos="241300" algn="l"/>
              </a:tabLst>
            </a:pPr>
            <a:r>
              <a:rPr lang="en-US" sz="2000" spc="-10" dirty="0"/>
              <a:t>To integrate holistic healing practices like meditation, mindfulness, and stress management.</a:t>
            </a:r>
            <a:endParaRPr lang="en-US" sz="2000" dirty="0"/>
          </a:p>
          <a:p>
            <a:pPr marL="342900" indent="-342900" algn="l">
              <a:buFont typeface="Arial"/>
              <a:buChar char="•"/>
              <a:tabLst>
                <a:tab pos="241300" algn="l"/>
              </a:tabLst>
            </a:pPr>
            <a:r>
              <a:rPr lang="en-US" sz="2000" spc="-10" dirty="0"/>
              <a:t>To design an empathetic chatbot capable of understanding and responding to human emotions.</a:t>
            </a:r>
            <a:endParaRPr lang="en-US" sz="2000" dirty="0"/>
          </a:p>
          <a:p>
            <a:pPr marL="342900" indent="-342900" algn="l">
              <a:buFont typeface="Arial"/>
              <a:buChar char="•"/>
              <a:tabLst>
                <a:tab pos="241300" algn="l"/>
              </a:tabLst>
            </a:pPr>
            <a:r>
              <a:rPr lang="en-US" sz="2000" spc="-10" dirty="0"/>
              <a:t>To monitor users’ mood patterns and offer data-driven wellness recommendations.</a:t>
            </a:r>
            <a:endParaRPr lang="en-US" sz="2000" dirty="0"/>
          </a:p>
          <a:p>
            <a:pPr marL="342900" indent="-342900" algn="l">
              <a:buFont typeface="Arial"/>
              <a:buChar char="•"/>
              <a:tabLst>
                <a:tab pos="241300" algn="l"/>
              </a:tabLst>
            </a:pPr>
            <a:r>
              <a:rPr lang="en-US" sz="2000" spc="-10" dirty="0"/>
              <a:t>To ensure privacy, safety, and ethical use of AI in mental health assistance.</a:t>
            </a:r>
          </a:p>
          <a:p>
            <a:pPr marL="342900" indent="-342900" algn="l">
              <a:buFont typeface="Arial"/>
              <a:buChar char="•"/>
              <a:tabLst>
                <a:tab pos="241300" algn="l"/>
              </a:tabLst>
            </a:pPr>
            <a:r>
              <a:rPr lang="en-IN" sz="2000" dirty="0"/>
              <a:t>To offer a 24/7 mental wellness companion with integrated progress tracking and content delivery.</a:t>
            </a:r>
          </a:p>
          <a:p>
            <a:pPr marL="342900" indent="-342900" algn="l">
              <a:buFont typeface="Arial"/>
              <a:buChar char="•"/>
              <a:tabLst>
                <a:tab pos="241300" algn="l"/>
              </a:tabLst>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5844" y="15811"/>
            <a:ext cx="7560310" cy="830997"/>
          </a:xfrm>
          <a:prstGeom prst="rect">
            <a:avLst/>
          </a:prstGeom>
        </p:spPr>
        <p:txBody>
          <a:bodyPr vert="horz" wrap="square" lIns="0" tIns="152400" rIns="0" bIns="0" rtlCol="0" anchor="t">
            <a:spAutoFit/>
          </a:bodyPr>
          <a:lstStyle/>
          <a:p>
            <a:pPr marL="2901950">
              <a:lnSpc>
                <a:spcPct val="100000"/>
              </a:lnSpc>
              <a:spcBef>
                <a:spcPts val="100"/>
              </a:spcBef>
            </a:pPr>
            <a:r>
              <a:rPr sz="4400" spc="-20" dirty="0"/>
              <a:t>SCOP</a:t>
            </a:r>
            <a:r>
              <a:rPr lang="en-US" sz="4400" spc="-20" dirty="0"/>
              <a:t>E</a:t>
            </a:r>
            <a:endParaRPr lang="en-US" sz="4400"/>
          </a:p>
        </p:txBody>
      </p:sp>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73025">
              <a:lnSpc>
                <a:spcPct val="100000"/>
              </a:lnSpc>
              <a:spcBef>
                <a:spcPts val="50"/>
              </a:spcBef>
            </a:pPr>
            <a:fld id="{81D60167-4931-47E6-BA6A-407CBD079E47}" type="slidenum">
              <a:rPr spc="-50" dirty="0"/>
              <a:t>5</a:t>
            </a:fld>
            <a:endParaRPr spc="-50" dirty="0"/>
          </a:p>
        </p:txBody>
      </p:sp>
      <p:sp>
        <p:nvSpPr>
          <p:cNvPr id="3" name="object 3"/>
          <p:cNvSpPr txBox="1"/>
          <p:nvPr/>
        </p:nvSpPr>
        <p:spPr>
          <a:xfrm>
            <a:off x="228600" y="1182937"/>
            <a:ext cx="12091353" cy="5559984"/>
          </a:xfrm>
          <a:prstGeom prst="rect">
            <a:avLst/>
          </a:prstGeom>
        </p:spPr>
        <p:txBody>
          <a:bodyPr vert="horz" wrap="square" lIns="0" tIns="12700" rIns="0" bIns="0" rtlCol="0">
            <a:spAutoFit/>
          </a:bodyPr>
          <a:lstStyle/>
          <a:p>
            <a:pPr marL="354965" marR="1292225" indent="-342900">
              <a:lnSpc>
                <a:spcPct val="152200"/>
              </a:lnSpc>
              <a:spcBef>
                <a:spcPts val="1000"/>
              </a:spcBef>
              <a:buFont typeface="Arial" panose="020B0604020202020204" pitchFamily="34" charset="0"/>
              <a:buChar char="•"/>
              <a:tabLst>
                <a:tab pos="241300" algn="l"/>
              </a:tabLst>
            </a:pPr>
            <a:r>
              <a:rPr sz="2000" dirty="0">
                <a:latin typeface="Calibri"/>
                <a:cs typeface="Calibri"/>
              </a:rPr>
              <a:t>WHO</a:t>
            </a:r>
            <a:r>
              <a:rPr sz="2000" spc="-45" dirty="0">
                <a:latin typeface="Calibri"/>
                <a:cs typeface="Calibri"/>
              </a:rPr>
              <a:t> </a:t>
            </a:r>
            <a:r>
              <a:rPr sz="2000" dirty="0">
                <a:latin typeface="Calibri"/>
                <a:cs typeface="Calibri"/>
              </a:rPr>
              <a:t>(World</a:t>
            </a:r>
            <a:r>
              <a:rPr sz="2000" spc="-45" dirty="0">
                <a:latin typeface="Calibri"/>
                <a:cs typeface="Calibri"/>
              </a:rPr>
              <a:t> </a:t>
            </a:r>
            <a:r>
              <a:rPr sz="2000" dirty="0">
                <a:latin typeface="Calibri"/>
                <a:cs typeface="Calibri"/>
              </a:rPr>
              <a:t>Health</a:t>
            </a:r>
            <a:r>
              <a:rPr sz="2000" spc="-45" dirty="0">
                <a:latin typeface="Calibri"/>
                <a:cs typeface="Calibri"/>
              </a:rPr>
              <a:t> </a:t>
            </a:r>
            <a:r>
              <a:rPr sz="2000" dirty="0">
                <a:latin typeface="Calibri"/>
                <a:cs typeface="Calibri"/>
              </a:rPr>
              <a:t>Organization)</a:t>
            </a:r>
            <a:r>
              <a:rPr sz="2000" spc="-55" dirty="0">
                <a:latin typeface="Calibri"/>
                <a:cs typeface="Calibri"/>
              </a:rPr>
              <a:t> </a:t>
            </a:r>
            <a:r>
              <a:rPr sz="2000" dirty="0">
                <a:latin typeface="Calibri"/>
                <a:cs typeface="Calibri"/>
              </a:rPr>
              <a:t>reports</a:t>
            </a:r>
            <a:r>
              <a:rPr sz="2000" spc="-50" dirty="0">
                <a:latin typeface="Calibri"/>
                <a:cs typeface="Calibri"/>
              </a:rPr>
              <a:t> </a:t>
            </a:r>
            <a:r>
              <a:rPr sz="2000" dirty="0">
                <a:latin typeface="Calibri"/>
                <a:cs typeface="Calibri"/>
              </a:rPr>
              <a:t>1</a:t>
            </a:r>
            <a:r>
              <a:rPr sz="2000" spc="-35" dirty="0">
                <a:latin typeface="Calibri"/>
                <a:cs typeface="Calibri"/>
              </a:rPr>
              <a:t> </a:t>
            </a:r>
            <a:r>
              <a:rPr sz="2000" dirty="0">
                <a:latin typeface="Calibri"/>
                <a:cs typeface="Calibri"/>
              </a:rPr>
              <a:t>in</a:t>
            </a:r>
            <a:r>
              <a:rPr sz="2000" spc="-45" dirty="0">
                <a:latin typeface="Calibri"/>
                <a:cs typeface="Calibri"/>
              </a:rPr>
              <a:t> </a:t>
            </a:r>
            <a:r>
              <a:rPr sz="2000" dirty="0">
                <a:latin typeface="Calibri"/>
                <a:cs typeface="Calibri"/>
              </a:rPr>
              <a:t>8</a:t>
            </a:r>
            <a:r>
              <a:rPr sz="2000" spc="-35" dirty="0">
                <a:latin typeface="Calibri"/>
                <a:cs typeface="Calibri"/>
              </a:rPr>
              <a:t> </a:t>
            </a:r>
            <a:r>
              <a:rPr sz="2000" dirty="0">
                <a:latin typeface="Calibri"/>
                <a:cs typeface="Calibri"/>
              </a:rPr>
              <a:t>people</a:t>
            </a:r>
            <a:r>
              <a:rPr sz="2000" spc="-40" dirty="0">
                <a:latin typeface="Calibri"/>
                <a:cs typeface="Calibri"/>
              </a:rPr>
              <a:t> </a:t>
            </a:r>
            <a:r>
              <a:rPr sz="2000" dirty="0">
                <a:latin typeface="Calibri"/>
                <a:cs typeface="Calibri"/>
              </a:rPr>
              <a:t>live</a:t>
            </a:r>
            <a:r>
              <a:rPr sz="2000" spc="-20" dirty="0">
                <a:latin typeface="Calibri"/>
                <a:cs typeface="Calibri"/>
              </a:rPr>
              <a:t> </a:t>
            </a:r>
            <a:r>
              <a:rPr sz="2000" dirty="0">
                <a:latin typeface="Calibri"/>
                <a:cs typeface="Calibri"/>
              </a:rPr>
              <a:t>with</a:t>
            </a:r>
            <a:r>
              <a:rPr sz="2000" spc="-45" dirty="0">
                <a:latin typeface="Calibri"/>
                <a:cs typeface="Calibri"/>
              </a:rPr>
              <a:t> </a:t>
            </a:r>
            <a:r>
              <a:rPr sz="2000" dirty="0">
                <a:latin typeface="Calibri"/>
                <a:cs typeface="Calibri"/>
              </a:rPr>
              <a:t>mental</a:t>
            </a:r>
            <a:r>
              <a:rPr sz="2000" spc="-55" dirty="0">
                <a:latin typeface="Calibri"/>
                <a:cs typeface="Calibri"/>
              </a:rPr>
              <a:t> </a:t>
            </a:r>
            <a:r>
              <a:rPr sz="2000" spc="-10" dirty="0">
                <a:latin typeface="Calibri"/>
                <a:cs typeface="Calibri"/>
              </a:rPr>
              <a:t>disorders;</a:t>
            </a:r>
            <a:r>
              <a:rPr sz="2000" spc="-50" dirty="0">
                <a:latin typeface="Calibri"/>
                <a:cs typeface="Calibri"/>
              </a:rPr>
              <a:t> </a:t>
            </a:r>
            <a:r>
              <a:rPr sz="2000" dirty="0">
                <a:latin typeface="Calibri"/>
                <a:cs typeface="Calibri"/>
              </a:rPr>
              <a:t>early</a:t>
            </a:r>
            <a:r>
              <a:rPr sz="2000" spc="-25" dirty="0">
                <a:latin typeface="Calibri"/>
                <a:cs typeface="Calibri"/>
              </a:rPr>
              <a:t> </a:t>
            </a:r>
            <a:r>
              <a:rPr sz="2000" spc="-10" dirty="0">
                <a:latin typeface="Calibri"/>
                <a:cs typeface="Calibri"/>
              </a:rPr>
              <a:t>detection improves</a:t>
            </a:r>
            <a:r>
              <a:rPr sz="2000" spc="-50" dirty="0">
                <a:latin typeface="Calibri"/>
                <a:cs typeface="Calibri"/>
              </a:rPr>
              <a:t> </a:t>
            </a:r>
            <a:r>
              <a:rPr sz="2000" spc="-10" dirty="0">
                <a:latin typeface="Calibri"/>
                <a:cs typeface="Calibri"/>
              </a:rPr>
              <a:t>outcomes.</a:t>
            </a:r>
            <a:endParaRPr sz="2000" dirty="0">
              <a:latin typeface="Calibri"/>
              <a:cs typeface="Calibri"/>
            </a:endParaRPr>
          </a:p>
          <a:p>
            <a:pPr marL="241300" indent="-228600">
              <a:lnSpc>
                <a:spcPct val="100000"/>
              </a:lnSpc>
              <a:spcBef>
                <a:spcPts val="1275"/>
              </a:spcBef>
              <a:buFont typeface="Microsoft Sans Serif"/>
              <a:buChar char="•"/>
              <a:tabLst>
                <a:tab pos="241300" algn="l"/>
              </a:tabLst>
            </a:pPr>
            <a:r>
              <a:rPr sz="2000" dirty="0">
                <a:latin typeface="Calibri"/>
                <a:cs typeface="Calibri"/>
              </a:rPr>
              <a:t>AI</a:t>
            </a:r>
            <a:r>
              <a:rPr sz="2000" spc="-45" dirty="0">
                <a:latin typeface="Calibri"/>
                <a:cs typeface="Calibri"/>
              </a:rPr>
              <a:t> </a:t>
            </a:r>
            <a:r>
              <a:rPr sz="2000" dirty="0">
                <a:latin typeface="Calibri"/>
                <a:cs typeface="Calibri"/>
              </a:rPr>
              <a:t>chatbots</a:t>
            </a:r>
            <a:r>
              <a:rPr sz="2000" spc="-45" dirty="0">
                <a:latin typeface="Calibri"/>
                <a:cs typeface="Calibri"/>
              </a:rPr>
              <a:t> </a:t>
            </a:r>
            <a:r>
              <a:rPr sz="2000" dirty="0">
                <a:latin typeface="Calibri"/>
                <a:cs typeface="Calibri"/>
              </a:rPr>
              <a:t>(e.g.,</a:t>
            </a:r>
            <a:r>
              <a:rPr sz="2000" spc="-35" dirty="0">
                <a:latin typeface="Calibri"/>
                <a:cs typeface="Calibri"/>
              </a:rPr>
              <a:t> </a:t>
            </a:r>
            <a:r>
              <a:rPr sz="2000" dirty="0">
                <a:latin typeface="Calibri"/>
                <a:cs typeface="Calibri"/>
              </a:rPr>
              <a:t>Woebot,</a:t>
            </a:r>
            <a:r>
              <a:rPr sz="2000" spc="-40" dirty="0">
                <a:latin typeface="Calibri"/>
                <a:cs typeface="Calibri"/>
              </a:rPr>
              <a:t> </a:t>
            </a:r>
            <a:r>
              <a:rPr sz="2000" dirty="0">
                <a:latin typeface="Calibri"/>
                <a:cs typeface="Calibri"/>
              </a:rPr>
              <a:t>Wysa)</a:t>
            </a:r>
            <a:r>
              <a:rPr sz="2000" spc="-45" dirty="0">
                <a:latin typeface="Calibri"/>
                <a:cs typeface="Calibri"/>
              </a:rPr>
              <a:t> </a:t>
            </a:r>
            <a:r>
              <a:rPr sz="2000" dirty="0">
                <a:latin typeface="Calibri"/>
                <a:cs typeface="Calibri"/>
              </a:rPr>
              <a:t>have</a:t>
            </a:r>
            <a:r>
              <a:rPr sz="2000" spc="-40" dirty="0">
                <a:latin typeface="Calibri"/>
                <a:cs typeface="Calibri"/>
              </a:rPr>
              <a:t> </a:t>
            </a:r>
            <a:r>
              <a:rPr sz="2000" dirty="0">
                <a:latin typeface="Calibri"/>
                <a:cs typeface="Calibri"/>
              </a:rPr>
              <a:t>shown</a:t>
            </a:r>
            <a:r>
              <a:rPr sz="2000" spc="-40" dirty="0">
                <a:latin typeface="Calibri"/>
                <a:cs typeface="Calibri"/>
              </a:rPr>
              <a:t> </a:t>
            </a:r>
            <a:r>
              <a:rPr sz="2000" dirty="0">
                <a:latin typeface="Calibri"/>
                <a:cs typeface="Calibri"/>
              </a:rPr>
              <a:t>positive</a:t>
            </a:r>
            <a:r>
              <a:rPr sz="2000" spc="-40" dirty="0">
                <a:latin typeface="Calibri"/>
                <a:cs typeface="Calibri"/>
              </a:rPr>
              <a:t> </a:t>
            </a:r>
            <a:r>
              <a:rPr sz="2000" dirty="0">
                <a:latin typeface="Calibri"/>
                <a:cs typeface="Calibri"/>
              </a:rPr>
              <a:t>impact</a:t>
            </a:r>
            <a:r>
              <a:rPr sz="2000" spc="-35" dirty="0">
                <a:latin typeface="Calibri"/>
                <a:cs typeface="Calibri"/>
              </a:rPr>
              <a:t> </a:t>
            </a:r>
            <a:r>
              <a:rPr sz="2000" dirty="0">
                <a:latin typeface="Calibri"/>
                <a:cs typeface="Calibri"/>
              </a:rPr>
              <a:t>in</a:t>
            </a:r>
            <a:r>
              <a:rPr sz="2000" spc="-40" dirty="0">
                <a:latin typeface="Calibri"/>
                <a:cs typeface="Calibri"/>
              </a:rPr>
              <a:t> </a:t>
            </a:r>
            <a:r>
              <a:rPr sz="2000" dirty="0">
                <a:latin typeface="Calibri"/>
                <a:cs typeface="Calibri"/>
              </a:rPr>
              <a:t>reducing</a:t>
            </a:r>
            <a:r>
              <a:rPr sz="2000" spc="-35" dirty="0">
                <a:latin typeface="Calibri"/>
                <a:cs typeface="Calibri"/>
              </a:rPr>
              <a:t> </a:t>
            </a:r>
            <a:r>
              <a:rPr sz="2000" spc="-10" dirty="0">
                <a:latin typeface="Calibri"/>
                <a:cs typeface="Calibri"/>
              </a:rPr>
              <a:t>symptoms</a:t>
            </a:r>
            <a:r>
              <a:rPr sz="2000" spc="-50" dirty="0">
                <a:latin typeface="Calibri"/>
                <a:cs typeface="Calibri"/>
              </a:rPr>
              <a:t> </a:t>
            </a:r>
            <a:r>
              <a:rPr sz="2000" dirty="0">
                <a:latin typeface="Calibri"/>
                <a:cs typeface="Calibri"/>
              </a:rPr>
              <a:t>of</a:t>
            </a:r>
            <a:r>
              <a:rPr sz="2000" spc="-25" dirty="0">
                <a:latin typeface="Calibri"/>
                <a:cs typeface="Calibri"/>
              </a:rPr>
              <a:t> </a:t>
            </a:r>
            <a:r>
              <a:rPr sz="2000" dirty="0">
                <a:latin typeface="Calibri"/>
                <a:cs typeface="Calibri"/>
              </a:rPr>
              <a:t>anxiety</a:t>
            </a:r>
            <a:r>
              <a:rPr sz="2000" spc="-50" dirty="0">
                <a:latin typeface="Calibri"/>
                <a:cs typeface="Calibri"/>
              </a:rPr>
              <a:t> </a:t>
            </a:r>
            <a:r>
              <a:rPr sz="2000" dirty="0">
                <a:latin typeface="Calibri"/>
                <a:cs typeface="Calibri"/>
              </a:rPr>
              <a:t>and</a:t>
            </a:r>
            <a:r>
              <a:rPr sz="2000" spc="-40" dirty="0">
                <a:latin typeface="Calibri"/>
                <a:cs typeface="Calibri"/>
              </a:rPr>
              <a:t> </a:t>
            </a:r>
            <a:r>
              <a:rPr sz="2000" spc="-10" dirty="0">
                <a:latin typeface="Calibri"/>
                <a:cs typeface="Calibri"/>
              </a:rPr>
              <a:t>depression.</a:t>
            </a:r>
            <a:endParaRPr sz="2000" dirty="0">
              <a:latin typeface="Calibri"/>
              <a:cs typeface="Calibri"/>
            </a:endParaRPr>
          </a:p>
          <a:p>
            <a:pPr marL="241300" indent="-228600">
              <a:lnSpc>
                <a:spcPct val="100000"/>
              </a:lnSpc>
              <a:spcBef>
                <a:spcPts val="1250"/>
              </a:spcBef>
              <a:buFont typeface="Microsoft Sans Serif"/>
              <a:buChar char="•"/>
              <a:tabLst>
                <a:tab pos="241300" algn="l"/>
              </a:tabLst>
            </a:pPr>
            <a:r>
              <a:rPr sz="2000" dirty="0">
                <a:latin typeface="Calibri"/>
                <a:cs typeface="Calibri"/>
              </a:rPr>
              <a:t>Ancient</a:t>
            </a:r>
            <a:r>
              <a:rPr sz="2000" spc="-45" dirty="0">
                <a:latin typeface="Calibri"/>
                <a:cs typeface="Calibri"/>
              </a:rPr>
              <a:t> </a:t>
            </a:r>
            <a:r>
              <a:rPr sz="2000" dirty="0">
                <a:latin typeface="Calibri"/>
                <a:cs typeface="Calibri"/>
              </a:rPr>
              <a:t>practices</a:t>
            </a:r>
            <a:r>
              <a:rPr sz="2000" spc="-50" dirty="0">
                <a:latin typeface="Calibri"/>
                <a:cs typeface="Calibri"/>
              </a:rPr>
              <a:t> </a:t>
            </a:r>
            <a:r>
              <a:rPr sz="2000" dirty="0">
                <a:latin typeface="Calibri"/>
                <a:cs typeface="Calibri"/>
              </a:rPr>
              <a:t>like</a:t>
            </a:r>
            <a:r>
              <a:rPr sz="2000" spc="-45" dirty="0">
                <a:latin typeface="Calibri"/>
                <a:cs typeface="Calibri"/>
              </a:rPr>
              <a:t> </a:t>
            </a:r>
            <a:r>
              <a:rPr sz="2000" dirty="0">
                <a:latin typeface="Calibri"/>
                <a:cs typeface="Calibri"/>
              </a:rPr>
              <a:t>Yoga</a:t>
            </a:r>
            <a:r>
              <a:rPr sz="2000" spc="-55" dirty="0">
                <a:latin typeface="Calibri"/>
                <a:cs typeface="Calibri"/>
              </a:rPr>
              <a:t> </a:t>
            </a:r>
            <a:r>
              <a:rPr sz="2000" dirty="0">
                <a:latin typeface="Calibri"/>
                <a:cs typeface="Calibri"/>
              </a:rPr>
              <a:t>and</a:t>
            </a:r>
            <a:r>
              <a:rPr sz="2000" spc="-25" dirty="0">
                <a:latin typeface="Calibri"/>
                <a:cs typeface="Calibri"/>
              </a:rPr>
              <a:t> </a:t>
            </a:r>
            <a:r>
              <a:rPr sz="2000" spc="-10" dirty="0">
                <a:latin typeface="Calibri"/>
                <a:cs typeface="Calibri"/>
              </a:rPr>
              <a:t>Meditation</a:t>
            </a:r>
            <a:r>
              <a:rPr sz="2000" spc="-55" dirty="0">
                <a:latin typeface="Calibri"/>
                <a:cs typeface="Calibri"/>
              </a:rPr>
              <a:t> </a:t>
            </a:r>
            <a:r>
              <a:rPr sz="2000" dirty="0">
                <a:latin typeface="Calibri"/>
                <a:cs typeface="Calibri"/>
              </a:rPr>
              <a:t>have</a:t>
            </a:r>
            <a:r>
              <a:rPr sz="2000" spc="-45" dirty="0">
                <a:latin typeface="Calibri"/>
                <a:cs typeface="Calibri"/>
              </a:rPr>
              <a:t> </a:t>
            </a:r>
            <a:r>
              <a:rPr sz="2000" dirty="0">
                <a:latin typeface="Calibri"/>
                <a:cs typeface="Calibri"/>
              </a:rPr>
              <a:t>proven</a:t>
            </a:r>
            <a:r>
              <a:rPr sz="2000" spc="-50" dirty="0">
                <a:latin typeface="Calibri"/>
                <a:cs typeface="Calibri"/>
              </a:rPr>
              <a:t> </a:t>
            </a:r>
            <a:r>
              <a:rPr sz="2000" dirty="0">
                <a:latin typeface="Calibri"/>
                <a:cs typeface="Calibri"/>
              </a:rPr>
              <a:t>benefits</a:t>
            </a:r>
            <a:r>
              <a:rPr sz="2000" spc="-50" dirty="0">
                <a:latin typeface="Calibri"/>
                <a:cs typeface="Calibri"/>
              </a:rPr>
              <a:t> </a:t>
            </a:r>
            <a:r>
              <a:rPr sz="2000" dirty="0">
                <a:latin typeface="Calibri"/>
                <a:cs typeface="Calibri"/>
              </a:rPr>
              <a:t>for</a:t>
            </a:r>
            <a:r>
              <a:rPr sz="2000" spc="-45" dirty="0">
                <a:latin typeface="Calibri"/>
                <a:cs typeface="Calibri"/>
              </a:rPr>
              <a:t> </a:t>
            </a:r>
            <a:r>
              <a:rPr sz="2000" dirty="0">
                <a:latin typeface="Calibri"/>
                <a:cs typeface="Calibri"/>
              </a:rPr>
              <a:t>stress</a:t>
            </a:r>
            <a:r>
              <a:rPr sz="2000" spc="-35" dirty="0">
                <a:latin typeface="Calibri"/>
                <a:cs typeface="Calibri"/>
              </a:rPr>
              <a:t> </a:t>
            </a:r>
            <a:r>
              <a:rPr sz="2000" dirty="0">
                <a:latin typeface="Calibri"/>
                <a:cs typeface="Calibri"/>
              </a:rPr>
              <a:t>reduction</a:t>
            </a:r>
            <a:r>
              <a:rPr sz="2000" spc="-50"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emotional</a:t>
            </a:r>
            <a:r>
              <a:rPr sz="2000" spc="-35" dirty="0">
                <a:latin typeface="Calibri"/>
                <a:cs typeface="Calibri"/>
              </a:rPr>
              <a:t> </a:t>
            </a:r>
            <a:r>
              <a:rPr sz="2000" spc="-10" dirty="0">
                <a:latin typeface="Calibri"/>
                <a:cs typeface="Calibri"/>
              </a:rPr>
              <a:t>stability.</a:t>
            </a:r>
            <a:endParaRPr sz="2000" dirty="0">
              <a:latin typeface="Calibri"/>
              <a:cs typeface="Calibri"/>
            </a:endParaRPr>
          </a:p>
          <a:p>
            <a:pPr marL="241300" marR="565785" indent="-229235">
              <a:lnSpc>
                <a:spcPct val="152100"/>
              </a:lnSpc>
              <a:spcBef>
                <a:spcPts val="30"/>
              </a:spcBef>
              <a:buFont typeface="Microsoft Sans Serif"/>
              <a:buChar char="•"/>
              <a:tabLst>
                <a:tab pos="241300" algn="l"/>
              </a:tabLst>
            </a:pPr>
            <a:r>
              <a:rPr sz="2000" dirty="0">
                <a:latin typeface="Calibri"/>
                <a:cs typeface="Calibri"/>
              </a:rPr>
              <a:t>Hybrid</a:t>
            </a:r>
            <a:r>
              <a:rPr sz="2000" spc="-55" dirty="0">
                <a:latin typeface="Calibri"/>
                <a:cs typeface="Calibri"/>
              </a:rPr>
              <a:t> </a:t>
            </a:r>
            <a:r>
              <a:rPr sz="2000" spc="-10" dirty="0">
                <a:latin typeface="Calibri"/>
                <a:cs typeface="Calibri"/>
              </a:rPr>
              <a:t>approaches</a:t>
            </a:r>
            <a:r>
              <a:rPr sz="2000" spc="-55" dirty="0">
                <a:latin typeface="Calibri"/>
                <a:cs typeface="Calibri"/>
              </a:rPr>
              <a:t> </a:t>
            </a:r>
            <a:r>
              <a:rPr sz="2000" dirty="0">
                <a:latin typeface="Calibri"/>
                <a:cs typeface="Calibri"/>
              </a:rPr>
              <a:t>combining</a:t>
            </a:r>
            <a:r>
              <a:rPr sz="2000" spc="-25" dirty="0">
                <a:latin typeface="Calibri"/>
                <a:cs typeface="Calibri"/>
              </a:rPr>
              <a:t> </a:t>
            </a:r>
            <a:r>
              <a:rPr sz="2000" dirty="0">
                <a:latin typeface="Calibri"/>
                <a:cs typeface="Calibri"/>
              </a:rPr>
              <a:t>digital</a:t>
            </a:r>
            <a:r>
              <a:rPr sz="2000" spc="-65" dirty="0">
                <a:latin typeface="Calibri"/>
                <a:cs typeface="Calibri"/>
              </a:rPr>
              <a:t> </a:t>
            </a:r>
            <a:r>
              <a:rPr sz="2000" dirty="0">
                <a:latin typeface="Calibri"/>
                <a:cs typeface="Calibri"/>
              </a:rPr>
              <a:t>CBT</a:t>
            </a:r>
            <a:r>
              <a:rPr sz="2000" spc="-50" dirty="0">
                <a:latin typeface="Calibri"/>
                <a:cs typeface="Calibri"/>
              </a:rPr>
              <a:t> </a:t>
            </a:r>
            <a:r>
              <a:rPr sz="2000" dirty="0">
                <a:latin typeface="Calibri"/>
                <a:cs typeface="Calibri"/>
              </a:rPr>
              <a:t>(Cognitive</a:t>
            </a:r>
            <a:r>
              <a:rPr sz="2000" spc="-50" dirty="0">
                <a:latin typeface="Calibri"/>
                <a:cs typeface="Calibri"/>
              </a:rPr>
              <a:t> </a:t>
            </a:r>
            <a:r>
              <a:rPr sz="2000" dirty="0">
                <a:latin typeface="Calibri"/>
                <a:cs typeface="Calibri"/>
              </a:rPr>
              <a:t>Behavioral</a:t>
            </a:r>
            <a:r>
              <a:rPr sz="2000" spc="-55" dirty="0">
                <a:latin typeface="Calibri"/>
                <a:cs typeface="Calibri"/>
              </a:rPr>
              <a:t> </a:t>
            </a:r>
            <a:r>
              <a:rPr sz="2000" dirty="0">
                <a:latin typeface="Calibri"/>
                <a:cs typeface="Calibri"/>
              </a:rPr>
              <a:t>Therapy)</a:t>
            </a:r>
            <a:r>
              <a:rPr sz="2000" spc="-35" dirty="0">
                <a:latin typeface="Calibri"/>
                <a:cs typeface="Calibri"/>
              </a:rPr>
              <a:t> </a:t>
            </a:r>
            <a:r>
              <a:rPr sz="2000" dirty="0">
                <a:latin typeface="Calibri"/>
                <a:cs typeface="Calibri"/>
              </a:rPr>
              <a:t>and</a:t>
            </a:r>
            <a:r>
              <a:rPr sz="2000" spc="-55" dirty="0">
                <a:latin typeface="Calibri"/>
                <a:cs typeface="Calibri"/>
              </a:rPr>
              <a:t> </a:t>
            </a:r>
            <a:r>
              <a:rPr sz="2000" dirty="0">
                <a:latin typeface="Calibri"/>
                <a:cs typeface="Calibri"/>
              </a:rPr>
              <a:t>mindfulness</a:t>
            </a:r>
            <a:r>
              <a:rPr sz="2000" spc="-35" dirty="0">
                <a:latin typeface="Calibri"/>
                <a:cs typeface="Calibri"/>
              </a:rPr>
              <a:t> </a:t>
            </a:r>
            <a:r>
              <a:rPr sz="2000" dirty="0">
                <a:latin typeface="Calibri"/>
                <a:cs typeface="Calibri"/>
              </a:rPr>
              <a:t>show</a:t>
            </a:r>
            <a:r>
              <a:rPr sz="2000" spc="-60" dirty="0">
                <a:latin typeface="Calibri"/>
                <a:cs typeface="Calibri"/>
              </a:rPr>
              <a:t> </a:t>
            </a:r>
            <a:r>
              <a:rPr sz="2000" spc="-10" dirty="0">
                <a:latin typeface="Calibri"/>
                <a:cs typeface="Calibri"/>
              </a:rPr>
              <a:t>improved </a:t>
            </a:r>
            <a:r>
              <a:rPr sz="2000" dirty="0">
                <a:latin typeface="Calibri"/>
                <a:cs typeface="Calibri"/>
              </a:rPr>
              <a:t>engagement</a:t>
            </a:r>
            <a:r>
              <a:rPr sz="2000" spc="-70" dirty="0">
                <a:latin typeface="Calibri"/>
                <a:cs typeface="Calibri"/>
              </a:rPr>
              <a:t> </a:t>
            </a:r>
            <a:r>
              <a:rPr sz="2000" dirty="0">
                <a:latin typeface="Calibri"/>
                <a:cs typeface="Calibri"/>
              </a:rPr>
              <a:t>and</a:t>
            </a:r>
            <a:r>
              <a:rPr sz="2000" spc="-70" dirty="0">
                <a:latin typeface="Calibri"/>
                <a:cs typeface="Calibri"/>
              </a:rPr>
              <a:t> </a:t>
            </a:r>
            <a:r>
              <a:rPr sz="2000" spc="-10" dirty="0">
                <a:latin typeface="Calibri"/>
                <a:cs typeface="Calibri"/>
              </a:rPr>
              <a:t>results.</a:t>
            </a:r>
            <a:endParaRPr lang="en-IN" sz="1800" dirty="0"/>
          </a:p>
          <a:p>
            <a:pPr marL="342900" lvl="1" indent="-342900">
              <a:lnSpc>
                <a:spcPct val="150000"/>
              </a:lnSpc>
              <a:buFont typeface="Arial" panose="020B0604020202020204" pitchFamily="34" charset="0"/>
              <a:buChar char="•"/>
            </a:pPr>
            <a:r>
              <a:rPr lang="en-US" sz="2000" dirty="0"/>
              <a:t>Helps users </a:t>
            </a:r>
            <a:r>
              <a:rPr lang="en-US" sz="2000" dirty="0">
                <a:latin typeface="+mn-lt"/>
              </a:rPr>
              <a:t>facing</a:t>
            </a:r>
            <a:r>
              <a:rPr lang="en-US" sz="2000" dirty="0"/>
              <a:t> mild to moderate emotional difficulties (not a clinical tool).</a:t>
            </a:r>
            <a:endParaRPr lang="en-IN" sz="2000" dirty="0"/>
          </a:p>
          <a:p>
            <a:pPr marL="342900" lvl="1" indent="-342900">
              <a:lnSpc>
                <a:spcPct val="150000"/>
              </a:lnSpc>
              <a:buFont typeface="Arial" panose="020B0604020202020204" pitchFamily="34" charset="0"/>
              <a:buChar char="•"/>
            </a:pPr>
            <a:r>
              <a:rPr lang="en-US" sz="2000" dirty="0"/>
              <a:t>Provides assessments (e.g., stress, anxiety, personality, trauma) and offers help based on test results.</a:t>
            </a:r>
            <a:endParaRPr lang="en-IN" sz="2000" dirty="0"/>
          </a:p>
          <a:p>
            <a:pPr marL="342900" lvl="1" indent="-342900">
              <a:lnSpc>
                <a:spcPct val="150000"/>
              </a:lnSpc>
              <a:buFont typeface="Arial" panose="020B0604020202020204" pitchFamily="34" charset="0"/>
              <a:buChar char="•"/>
            </a:pPr>
            <a:r>
              <a:rPr lang="en-US" sz="2000" dirty="0"/>
              <a:t>Leverages Eastern (yoga, meditation) and Western (therapy) methods.</a:t>
            </a:r>
            <a:endParaRPr lang="en-IN" sz="2000" dirty="0"/>
          </a:p>
          <a:p>
            <a:pPr marL="342900" lvl="1" indent="-342900">
              <a:lnSpc>
                <a:spcPct val="150000"/>
              </a:lnSpc>
              <a:buFont typeface="Arial" panose="020B0604020202020204" pitchFamily="34" charset="0"/>
              <a:buChar char="•"/>
            </a:pPr>
            <a:r>
              <a:rPr lang="en-US" sz="2000" dirty="0"/>
              <a:t>Works on mobile and web platforms.</a:t>
            </a:r>
            <a:endParaRPr lang="en-IN" sz="2000" dirty="0"/>
          </a:p>
          <a:p>
            <a:pPr marL="342900" lvl="1" indent="-342900">
              <a:lnSpc>
                <a:spcPct val="150000"/>
              </a:lnSpc>
              <a:buFont typeface="Arial" panose="020B0604020202020204" pitchFamily="34" charset="0"/>
              <a:buChar char="•"/>
            </a:pPr>
            <a:r>
              <a:rPr lang="en-US" sz="2000" dirty="0"/>
              <a:t>Ensures data privacy and ethical use of emotional information.</a:t>
            </a:r>
            <a:endParaRPr lang="en-IN" sz="2000" dirty="0"/>
          </a:p>
          <a:p>
            <a:pPr marL="241300" marR="565785" indent="-229235">
              <a:lnSpc>
                <a:spcPct val="152100"/>
              </a:lnSpc>
              <a:spcBef>
                <a:spcPts val="30"/>
              </a:spcBef>
              <a:buFont typeface="Microsoft Sans Serif"/>
              <a:buChar char="•"/>
              <a:tabLst>
                <a:tab pos="241300" algn="l"/>
              </a:tabLst>
            </a:pPr>
            <a:endParaRPr sz="20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77932545"/>
              </p:ext>
            </p:extLst>
          </p:nvPr>
        </p:nvGraphicFramePr>
        <p:xfrm>
          <a:off x="0" y="1278610"/>
          <a:ext cx="12304035" cy="5045990"/>
        </p:xfrm>
        <a:graphic>
          <a:graphicData uri="http://schemas.openxmlformats.org/drawingml/2006/table">
            <a:tbl>
              <a:tblPr firstRow="1" bandRow="1">
                <a:tableStyleId>{2D5ABB26-0587-4C30-8999-92F81FD0307C}</a:tableStyleId>
              </a:tblPr>
              <a:tblGrid>
                <a:gridCol w="904066">
                  <a:extLst>
                    <a:ext uri="{9D8B030D-6E8A-4147-A177-3AD203B41FA5}">
                      <a16:colId xmlns:a16="http://schemas.microsoft.com/office/drawing/2014/main" val="20000"/>
                    </a:ext>
                  </a:extLst>
                </a:gridCol>
                <a:gridCol w="2982134">
                  <a:extLst>
                    <a:ext uri="{9D8B030D-6E8A-4147-A177-3AD203B41FA5}">
                      <a16:colId xmlns:a16="http://schemas.microsoft.com/office/drawing/2014/main" val="20001"/>
                    </a:ext>
                  </a:extLst>
                </a:gridCol>
                <a:gridCol w="4259556">
                  <a:extLst>
                    <a:ext uri="{9D8B030D-6E8A-4147-A177-3AD203B41FA5}">
                      <a16:colId xmlns:a16="http://schemas.microsoft.com/office/drawing/2014/main" val="20002"/>
                    </a:ext>
                  </a:extLst>
                </a:gridCol>
                <a:gridCol w="4055389">
                  <a:extLst>
                    <a:ext uri="{9D8B030D-6E8A-4147-A177-3AD203B41FA5}">
                      <a16:colId xmlns:a16="http://schemas.microsoft.com/office/drawing/2014/main" val="20003"/>
                    </a:ext>
                  </a:extLst>
                </a:gridCol>
                <a:gridCol w="102890">
                  <a:extLst>
                    <a:ext uri="{9D8B030D-6E8A-4147-A177-3AD203B41FA5}">
                      <a16:colId xmlns:a16="http://schemas.microsoft.com/office/drawing/2014/main" val="20004"/>
                    </a:ext>
                  </a:extLst>
                </a:gridCol>
              </a:tblGrid>
              <a:tr h="996146">
                <a:tc>
                  <a:txBody>
                    <a:bodyPr/>
                    <a:lstStyle/>
                    <a:p>
                      <a:pPr marL="91440" marR="465455">
                        <a:lnSpc>
                          <a:spcPct val="105000"/>
                        </a:lnSpc>
                        <a:spcBef>
                          <a:spcPts val="229"/>
                        </a:spcBef>
                      </a:pPr>
                      <a:r>
                        <a:rPr sz="1550" spc="-25" dirty="0">
                          <a:solidFill>
                            <a:srgbClr val="FFFFFF"/>
                          </a:solidFill>
                          <a:latin typeface="Arial Black"/>
                          <a:cs typeface="Arial Black"/>
                        </a:rPr>
                        <a:t>SR. </a:t>
                      </a:r>
                      <a:r>
                        <a:rPr sz="1550" spc="35" dirty="0">
                          <a:solidFill>
                            <a:srgbClr val="FFFFFF"/>
                          </a:solidFill>
                          <a:latin typeface="Arial Black"/>
                          <a:cs typeface="Arial Black"/>
                        </a:rPr>
                        <a:t>NO</a:t>
                      </a:r>
                      <a:endParaRPr sz="1550" dirty="0">
                        <a:latin typeface="Arial Black"/>
                        <a:cs typeface="Arial Black"/>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572C"/>
                    </a:solidFill>
                  </a:tcPr>
                </a:tc>
                <a:tc>
                  <a:txBody>
                    <a:bodyPr/>
                    <a:lstStyle/>
                    <a:p>
                      <a:pPr marL="92075">
                        <a:lnSpc>
                          <a:spcPct val="100000"/>
                        </a:lnSpc>
                        <a:spcBef>
                          <a:spcPts val="325"/>
                        </a:spcBef>
                      </a:pPr>
                      <a:r>
                        <a:rPr sz="1550" dirty="0">
                          <a:solidFill>
                            <a:srgbClr val="FFFFFF"/>
                          </a:solidFill>
                          <a:latin typeface="Arial Black"/>
                          <a:cs typeface="Arial Black"/>
                        </a:rPr>
                        <a:t>REFERENCE</a:t>
                      </a:r>
                      <a:r>
                        <a:rPr sz="1550" spc="325" dirty="0">
                          <a:solidFill>
                            <a:srgbClr val="FFFFFF"/>
                          </a:solidFill>
                          <a:latin typeface="Arial Black"/>
                          <a:cs typeface="Arial Black"/>
                        </a:rPr>
                        <a:t> </a:t>
                      </a:r>
                      <a:r>
                        <a:rPr sz="1550" spc="-20" dirty="0">
                          <a:solidFill>
                            <a:srgbClr val="FFFFFF"/>
                          </a:solidFill>
                          <a:latin typeface="Arial Black"/>
                          <a:cs typeface="Arial Black"/>
                        </a:rPr>
                        <a:t>NAME</a:t>
                      </a:r>
                      <a:endParaRPr sz="1550">
                        <a:latin typeface="Arial Black"/>
                        <a:cs typeface="Arial Black"/>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572C"/>
                    </a:solidFill>
                  </a:tcPr>
                </a:tc>
                <a:tc>
                  <a:txBody>
                    <a:bodyPr/>
                    <a:lstStyle/>
                    <a:p>
                      <a:pPr marL="94615">
                        <a:lnSpc>
                          <a:spcPct val="100000"/>
                        </a:lnSpc>
                        <a:spcBef>
                          <a:spcPts val="325"/>
                        </a:spcBef>
                      </a:pPr>
                      <a:r>
                        <a:rPr sz="1550" dirty="0">
                          <a:solidFill>
                            <a:srgbClr val="FFFFFF"/>
                          </a:solidFill>
                          <a:latin typeface="Arial Black"/>
                          <a:cs typeface="Arial Black"/>
                        </a:rPr>
                        <a:t>SEED</a:t>
                      </a:r>
                      <a:r>
                        <a:rPr sz="1550" spc="135" dirty="0">
                          <a:solidFill>
                            <a:srgbClr val="FFFFFF"/>
                          </a:solidFill>
                          <a:latin typeface="Arial Black"/>
                          <a:cs typeface="Arial Black"/>
                        </a:rPr>
                        <a:t> </a:t>
                      </a:r>
                      <a:r>
                        <a:rPr sz="1550" dirty="0">
                          <a:solidFill>
                            <a:srgbClr val="FFFFFF"/>
                          </a:solidFill>
                          <a:latin typeface="Arial Black"/>
                          <a:cs typeface="Arial Black"/>
                        </a:rPr>
                        <a:t>IDEA</a:t>
                      </a:r>
                      <a:r>
                        <a:rPr sz="1550" spc="135" dirty="0">
                          <a:solidFill>
                            <a:srgbClr val="FFFFFF"/>
                          </a:solidFill>
                          <a:latin typeface="Arial Black"/>
                          <a:cs typeface="Arial Black"/>
                        </a:rPr>
                        <a:t> </a:t>
                      </a:r>
                      <a:r>
                        <a:rPr sz="1550" dirty="0">
                          <a:solidFill>
                            <a:srgbClr val="FFFFFF"/>
                          </a:solidFill>
                          <a:latin typeface="Arial Black"/>
                          <a:cs typeface="Arial Black"/>
                        </a:rPr>
                        <a:t>/</a:t>
                      </a:r>
                      <a:r>
                        <a:rPr sz="1550" spc="95" dirty="0">
                          <a:solidFill>
                            <a:srgbClr val="FFFFFF"/>
                          </a:solidFill>
                          <a:latin typeface="Arial Black"/>
                          <a:cs typeface="Arial Black"/>
                        </a:rPr>
                        <a:t> </a:t>
                      </a:r>
                      <a:r>
                        <a:rPr sz="1550" dirty="0">
                          <a:solidFill>
                            <a:srgbClr val="FFFFFF"/>
                          </a:solidFill>
                          <a:latin typeface="Arial Black"/>
                          <a:cs typeface="Arial Black"/>
                        </a:rPr>
                        <a:t>WORK</a:t>
                      </a:r>
                      <a:r>
                        <a:rPr sz="1550" spc="120" dirty="0">
                          <a:solidFill>
                            <a:srgbClr val="FFFFFF"/>
                          </a:solidFill>
                          <a:latin typeface="Arial Black"/>
                          <a:cs typeface="Arial Black"/>
                        </a:rPr>
                        <a:t> </a:t>
                      </a:r>
                      <a:r>
                        <a:rPr sz="1550" spc="-10" dirty="0">
                          <a:solidFill>
                            <a:srgbClr val="FFFFFF"/>
                          </a:solidFill>
                          <a:latin typeface="Arial Black"/>
                          <a:cs typeface="Arial Black"/>
                        </a:rPr>
                        <a:t>DESCRIPTION</a:t>
                      </a:r>
                      <a:endParaRPr sz="1550">
                        <a:latin typeface="Arial Black"/>
                        <a:cs typeface="Arial Black"/>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572C"/>
                    </a:solidFill>
                  </a:tcPr>
                </a:tc>
                <a:tc>
                  <a:txBody>
                    <a:bodyPr/>
                    <a:lstStyle/>
                    <a:p>
                      <a:pPr marL="97155">
                        <a:lnSpc>
                          <a:spcPct val="100000"/>
                        </a:lnSpc>
                        <a:spcBef>
                          <a:spcPts val="325"/>
                        </a:spcBef>
                      </a:pPr>
                      <a:r>
                        <a:rPr sz="1550" dirty="0">
                          <a:solidFill>
                            <a:srgbClr val="FFFFFF"/>
                          </a:solidFill>
                          <a:latin typeface="Arial Black"/>
                          <a:cs typeface="Arial Black"/>
                        </a:rPr>
                        <a:t>PROBLEM</a:t>
                      </a:r>
                      <a:r>
                        <a:rPr sz="1550" spc="225" dirty="0">
                          <a:solidFill>
                            <a:srgbClr val="FFFFFF"/>
                          </a:solidFill>
                          <a:latin typeface="Arial Black"/>
                          <a:cs typeface="Arial Black"/>
                        </a:rPr>
                        <a:t> </a:t>
                      </a:r>
                      <a:r>
                        <a:rPr sz="1550" spc="-20" dirty="0">
                          <a:solidFill>
                            <a:srgbClr val="FFFFFF"/>
                          </a:solidFill>
                          <a:latin typeface="Arial Black"/>
                          <a:cs typeface="Arial Black"/>
                        </a:rPr>
                        <a:t>FOUND</a:t>
                      </a:r>
                      <a:endParaRPr sz="1550" dirty="0">
                        <a:latin typeface="Arial Black"/>
                        <a:cs typeface="Arial Black"/>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572C"/>
                    </a:solidFill>
                  </a:tcPr>
                </a:tc>
                <a:tc rowSpan="4">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tcPr>
                </a:tc>
                <a:extLst>
                  <a:ext uri="{0D108BD9-81ED-4DB2-BD59-A6C34878D82A}">
                    <a16:rowId xmlns:a16="http://schemas.microsoft.com/office/drawing/2014/main" val="10000"/>
                  </a:ext>
                </a:extLst>
              </a:tr>
              <a:tr h="1343998">
                <a:tc>
                  <a:txBody>
                    <a:bodyPr/>
                    <a:lstStyle/>
                    <a:p>
                      <a:pPr marL="91440">
                        <a:lnSpc>
                          <a:spcPct val="100000"/>
                        </a:lnSpc>
                        <a:spcBef>
                          <a:spcPts val="409"/>
                        </a:spcBef>
                      </a:pPr>
                      <a:r>
                        <a:rPr sz="1550" spc="-25" dirty="0">
                          <a:latin typeface="Arial MT"/>
                          <a:cs typeface="Arial MT"/>
                        </a:rPr>
                        <a:t>1.</a:t>
                      </a:r>
                      <a:endParaRPr sz="1550">
                        <a:latin typeface="Arial MT"/>
                        <a:cs typeface="Arial MT"/>
                      </a:endParaRPr>
                    </a:p>
                  </a:txBody>
                  <a:tcPr marL="0" marR="0" marT="520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a:txBody>
                    <a:bodyPr/>
                    <a:lstStyle/>
                    <a:p>
                      <a:pPr marL="92710" marR="85090" algn="ctr">
                        <a:lnSpc>
                          <a:spcPct val="103400"/>
                        </a:lnSpc>
                        <a:spcBef>
                          <a:spcPts val="270"/>
                        </a:spcBef>
                      </a:pPr>
                      <a:r>
                        <a:rPr sz="1600" dirty="0">
                          <a:latin typeface="Calibri"/>
                          <a:cs typeface="Calibri"/>
                        </a:rPr>
                        <a:t>Jorge</a:t>
                      </a:r>
                      <a:r>
                        <a:rPr sz="1600" spc="114" dirty="0">
                          <a:latin typeface="Calibri"/>
                          <a:cs typeface="Calibri"/>
                        </a:rPr>
                        <a:t> </a:t>
                      </a:r>
                      <a:r>
                        <a:rPr sz="1600" dirty="0">
                          <a:latin typeface="Calibri"/>
                          <a:cs typeface="Calibri"/>
                        </a:rPr>
                        <a:t>A.</a:t>
                      </a:r>
                      <a:r>
                        <a:rPr sz="1600" spc="50" dirty="0">
                          <a:latin typeface="Calibri"/>
                          <a:cs typeface="Calibri"/>
                        </a:rPr>
                        <a:t> </a:t>
                      </a:r>
                      <a:r>
                        <a:rPr sz="1600" dirty="0">
                          <a:latin typeface="Calibri"/>
                          <a:cs typeface="Calibri"/>
                        </a:rPr>
                        <a:t>Ruiz-Vanoye</a:t>
                      </a:r>
                      <a:r>
                        <a:rPr sz="1600" spc="80" dirty="0">
                          <a:latin typeface="Calibri"/>
                          <a:cs typeface="Calibri"/>
                        </a:rPr>
                        <a:t> </a:t>
                      </a:r>
                      <a:r>
                        <a:rPr sz="1600" dirty="0">
                          <a:latin typeface="Calibri"/>
                          <a:cs typeface="Calibri"/>
                        </a:rPr>
                        <a:t>et</a:t>
                      </a:r>
                      <a:r>
                        <a:rPr sz="1600" spc="70" dirty="0">
                          <a:latin typeface="Calibri"/>
                          <a:cs typeface="Calibri"/>
                        </a:rPr>
                        <a:t> </a:t>
                      </a:r>
                      <a:r>
                        <a:rPr sz="1600" dirty="0">
                          <a:latin typeface="Calibri"/>
                          <a:cs typeface="Calibri"/>
                        </a:rPr>
                        <a:t>al.</a:t>
                      </a:r>
                      <a:r>
                        <a:rPr sz="1600" spc="50" dirty="0">
                          <a:latin typeface="Calibri"/>
                          <a:cs typeface="Calibri"/>
                        </a:rPr>
                        <a:t> </a:t>
                      </a:r>
                      <a:r>
                        <a:rPr sz="1600" b="1" spc="-10" dirty="0">
                          <a:latin typeface="Calibri"/>
                          <a:cs typeface="Calibri"/>
                        </a:rPr>
                        <a:t>(2025), </a:t>
                      </a:r>
                      <a:r>
                        <a:rPr sz="1600" b="1" i="1" dirty="0">
                          <a:latin typeface="Calibri"/>
                          <a:cs typeface="Calibri"/>
                        </a:rPr>
                        <a:t>Artificial</a:t>
                      </a:r>
                      <a:r>
                        <a:rPr sz="1600" b="1" i="1" spc="40" dirty="0">
                          <a:latin typeface="Calibri"/>
                          <a:cs typeface="Calibri"/>
                        </a:rPr>
                        <a:t> </a:t>
                      </a:r>
                      <a:r>
                        <a:rPr sz="1600" b="1" i="1" dirty="0">
                          <a:latin typeface="Calibri"/>
                          <a:cs typeface="Calibri"/>
                        </a:rPr>
                        <a:t>Intelligence</a:t>
                      </a:r>
                      <a:r>
                        <a:rPr sz="1600" b="1" i="1" spc="114" dirty="0">
                          <a:latin typeface="Calibri"/>
                          <a:cs typeface="Calibri"/>
                        </a:rPr>
                        <a:t> </a:t>
                      </a:r>
                      <a:r>
                        <a:rPr sz="1600" b="1" i="1" dirty="0">
                          <a:latin typeface="Calibri"/>
                          <a:cs typeface="Calibri"/>
                        </a:rPr>
                        <a:t>and</a:t>
                      </a:r>
                      <a:r>
                        <a:rPr sz="1600" b="1" i="1" spc="140" dirty="0">
                          <a:latin typeface="Calibri"/>
                          <a:cs typeface="Calibri"/>
                        </a:rPr>
                        <a:t> </a:t>
                      </a:r>
                      <a:r>
                        <a:rPr sz="1600" b="1" i="1" spc="-20" dirty="0">
                          <a:latin typeface="Calibri"/>
                          <a:cs typeface="Calibri"/>
                        </a:rPr>
                        <a:t>Human </a:t>
                      </a:r>
                      <a:r>
                        <a:rPr sz="1600" b="1" i="1" dirty="0">
                          <a:latin typeface="Calibri"/>
                          <a:cs typeface="Calibri"/>
                        </a:rPr>
                        <a:t>Well-Being:</a:t>
                      </a:r>
                      <a:r>
                        <a:rPr sz="1600" b="1" i="1" spc="55" dirty="0">
                          <a:latin typeface="Calibri"/>
                          <a:cs typeface="Calibri"/>
                        </a:rPr>
                        <a:t> </a:t>
                      </a:r>
                      <a:r>
                        <a:rPr sz="1600" b="1" i="1" dirty="0">
                          <a:latin typeface="Calibri"/>
                          <a:cs typeface="Calibri"/>
                        </a:rPr>
                        <a:t>A</a:t>
                      </a:r>
                      <a:r>
                        <a:rPr sz="1600" b="1" i="1" spc="90" dirty="0">
                          <a:latin typeface="Calibri"/>
                          <a:cs typeface="Calibri"/>
                        </a:rPr>
                        <a:t> </a:t>
                      </a:r>
                      <a:r>
                        <a:rPr sz="1600" b="1" i="1" dirty="0">
                          <a:latin typeface="Calibri"/>
                          <a:cs typeface="Calibri"/>
                        </a:rPr>
                        <a:t>Review</a:t>
                      </a:r>
                      <a:r>
                        <a:rPr sz="1600" b="1" i="1" spc="110" dirty="0">
                          <a:latin typeface="Calibri"/>
                          <a:cs typeface="Calibri"/>
                        </a:rPr>
                        <a:t> </a:t>
                      </a:r>
                      <a:r>
                        <a:rPr sz="1600" b="1" i="1" spc="-25" dirty="0">
                          <a:latin typeface="Calibri"/>
                          <a:cs typeface="Calibri"/>
                        </a:rPr>
                        <a:t>of </a:t>
                      </a:r>
                      <a:r>
                        <a:rPr sz="1600" b="1" i="1" dirty="0">
                          <a:latin typeface="Calibri"/>
                          <a:cs typeface="Calibri"/>
                        </a:rPr>
                        <a:t>Applications</a:t>
                      </a:r>
                      <a:r>
                        <a:rPr sz="1600" b="1" i="1" spc="50" dirty="0">
                          <a:latin typeface="Calibri"/>
                          <a:cs typeface="Calibri"/>
                        </a:rPr>
                        <a:t> </a:t>
                      </a:r>
                      <a:r>
                        <a:rPr sz="1600" b="1" i="1" dirty="0">
                          <a:latin typeface="Calibri"/>
                          <a:cs typeface="Calibri"/>
                        </a:rPr>
                        <a:t>and</a:t>
                      </a:r>
                      <a:r>
                        <a:rPr sz="1600" b="1" i="1" spc="80" dirty="0">
                          <a:latin typeface="Calibri"/>
                          <a:cs typeface="Calibri"/>
                        </a:rPr>
                        <a:t> </a:t>
                      </a:r>
                      <a:r>
                        <a:rPr sz="1600" b="1" i="1" dirty="0">
                          <a:latin typeface="Calibri"/>
                          <a:cs typeface="Calibri"/>
                        </a:rPr>
                        <a:t>Effects</a:t>
                      </a:r>
                      <a:r>
                        <a:rPr sz="1600" b="1" i="1" spc="135" dirty="0">
                          <a:latin typeface="Calibri"/>
                          <a:cs typeface="Calibri"/>
                        </a:rPr>
                        <a:t> </a:t>
                      </a:r>
                      <a:r>
                        <a:rPr sz="1600" b="1" i="1" dirty="0">
                          <a:latin typeface="Calibri"/>
                          <a:cs typeface="Calibri"/>
                        </a:rPr>
                        <a:t>on </a:t>
                      </a:r>
                      <a:r>
                        <a:rPr sz="1600" b="1" i="1" spc="-20" dirty="0">
                          <a:latin typeface="Calibri"/>
                          <a:cs typeface="Calibri"/>
                        </a:rPr>
                        <a:t>Life</a:t>
                      </a:r>
                      <a:r>
                        <a:rPr lang="en-US" sz="1600" i="1" spc="-20" dirty="0">
                          <a:latin typeface="Calibri"/>
                          <a:cs typeface="Calibri"/>
                        </a:rPr>
                        <a:t>.</a:t>
                      </a:r>
                      <a:endParaRPr sz="1600" i="1" dirty="0">
                        <a:latin typeface="Calibri"/>
                        <a:cs typeface="Calibri"/>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a:txBody>
                    <a:bodyPr/>
                    <a:lstStyle/>
                    <a:p>
                      <a:pPr marL="221615" marR="212725" indent="-3810" algn="ctr">
                        <a:lnSpc>
                          <a:spcPct val="103000"/>
                        </a:lnSpc>
                        <a:spcBef>
                          <a:spcPts val="275"/>
                        </a:spcBef>
                      </a:pPr>
                      <a:r>
                        <a:rPr sz="1600" dirty="0">
                          <a:latin typeface="Calibri"/>
                          <a:cs typeface="Calibri"/>
                        </a:rPr>
                        <a:t>Reviews</a:t>
                      </a:r>
                      <a:r>
                        <a:rPr sz="1600" spc="65" dirty="0">
                          <a:latin typeface="Calibri"/>
                          <a:cs typeface="Calibri"/>
                        </a:rPr>
                        <a:t> </a:t>
                      </a:r>
                      <a:r>
                        <a:rPr sz="1600" dirty="0">
                          <a:latin typeface="Calibri"/>
                          <a:cs typeface="Calibri"/>
                        </a:rPr>
                        <a:t>how</a:t>
                      </a:r>
                      <a:r>
                        <a:rPr sz="1600" spc="85" dirty="0">
                          <a:latin typeface="Calibri"/>
                          <a:cs typeface="Calibri"/>
                        </a:rPr>
                        <a:t> </a:t>
                      </a:r>
                      <a:r>
                        <a:rPr sz="1600" dirty="0">
                          <a:latin typeface="Calibri"/>
                          <a:cs typeface="Calibri"/>
                        </a:rPr>
                        <a:t>AI</a:t>
                      </a:r>
                      <a:r>
                        <a:rPr sz="1600" spc="70" dirty="0">
                          <a:latin typeface="Calibri"/>
                          <a:cs typeface="Calibri"/>
                        </a:rPr>
                        <a:t> </a:t>
                      </a:r>
                      <a:r>
                        <a:rPr sz="1600" dirty="0">
                          <a:latin typeface="Calibri"/>
                          <a:cs typeface="Calibri"/>
                        </a:rPr>
                        <a:t>influences</a:t>
                      </a:r>
                      <a:r>
                        <a:rPr sz="1600" spc="70" dirty="0">
                          <a:latin typeface="Calibri"/>
                          <a:cs typeface="Calibri"/>
                        </a:rPr>
                        <a:t> </a:t>
                      </a:r>
                      <a:r>
                        <a:rPr sz="1600" dirty="0">
                          <a:latin typeface="Calibri"/>
                          <a:cs typeface="Calibri"/>
                        </a:rPr>
                        <a:t>life</a:t>
                      </a:r>
                      <a:r>
                        <a:rPr sz="1600" spc="45" dirty="0">
                          <a:latin typeface="Calibri"/>
                          <a:cs typeface="Calibri"/>
                        </a:rPr>
                        <a:t> </a:t>
                      </a:r>
                      <a:r>
                        <a:rPr sz="1600" spc="-10" dirty="0">
                          <a:latin typeface="Calibri"/>
                          <a:cs typeface="Calibri"/>
                        </a:rPr>
                        <a:t>satisfaction </a:t>
                      </a:r>
                      <a:r>
                        <a:rPr sz="1600" dirty="0">
                          <a:latin typeface="Calibri"/>
                          <a:cs typeface="Calibri"/>
                        </a:rPr>
                        <a:t>through</a:t>
                      </a:r>
                      <a:r>
                        <a:rPr sz="1600" spc="130" dirty="0">
                          <a:latin typeface="Calibri"/>
                          <a:cs typeface="Calibri"/>
                        </a:rPr>
                        <a:t> </a:t>
                      </a:r>
                      <a:r>
                        <a:rPr sz="1600" dirty="0">
                          <a:latin typeface="Calibri"/>
                          <a:cs typeface="Calibri"/>
                        </a:rPr>
                        <a:t>synthetic</a:t>
                      </a:r>
                      <a:r>
                        <a:rPr sz="1600" spc="150" dirty="0">
                          <a:latin typeface="Calibri"/>
                          <a:cs typeface="Calibri"/>
                        </a:rPr>
                        <a:t> </a:t>
                      </a:r>
                      <a:r>
                        <a:rPr sz="1600" dirty="0">
                          <a:latin typeface="Calibri"/>
                          <a:cs typeface="Calibri"/>
                        </a:rPr>
                        <a:t>happiness,</a:t>
                      </a:r>
                      <a:r>
                        <a:rPr sz="1600" spc="105" dirty="0">
                          <a:latin typeface="Calibri"/>
                          <a:cs typeface="Calibri"/>
                        </a:rPr>
                        <a:t> </a:t>
                      </a:r>
                      <a:r>
                        <a:rPr sz="1600" dirty="0">
                          <a:latin typeface="Calibri"/>
                          <a:cs typeface="Calibri"/>
                        </a:rPr>
                        <a:t>covering</a:t>
                      </a:r>
                      <a:r>
                        <a:rPr sz="1600" spc="140" dirty="0">
                          <a:latin typeface="Calibri"/>
                          <a:cs typeface="Calibri"/>
                        </a:rPr>
                        <a:t> </a:t>
                      </a:r>
                      <a:r>
                        <a:rPr sz="1600" spc="-10" dirty="0">
                          <a:latin typeface="Calibri"/>
                          <a:cs typeface="Calibri"/>
                        </a:rPr>
                        <a:t>health, </a:t>
                      </a:r>
                      <a:r>
                        <a:rPr sz="1600" dirty="0">
                          <a:latin typeface="Calibri"/>
                          <a:cs typeface="Calibri"/>
                        </a:rPr>
                        <a:t>education,</a:t>
                      </a:r>
                      <a:r>
                        <a:rPr sz="1600" spc="85" dirty="0">
                          <a:latin typeface="Calibri"/>
                          <a:cs typeface="Calibri"/>
                        </a:rPr>
                        <a:t> </a:t>
                      </a:r>
                      <a:r>
                        <a:rPr sz="1600" dirty="0">
                          <a:latin typeface="Calibri"/>
                          <a:cs typeface="Calibri"/>
                        </a:rPr>
                        <a:t>and</a:t>
                      </a:r>
                      <a:r>
                        <a:rPr sz="1600" spc="105" dirty="0">
                          <a:latin typeface="Calibri"/>
                          <a:cs typeface="Calibri"/>
                        </a:rPr>
                        <a:t> </a:t>
                      </a:r>
                      <a:r>
                        <a:rPr sz="1600" dirty="0">
                          <a:latin typeface="Calibri"/>
                          <a:cs typeface="Calibri"/>
                        </a:rPr>
                        <a:t>social</a:t>
                      </a:r>
                      <a:r>
                        <a:rPr sz="1600" spc="130" dirty="0">
                          <a:latin typeface="Calibri"/>
                          <a:cs typeface="Calibri"/>
                        </a:rPr>
                        <a:t> </a:t>
                      </a:r>
                      <a:r>
                        <a:rPr sz="1600" spc="-10" dirty="0">
                          <a:latin typeface="Calibri"/>
                          <a:cs typeface="Calibri"/>
                        </a:rPr>
                        <a:t>applications.</a:t>
                      </a:r>
                      <a:endParaRPr sz="1600" dirty="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a:txBody>
                    <a:bodyPr/>
                    <a:lstStyle/>
                    <a:p>
                      <a:pPr marL="252095" marR="236220" indent="55880">
                        <a:lnSpc>
                          <a:spcPct val="105000"/>
                        </a:lnSpc>
                        <a:spcBef>
                          <a:spcPts val="240"/>
                        </a:spcBef>
                      </a:pPr>
                      <a:r>
                        <a:rPr sz="1600" dirty="0">
                          <a:latin typeface="Calibri"/>
                          <a:cs typeface="Calibri"/>
                        </a:rPr>
                        <a:t>Lack</a:t>
                      </a:r>
                      <a:r>
                        <a:rPr sz="1600" spc="140" dirty="0">
                          <a:latin typeface="Calibri"/>
                          <a:cs typeface="Calibri"/>
                        </a:rPr>
                        <a:t> </a:t>
                      </a:r>
                      <a:r>
                        <a:rPr sz="1600" dirty="0">
                          <a:latin typeface="Calibri"/>
                          <a:cs typeface="Calibri"/>
                        </a:rPr>
                        <a:t>of</a:t>
                      </a:r>
                      <a:r>
                        <a:rPr sz="1600" spc="70" dirty="0">
                          <a:latin typeface="Calibri"/>
                          <a:cs typeface="Calibri"/>
                        </a:rPr>
                        <a:t> </a:t>
                      </a:r>
                      <a:r>
                        <a:rPr sz="1600" dirty="0">
                          <a:latin typeface="Calibri"/>
                          <a:cs typeface="Calibri"/>
                        </a:rPr>
                        <a:t>empirical</a:t>
                      </a:r>
                      <a:r>
                        <a:rPr sz="1600" spc="125" dirty="0">
                          <a:latin typeface="Calibri"/>
                          <a:cs typeface="Calibri"/>
                        </a:rPr>
                        <a:t> </a:t>
                      </a:r>
                      <a:r>
                        <a:rPr sz="1600" dirty="0">
                          <a:latin typeface="Calibri"/>
                          <a:cs typeface="Calibri"/>
                        </a:rPr>
                        <a:t>evidence</a:t>
                      </a:r>
                      <a:r>
                        <a:rPr sz="1600" spc="165" dirty="0">
                          <a:latin typeface="Calibri"/>
                          <a:cs typeface="Calibri"/>
                        </a:rPr>
                        <a:t> </a:t>
                      </a:r>
                      <a:r>
                        <a:rPr sz="1600" dirty="0">
                          <a:latin typeface="Calibri"/>
                          <a:cs typeface="Calibri"/>
                        </a:rPr>
                        <a:t>on</a:t>
                      </a:r>
                      <a:r>
                        <a:rPr sz="1600" spc="100" dirty="0">
                          <a:latin typeface="Calibri"/>
                          <a:cs typeface="Calibri"/>
                        </a:rPr>
                        <a:t> </a:t>
                      </a:r>
                      <a:r>
                        <a:rPr sz="1600" dirty="0">
                          <a:latin typeface="Calibri"/>
                          <a:cs typeface="Calibri"/>
                        </a:rPr>
                        <a:t>long-</a:t>
                      </a:r>
                      <a:r>
                        <a:rPr sz="1600" spc="-20" dirty="0">
                          <a:latin typeface="Calibri"/>
                          <a:cs typeface="Calibri"/>
                        </a:rPr>
                        <a:t>term </a:t>
                      </a:r>
                      <a:r>
                        <a:rPr sz="1600" dirty="0">
                          <a:latin typeface="Calibri"/>
                          <a:cs typeface="Calibri"/>
                        </a:rPr>
                        <a:t>effects</a:t>
                      </a:r>
                      <a:r>
                        <a:rPr sz="1600" spc="80" dirty="0">
                          <a:latin typeface="Calibri"/>
                          <a:cs typeface="Calibri"/>
                        </a:rPr>
                        <a:t> </a:t>
                      </a:r>
                      <a:r>
                        <a:rPr sz="1600" dirty="0">
                          <a:latin typeface="Calibri"/>
                          <a:cs typeface="Calibri"/>
                        </a:rPr>
                        <a:t>of</a:t>
                      </a:r>
                      <a:r>
                        <a:rPr sz="1600" spc="60" dirty="0">
                          <a:latin typeface="Calibri"/>
                          <a:cs typeface="Calibri"/>
                        </a:rPr>
                        <a:t> </a:t>
                      </a:r>
                      <a:r>
                        <a:rPr sz="1600" dirty="0">
                          <a:latin typeface="Calibri"/>
                          <a:cs typeface="Calibri"/>
                        </a:rPr>
                        <a:t>synthetic</a:t>
                      </a:r>
                      <a:r>
                        <a:rPr sz="1600" spc="110" dirty="0">
                          <a:latin typeface="Calibri"/>
                          <a:cs typeface="Calibri"/>
                        </a:rPr>
                        <a:t> </a:t>
                      </a:r>
                      <a:r>
                        <a:rPr sz="1600" dirty="0">
                          <a:latin typeface="Calibri"/>
                          <a:cs typeface="Calibri"/>
                        </a:rPr>
                        <a:t>happiness</a:t>
                      </a:r>
                      <a:r>
                        <a:rPr sz="1600" spc="175" dirty="0">
                          <a:latin typeface="Calibri"/>
                          <a:cs typeface="Calibri"/>
                        </a:rPr>
                        <a:t> </a:t>
                      </a:r>
                      <a:r>
                        <a:rPr sz="1600" dirty="0">
                          <a:latin typeface="Calibri"/>
                          <a:cs typeface="Calibri"/>
                        </a:rPr>
                        <a:t>through</a:t>
                      </a:r>
                      <a:r>
                        <a:rPr sz="1600" spc="90" dirty="0">
                          <a:latin typeface="Calibri"/>
                          <a:cs typeface="Calibri"/>
                        </a:rPr>
                        <a:t> </a:t>
                      </a:r>
                      <a:r>
                        <a:rPr sz="1600" spc="-25" dirty="0">
                          <a:latin typeface="Calibri"/>
                          <a:cs typeface="Calibri"/>
                        </a:rPr>
                        <a:t>AI.</a:t>
                      </a:r>
                      <a:endParaRPr sz="16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vMerge="1">
                  <a:txBody>
                    <a:bodyPr/>
                    <a:lstStyle/>
                    <a:p>
                      <a:endParaRPr/>
                    </a:p>
                  </a:txBody>
                  <a:tcPr marL="0" marR="0" marT="0" marB="0">
                    <a:lnL w="12700">
                      <a:solidFill>
                        <a:srgbClr val="000000"/>
                      </a:solidFill>
                      <a:prstDash val="solid"/>
                    </a:lnL>
                    <a:lnB w="76200">
                      <a:solidFill>
                        <a:srgbClr val="E38312"/>
                      </a:solidFill>
                      <a:prstDash val="solid"/>
                    </a:lnB>
                  </a:tcPr>
                </a:tc>
                <a:extLst>
                  <a:ext uri="{0D108BD9-81ED-4DB2-BD59-A6C34878D82A}">
                    <a16:rowId xmlns:a16="http://schemas.microsoft.com/office/drawing/2014/main" val="10001"/>
                  </a:ext>
                </a:extLst>
              </a:tr>
              <a:tr h="1675108">
                <a:tc>
                  <a:txBody>
                    <a:bodyPr/>
                    <a:lstStyle/>
                    <a:p>
                      <a:pPr marL="91440">
                        <a:lnSpc>
                          <a:spcPct val="100000"/>
                        </a:lnSpc>
                        <a:spcBef>
                          <a:spcPts val="425"/>
                        </a:spcBef>
                      </a:pPr>
                      <a:r>
                        <a:rPr sz="1600" spc="-25" dirty="0">
                          <a:latin typeface="Arial MT"/>
                          <a:cs typeface="Arial MT"/>
                        </a:rPr>
                        <a:t>2.</a:t>
                      </a:r>
                      <a:endParaRPr sz="1600">
                        <a:latin typeface="Arial MT"/>
                        <a:cs typeface="Arial MT"/>
                      </a:endParaRPr>
                    </a:p>
                  </a:txBody>
                  <a:tcPr marL="0" marR="0" marT="539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9ECE7"/>
                    </a:solidFill>
                  </a:tcPr>
                </a:tc>
                <a:tc>
                  <a:txBody>
                    <a:bodyPr/>
                    <a:lstStyle/>
                    <a:p>
                      <a:pPr marL="92075" marR="177165">
                        <a:lnSpc>
                          <a:spcPct val="103000"/>
                        </a:lnSpc>
                        <a:spcBef>
                          <a:spcPts val="290"/>
                        </a:spcBef>
                      </a:pPr>
                      <a:r>
                        <a:rPr sz="1600" dirty="0">
                          <a:latin typeface="Calibri"/>
                          <a:cs typeface="Calibri"/>
                        </a:rPr>
                        <a:t>Anoushka</a:t>
                      </a:r>
                      <a:r>
                        <a:rPr sz="1600" spc="75" dirty="0">
                          <a:latin typeface="Calibri"/>
                          <a:cs typeface="Calibri"/>
                        </a:rPr>
                        <a:t> </a:t>
                      </a:r>
                      <a:r>
                        <a:rPr sz="1600" dirty="0">
                          <a:latin typeface="Calibri"/>
                          <a:cs typeface="Calibri"/>
                        </a:rPr>
                        <a:t>Thakkar,</a:t>
                      </a:r>
                      <a:r>
                        <a:rPr sz="1600" spc="60" dirty="0">
                          <a:latin typeface="Calibri"/>
                          <a:cs typeface="Calibri"/>
                        </a:rPr>
                        <a:t> </a:t>
                      </a:r>
                      <a:r>
                        <a:rPr sz="1600" dirty="0">
                          <a:latin typeface="Calibri"/>
                          <a:cs typeface="Calibri"/>
                        </a:rPr>
                        <a:t>Ankita</a:t>
                      </a:r>
                      <a:r>
                        <a:rPr sz="1600" spc="75" dirty="0">
                          <a:latin typeface="Calibri"/>
                          <a:cs typeface="Calibri"/>
                        </a:rPr>
                        <a:t> </a:t>
                      </a:r>
                      <a:r>
                        <a:rPr sz="1600" spc="-10" dirty="0">
                          <a:latin typeface="Calibri"/>
                          <a:cs typeface="Calibri"/>
                        </a:rPr>
                        <a:t>Gupta, </a:t>
                      </a:r>
                      <a:r>
                        <a:rPr sz="1600" dirty="0">
                          <a:latin typeface="Calibri"/>
                          <a:cs typeface="Calibri"/>
                        </a:rPr>
                        <a:t>Avinash</a:t>
                      </a:r>
                      <a:r>
                        <a:rPr sz="1600" spc="60" dirty="0">
                          <a:latin typeface="Calibri"/>
                          <a:cs typeface="Calibri"/>
                        </a:rPr>
                        <a:t> </a:t>
                      </a:r>
                      <a:r>
                        <a:rPr sz="1600" dirty="0">
                          <a:latin typeface="Calibri"/>
                          <a:cs typeface="Calibri"/>
                        </a:rPr>
                        <a:t>De</a:t>
                      </a:r>
                      <a:r>
                        <a:rPr sz="1600" spc="110" dirty="0">
                          <a:latin typeface="Calibri"/>
                          <a:cs typeface="Calibri"/>
                        </a:rPr>
                        <a:t> </a:t>
                      </a:r>
                      <a:r>
                        <a:rPr sz="1600" dirty="0">
                          <a:latin typeface="Calibri"/>
                          <a:cs typeface="Calibri"/>
                        </a:rPr>
                        <a:t>Sousa</a:t>
                      </a:r>
                      <a:r>
                        <a:rPr sz="1600" spc="55" dirty="0">
                          <a:latin typeface="Calibri"/>
                          <a:cs typeface="Calibri"/>
                        </a:rPr>
                        <a:t> </a:t>
                      </a:r>
                      <a:r>
                        <a:rPr sz="1600" b="1" spc="-10" dirty="0">
                          <a:latin typeface="Calibri"/>
                          <a:cs typeface="Calibri"/>
                        </a:rPr>
                        <a:t>(2024), </a:t>
                      </a:r>
                      <a:r>
                        <a:rPr sz="1600" b="1" i="1" dirty="0">
                          <a:latin typeface="Calibri"/>
                          <a:cs typeface="Calibri"/>
                        </a:rPr>
                        <a:t>Artificial</a:t>
                      </a:r>
                      <a:r>
                        <a:rPr sz="1600" b="1" i="1" spc="35" dirty="0">
                          <a:latin typeface="Calibri"/>
                          <a:cs typeface="Calibri"/>
                        </a:rPr>
                        <a:t> </a:t>
                      </a:r>
                      <a:r>
                        <a:rPr sz="1600" b="1" i="1" dirty="0">
                          <a:latin typeface="Calibri"/>
                          <a:cs typeface="Calibri"/>
                        </a:rPr>
                        <a:t>Intelligence</a:t>
                      </a:r>
                      <a:r>
                        <a:rPr sz="1600" b="1" i="1" spc="114" dirty="0">
                          <a:latin typeface="Calibri"/>
                          <a:cs typeface="Calibri"/>
                        </a:rPr>
                        <a:t> </a:t>
                      </a:r>
                      <a:r>
                        <a:rPr sz="1600" b="1" i="1" dirty="0">
                          <a:latin typeface="Calibri"/>
                          <a:cs typeface="Calibri"/>
                        </a:rPr>
                        <a:t>in</a:t>
                      </a:r>
                      <a:r>
                        <a:rPr sz="1600" b="1" i="1" spc="135" dirty="0">
                          <a:latin typeface="Calibri"/>
                          <a:cs typeface="Calibri"/>
                        </a:rPr>
                        <a:t> </a:t>
                      </a:r>
                      <a:r>
                        <a:rPr sz="1600" b="1" i="1" spc="-10" dirty="0">
                          <a:latin typeface="Calibri"/>
                          <a:cs typeface="Calibri"/>
                        </a:rPr>
                        <a:t>Positive </a:t>
                      </a:r>
                      <a:r>
                        <a:rPr sz="1600" b="1" i="1" dirty="0">
                          <a:latin typeface="Calibri"/>
                          <a:cs typeface="Calibri"/>
                        </a:rPr>
                        <a:t>Mental</a:t>
                      </a:r>
                      <a:r>
                        <a:rPr sz="1600" b="1" i="1" spc="75" dirty="0">
                          <a:latin typeface="Calibri"/>
                          <a:cs typeface="Calibri"/>
                        </a:rPr>
                        <a:t> </a:t>
                      </a:r>
                      <a:r>
                        <a:rPr sz="1600" b="1" i="1" dirty="0">
                          <a:latin typeface="Calibri"/>
                          <a:cs typeface="Calibri"/>
                        </a:rPr>
                        <a:t>Health:</a:t>
                      </a:r>
                      <a:r>
                        <a:rPr sz="1600" b="1" i="1" spc="85" dirty="0">
                          <a:latin typeface="Calibri"/>
                          <a:cs typeface="Calibri"/>
                        </a:rPr>
                        <a:t> </a:t>
                      </a:r>
                      <a:r>
                        <a:rPr sz="1600" b="1" i="1" dirty="0">
                          <a:latin typeface="Calibri"/>
                          <a:cs typeface="Calibri"/>
                        </a:rPr>
                        <a:t>A</a:t>
                      </a:r>
                      <a:r>
                        <a:rPr sz="1600" b="1" i="1" spc="50" dirty="0">
                          <a:latin typeface="Calibri"/>
                          <a:cs typeface="Calibri"/>
                        </a:rPr>
                        <a:t> </a:t>
                      </a:r>
                      <a:r>
                        <a:rPr sz="1600" b="1" i="1" spc="-10" dirty="0">
                          <a:latin typeface="Calibri"/>
                          <a:cs typeface="Calibri"/>
                        </a:rPr>
                        <a:t>Narrative Review</a:t>
                      </a:r>
                      <a:endParaRPr sz="1600" b="1" dirty="0">
                        <a:latin typeface="Calibri"/>
                        <a:cs typeface="Calibri"/>
                      </a:endParaRPr>
                    </a:p>
                  </a:txBody>
                  <a:tcPr marL="0" marR="0" marT="368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9ECE7"/>
                    </a:solidFill>
                  </a:tcPr>
                </a:tc>
                <a:tc>
                  <a:txBody>
                    <a:bodyPr/>
                    <a:lstStyle/>
                    <a:p>
                      <a:pPr marL="139065" marR="127635" algn="ctr">
                        <a:lnSpc>
                          <a:spcPct val="103699"/>
                        </a:lnSpc>
                        <a:spcBef>
                          <a:spcPts val="280"/>
                        </a:spcBef>
                      </a:pPr>
                      <a:r>
                        <a:rPr sz="1600" dirty="0">
                          <a:latin typeface="Calibri"/>
                          <a:cs typeface="Calibri"/>
                        </a:rPr>
                        <a:t>Explores</a:t>
                      </a:r>
                      <a:r>
                        <a:rPr sz="1600" spc="80" dirty="0">
                          <a:latin typeface="Calibri"/>
                          <a:cs typeface="Calibri"/>
                        </a:rPr>
                        <a:t> </a:t>
                      </a:r>
                      <a:r>
                        <a:rPr sz="1600" dirty="0">
                          <a:latin typeface="Calibri"/>
                          <a:cs typeface="Calibri"/>
                        </a:rPr>
                        <a:t>AI's</a:t>
                      </a:r>
                      <a:r>
                        <a:rPr sz="1600" spc="175" dirty="0">
                          <a:latin typeface="Calibri"/>
                          <a:cs typeface="Calibri"/>
                        </a:rPr>
                        <a:t> </a:t>
                      </a:r>
                      <a:r>
                        <a:rPr sz="1600" dirty="0">
                          <a:latin typeface="Calibri"/>
                          <a:cs typeface="Calibri"/>
                        </a:rPr>
                        <a:t>positive</a:t>
                      </a:r>
                      <a:r>
                        <a:rPr sz="1600" spc="60" dirty="0">
                          <a:latin typeface="Calibri"/>
                          <a:cs typeface="Calibri"/>
                        </a:rPr>
                        <a:t> </a:t>
                      </a:r>
                      <a:r>
                        <a:rPr sz="1600" dirty="0">
                          <a:latin typeface="Calibri"/>
                          <a:cs typeface="Calibri"/>
                        </a:rPr>
                        <a:t>role</a:t>
                      </a:r>
                      <a:r>
                        <a:rPr sz="1600" spc="55" dirty="0">
                          <a:latin typeface="Calibri"/>
                          <a:cs typeface="Calibri"/>
                        </a:rPr>
                        <a:t> </a:t>
                      </a:r>
                      <a:r>
                        <a:rPr sz="1600" dirty="0">
                          <a:latin typeface="Calibri"/>
                          <a:cs typeface="Calibri"/>
                        </a:rPr>
                        <a:t>in</a:t>
                      </a:r>
                      <a:r>
                        <a:rPr sz="1600" spc="95" dirty="0">
                          <a:latin typeface="Calibri"/>
                          <a:cs typeface="Calibri"/>
                        </a:rPr>
                        <a:t> </a:t>
                      </a:r>
                      <a:r>
                        <a:rPr sz="1600" dirty="0">
                          <a:latin typeface="Calibri"/>
                          <a:cs typeface="Calibri"/>
                        </a:rPr>
                        <a:t>mental</a:t>
                      </a:r>
                      <a:r>
                        <a:rPr sz="1600" spc="30" dirty="0">
                          <a:latin typeface="Calibri"/>
                          <a:cs typeface="Calibri"/>
                        </a:rPr>
                        <a:t> </a:t>
                      </a:r>
                      <a:r>
                        <a:rPr sz="1600" dirty="0">
                          <a:latin typeface="Calibri"/>
                          <a:cs typeface="Calibri"/>
                        </a:rPr>
                        <a:t>health</a:t>
                      </a:r>
                      <a:r>
                        <a:rPr sz="1600" spc="95" dirty="0">
                          <a:latin typeface="Calibri"/>
                          <a:cs typeface="Calibri"/>
                        </a:rPr>
                        <a:t> </a:t>
                      </a:r>
                      <a:r>
                        <a:rPr sz="1600" spc="-20" dirty="0">
                          <a:latin typeface="Calibri"/>
                          <a:cs typeface="Calibri"/>
                        </a:rPr>
                        <a:t>such </a:t>
                      </a:r>
                      <a:r>
                        <a:rPr sz="1600" dirty="0">
                          <a:latin typeface="Calibri"/>
                          <a:cs typeface="Calibri"/>
                        </a:rPr>
                        <a:t>as</a:t>
                      </a:r>
                      <a:r>
                        <a:rPr sz="1600" spc="120" dirty="0">
                          <a:latin typeface="Calibri"/>
                          <a:cs typeface="Calibri"/>
                        </a:rPr>
                        <a:t> </a:t>
                      </a:r>
                      <a:r>
                        <a:rPr sz="1600" dirty="0">
                          <a:latin typeface="Calibri"/>
                          <a:cs typeface="Calibri"/>
                        </a:rPr>
                        <a:t>diagnosis,</a:t>
                      </a:r>
                      <a:r>
                        <a:rPr sz="1600" spc="125" dirty="0">
                          <a:latin typeface="Calibri"/>
                          <a:cs typeface="Calibri"/>
                        </a:rPr>
                        <a:t> </a:t>
                      </a:r>
                      <a:r>
                        <a:rPr sz="1600" dirty="0">
                          <a:latin typeface="Calibri"/>
                          <a:cs typeface="Calibri"/>
                        </a:rPr>
                        <a:t>emotional</a:t>
                      </a:r>
                      <a:r>
                        <a:rPr sz="1600" spc="160" dirty="0">
                          <a:latin typeface="Calibri"/>
                          <a:cs typeface="Calibri"/>
                        </a:rPr>
                        <a:t> </a:t>
                      </a:r>
                      <a:r>
                        <a:rPr sz="1600" spc="-10" dirty="0">
                          <a:latin typeface="Calibri"/>
                          <a:cs typeface="Calibri"/>
                        </a:rPr>
                        <a:t>regulation, </a:t>
                      </a:r>
                      <a:r>
                        <a:rPr sz="1600" dirty="0">
                          <a:latin typeface="Calibri"/>
                          <a:cs typeface="Calibri"/>
                        </a:rPr>
                        <a:t>schizophrenia</a:t>
                      </a:r>
                      <a:r>
                        <a:rPr sz="1600" spc="114" dirty="0">
                          <a:latin typeface="Calibri"/>
                          <a:cs typeface="Calibri"/>
                        </a:rPr>
                        <a:t> </a:t>
                      </a:r>
                      <a:r>
                        <a:rPr sz="1600" dirty="0">
                          <a:latin typeface="Calibri"/>
                          <a:cs typeface="Calibri"/>
                        </a:rPr>
                        <a:t>and</a:t>
                      </a:r>
                      <a:r>
                        <a:rPr sz="1600" spc="125" dirty="0">
                          <a:latin typeface="Calibri"/>
                          <a:cs typeface="Calibri"/>
                        </a:rPr>
                        <a:t> </a:t>
                      </a:r>
                      <a:r>
                        <a:rPr sz="1600" spc="-10" dirty="0">
                          <a:latin typeface="Calibri"/>
                          <a:cs typeface="Calibri"/>
                        </a:rPr>
                        <a:t>neurodevelopmental disorders.</a:t>
                      </a:r>
                      <a:endParaRPr sz="1600" dirty="0">
                        <a:latin typeface="Calibri"/>
                        <a:cs typeface="Calibri"/>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9ECE7"/>
                    </a:solidFill>
                  </a:tcPr>
                </a:tc>
                <a:tc>
                  <a:txBody>
                    <a:bodyPr/>
                    <a:lstStyle/>
                    <a:p>
                      <a:pPr marL="97155">
                        <a:lnSpc>
                          <a:spcPct val="100000"/>
                        </a:lnSpc>
                        <a:spcBef>
                          <a:spcPts val="350"/>
                        </a:spcBef>
                      </a:pPr>
                      <a:r>
                        <a:rPr sz="1600" dirty="0">
                          <a:latin typeface="Calibri"/>
                          <a:cs typeface="Calibri"/>
                        </a:rPr>
                        <a:t>Existing</a:t>
                      </a:r>
                      <a:r>
                        <a:rPr sz="1600" spc="130" dirty="0">
                          <a:latin typeface="Calibri"/>
                          <a:cs typeface="Calibri"/>
                        </a:rPr>
                        <a:t> </a:t>
                      </a:r>
                      <a:r>
                        <a:rPr sz="1600" dirty="0">
                          <a:latin typeface="Calibri"/>
                          <a:cs typeface="Calibri"/>
                        </a:rPr>
                        <a:t>AI</a:t>
                      </a:r>
                      <a:r>
                        <a:rPr sz="1600" spc="100" dirty="0">
                          <a:latin typeface="Calibri"/>
                          <a:cs typeface="Calibri"/>
                        </a:rPr>
                        <a:t> </a:t>
                      </a:r>
                      <a:r>
                        <a:rPr sz="1600" dirty="0">
                          <a:latin typeface="Calibri"/>
                          <a:cs typeface="Calibri"/>
                        </a:rPr>
                        <a:t>models</a:t>
                      </a:r>
                      <a:r>
                        <a:rPr sz="1600" spc="100" dirty="0">
                          <a:latin typeface="Calibri"/>
                          <a:cs typeface="Calibri"/>
                        </a:rPr>
                        <a:t> </a:t>
                      </a:r>
                      <a:r>
                        <a:rPr sz="1600" dirty="0">
                          <a:latin typeface="Calibri"/>
                          <a:cs typeface="Calibri"/>
                        </a:rPr>
                        <a:t>lack</a:t>
                      </a:r>
                      <a:r>
                        <a:rPr sz="1600" spc="175" dirty="0">
                          <a:latin typeface="Calibri"/>
                          <a:cs typeface="Calibri"/>
                        </a:rPr>
                        <a:t> </a:t>
                      </a:r>
                      <a:r>
                        <a:rPr sz="1600" dirty="0">
                          <a:latin typeface="Calibri"/>
                          <a:cs typeface="Calibri"/>
                        </a:rPr>
                        <a:t>personalization</a:t>
                      </a:r>
                      <a:r>
                        <a:rPr sz="1600" spc="114" dirty="0">
                          <a:latin typeface="Calibri"/>
                          <a:cs typeface="Calibri"/>
                        </a:rPr>
                        <a:t> </a:t>
                      </a:r>
                      <a:r>
                        <a:rPr sz="1600" spc="-25" dirty="0">
                          <a:latin typeface="Calibri"/>
                          <a:cs typeface="Calibri"/>
                        </a:rPr>
                        <a:t>and</a:t>
                      </a:r>
                      <a:endParaRPr sz="1600" dirty="0">
                        <a:latin typeface="Calibri"/>
                        <a:cs typeface="Calibri"/>
                      </a:endParaRPr>
                    </a:p>
                    <a:p>
                      <a:pPr marL="97155">
                        <a:lnSpc>
                          <a:spcPct val="100000"/>
                        </a:lnSpc>
                        <a:spcBef>
                          <a:spcPts val="90"/>
                        </a:spcBef>
                      </a:pPr>
                      <a:r>
                        <a:rPr sz="1600" dirty="0">
                          <a:latin typeface="Calibri"/>
                          <a:cs typeface="Calibri"/>
                        </a:rPr>
                        <a:t>cultural</a:t>
                      </a:r>
                      <a:r>
                        <a:rPr sz="1600" spc="80" dirty="0">
                          <a:latin typeface="Calibri"/>
                          <a:cs typeface="Calibri"/>
                        </a:rPr>
                        <a:t> </a:t>
                      </a:r>
                      <a:r>
                        <a:rPr sz="1600" dirty="0">
                          <a:latin typeface="Calibri"/>
                          <a:cs typeface="Calibri"/>
                        </a:rPr>
                        <a:t>sensitivity;</a:t>
                      </a:r>
                      <a:r>
                        <a:rPr sz="1600" spc="105" dirty="0">
                          <a:latin typeface="Calibri"/>
                          <a:cs typeface="Calibri"/>
                        </a:rPr>
                        <a:t> </a:t>
                      </a:r>
                      <a:r>
                        <a:rPr sz="1600" dirty="0">
                          <a:latin typeface="Calibri"/>
                          <a:cs typeface="Calibri"/>
                        </a:rPr>
                        <a:t>ethical</a:t>
                      </a:r>
                      <a:r>
                        <a:rPr sz="1600" spc="180" dirty="0">
                          <a:latin typeface="Calibri"/>
                          <a:cs typeface="Calibri"/>
                        </a:rPr>
                        <a:t> </a:t>
                      </a:r>
                      <a:r>
                        <a:rPr sz="1600" dirty="0">
                          <a:latin typeface="Calibri"/>
                          <a:cs typeface="Calibri"/>
                        </a:rPr>
                        <a:t>concerns</a:t>
                      </a:r>
                      <a:r>
                        <a:rPr sz="1600" spc="250" dirty="0">
                          <a:latin typeface="Calibri"/>
                          <a:cs typeface="Calibri"/>
                        </a:rPr>
                        <a:t> </a:t>
                      </a:r>
                      <a:r>
                        <a:rPr sz="1600" spc="-10" dirty="0">
                          <a:latin typeface="Calibri"/>
                          <a:cs typeface="Calibri"/>
                        </a:rPr>
                        <a:t>raised.</a:t>
                      </a:r>
                      <a:endParaRPr sz="1600" dirty="0">
                        <a:latin typeface="Calibri"/>
                        <a:cs typeface="Calibri"/>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9ECE7"/>
                    </a:solidFill>
                  </a:tcPr>
                </a:tc>
                <a:tc vMerge="1">
                  <a:txBody>
                    <a:bodyPr/>
                    <a:lstStyle/>
                    <a:p>
                      <a:endParaRPr/>
                    </a:p>
                  </a:txBody>
                  <a:tcPr marL="0" marR="0" marT="0" marB="0">
                    <a:lnL w="12700">
                      <a:solidFill>
                        <a:srgbClr val="000000"/>
                      </a:solidFill>
                      <a:prstDash val="solid"/>
                    </a:lnL>
                    <a:lnB w="76200">
                      <a:solidFill>
                        <a:srgbClr val="E38312"/>
                      </a:solidFill>
                      <a:prstDash val="solid"/>
                    </a:lnB>
                  </a:tcPr>
                </a:tc>
                <a:extLst>
                  <a:ext uri="{0D108BD9-81ED-4DB2-BD59-A6C34878D82A}">
                    <a16:rowId xmlns:a16="http://schemas.microsoft.com/office/drawing/2014/main" val="10002"/>
                  </a:ext>
                </a:extLst>
              </a:tr>
              <a:tr h="1030738">
                <a:tc>
                  <a:txBody>
                    <a:bodyPr/>
                    <a:lstStyle/>
                    <a:p>
                      <a:pPr marL="91440">
                        <a:lnSpc>
                          <a:spcPct val="100000"/>
                        </a:lnSpc>
                        <a:spcBef>
                          <a:spcPts val="439"/>
                        </a:spcBef>
                      </a:pPr>
                      <a:r>
                        <a:rPr sz="1550" spc="-25" dirty="0">
                          <a:latin typeface="Arial MT"/>
                          <a:cs typeface="Arial MT"/>
                        </a:rPr>
                        <a:t>3.</a:t>
                      </a:r>
                      <a:endParaRPr sz="1550">
                        <a:latin typeface="Arial MT"/>
                        <a:cs typeface="Arial MT"/>
                      </a:endParaRPr>
                    </a:p>
                  </a:txBody>
                  <a:tcPr marL="0" marR="0" marT="558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a:txBody>
                    <a:bodyPr/>
                    <a:lstStyle/>
                    <a:p>
                      <a:pPr marL="109220" marR="106045" indent="8890" algn="ctr">
                        <a:lnSpc>
                          <a:spcPct val="103600"/>
                        </a:lnSpc>
                        <a:spcBef>
                          <a:spcPts val="295"/>
                        </a:spcBef>
                      </a:pPr>
                      <a:r>
                        <a:rPr sz="1600" dirty="0">
                          <a:latin typeface="Calibri"/>
                          <a:cs typeface="Calibri"/>
                        </a:rPr>
                        <a:t>Zandra</a:t>
                      </a:r>
                      <a:r>
                        <a:rPr sz="1600" spc="120" dirty="0">
                          <a:latin typeface="Calibri"/>
                          <a:cs typeface="Calibri"/>
                        </a:rPr>
                        <a:t> </a:t>
                      </a:r>
                      <a:r>
                        <a:rPr sz="1600" dirty="0">
                          <a:latin typeface="Calibri"/>
                          <a:cs typeface="Calibri"/>
                        </a:rPr>
                        <a:t>Bonnine</a:t>
                      </a:r>
                      <a:r>
                        <a:rPr sz="1600" spc="100" dirty="0">
                          <a:latin typeface="Calibri"/>
                          <a:cs typeface="Calibri"/>
                        </a:rPr>
                        <a:t> </a:t>
                      </a:r>
                      <a:r>
                        <a:rPr sz="1600" spc="-45" dirty="0">
                          <a:latin typeface="Calibri"/>
                          <a:cs typeface="Calibri"/>
                        </a:rPr>
                        <a:t>V.</a:t>
                      </a:r>
                      <a:r>
                        <a:rPr sz="1600" spc="60" dirty="0">
                          <a:latin typeface="Calibri"/>
                          <a:cs typeface="Calibri"/>
                        </a:rPr>
                        <a:t> </a:t>
                      </a:r>
                      <a:r>
                        <a:rPr sz="1600" dirty="0">
                          <a:latin typeface="Calibri"/>
                          <a:cs typeface="Calibri"/>
                        </a:rPr>
                        <a:t>Salcedo</a:t>
                      </a:r>
                      <a:r>
                        <a:rPr sz="1600" spc="70" dirty="0">
                          <a:latin typeface="Calibri"/>
                          <a:cs typeface="Calibri"/>
                        </a:rPr>
                        <a:t> </a:t>
                      </a:r>
                      <a:r>
                        <a:rPr sz="1600" dirty="0">
                          <a:latin typeface="Calibri"/>
                          <a:cs typeface="Calibri"/>
                        </a:rPr>
                        <a:t>et</a:t>
                      </a:r>
                      <a:r>
                        <a:rPr sz="1600" spc="80" dirty="0">
                          <a:latin typeface="Calibri"/>
                          <a:cs typeface="Calibri"/>
                        </a:rPr>
                        <a:t> </a:t>
                      </a:r>
                      <a:r>
                        <a:rPr sz="1600" spc="-25" dirty="0">
                          <a:latin typeface="Calibri"/>
                          <a:cs typeface="Calibri"/>
                        </a:rPr>
                        <a:t>al. </a:t>
                      </a:r>
                      <a:r>
                        <a:rPr sz="1600" b="1" dirty="0">
                          <a:latin typeface="Calibri"/>
                          <a:cs typeface="Calibri"/>
                        </a:rPr>
                        <a:t>(2024),</a:t>
                      </a:r>
                      <a:r>
                        <a:rPr sz="1600" b="1" spc="165" dirty="0">
                          <a:latin typeface="Calibri"/>
                          <a:cs typeface="Calibri"/>
                        </a:rPr>
                        <a:t> </a:t>
                      </a:r>
                      <a:r>
                        <a:rPr sz="1600" b="1" i="1" dirty="0">
                          <a:latin typeface="Calibri"/>
                          <a:cs typeface="Calibri"/>
                        </a:rPr>
                        <a:t>Artificial</a:t>
                      </a:r>
                      <a:r>
                        <a:rPr sz="1600" b="1" i="1" spc="55" dirty="0">
                          <a:latin typeface="Calibri"/>
                          <a:cs typeface="Calibri"/>
                        </a:rPr>
                        <a:t> </a:t>
                      </a:r>
                      <a:r>
                        <a:rPr sz="1600" b="1" i="1" dirty="0">
                          <a:latin typeface="Calibri"/>
                          <a:cs typeface="Calibri"/>
                        </a:rPr>
                        <a:t>Intelligence</a:t>
                      </a:r>
                      <a:r>
                        <a:rPr sz="1600" b="1" i="1" spc="130" dirty="0">
                          <a:latin typeface="Calibri"/>
                          <a:cs typeface="Calibri"/>
                        </a:rPr>
                        <a:t> </a:t>
                      </a:r>
                      <a:r>
                        <a:rPr sz="1600" b="1" i="1" spc="-25" dirty="0">
                          <a:latin typeface="Calibri"/>
                          <a:cs typeface="Calibri"/>
                        </a:rPr>
                        <a:t>and </a:t>
                      </a:r>
                      <a:r>
                        <a:rPr sz="1600" b="1" i="1" dirty="0">
                          <a:latin typeface="Calibri"/>
                          <a:cs typeface="Calibri"/>
                        </a:rPr>
                        <a:t>Mental</a:t>
                      </a:r>
                      <a:r>
                        <a:rPr sz="1600" b="1" i="1" spc="100" dirty="0">
                          <a:latin typeface="Calibri"/>
                          <a:cs typeface="Calibri"/>
                        </a:rPr>
                        <a:t> </a:t>
                      </a:r>
                      <a:r>
                        <a:rPr sz="1600" b="1" i="1" dirty="0">
                          <a:latin typeface="Calibri"/>
                          <a:cs typeface="Calibri"/>
                        </a:rPr>
                        <a:t>Health</a:t>
                      </a:r>
                      <a:r>
                        <a:rPr sz="1600" b="1" i="1" spc="100" dirty="0">
                          <a:latin typeface="Calibri"/>
                          <a:cs typeface="Calibri"/>
                        </a:rPr>
                        <a:t> </a:t>
                      </a:r>
                      <a:r>
                        <a:rPr sz="1600" b="1" i="1" dirty="0">
                          <a:latin typeface="Calibri"/>
                          <a:cs typeface="Calibri"/>
                        </a:rPr>
                        <a:t>Issues</a:t>
                      </a:r>
                      <a:endParaRPr sz="1600" b="1" i="1" spc="35" dirty="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a:txBody>
                    <a:bodyPr/>
                    <a:lstStyle/>
                    <a:p>
                      <a:pPr marL="338455" marR="314960" algn="ctr">
                        <a:lnSpc>
                          <a:spcPct val="103000"/>
                        </a:lnSpc>
                        <a:spcBef>
                          <a:spcPts val="305"/>
                        </a:spcBef>
                      </a:pPr>
                      <a:r>
                        <a:rPr sz="1600" dirty="0">
                          <a:latin typeface="Calibri"/>
                          <a:cs typeface="Calibri"/>
                        </a:rPr>
                        <a:t>Narratively</a:t>
                      </a:r>
                      <a:r>
                        <a:rPr sz="1600" spc="135" dirty="0">
                          <a:latin typeface="Calibri"/>
                          <a:cs typeface="Calibri"/>
                        </a:rPr>
                        <a:t> </a:t>
                      </a:r>
                      <a:r>
                        <a:rPr sz="1600" dirty="0">
                          <a:latin typeface="Calibri"/>
                          <a:cs typeface="Calibri"/>
                        </a:rPr>
                        <a:t>reviews</a:t>
                      </a:r>
                      <a:r>
                        <a:rPr sz="1600" spc="75" dirty="0">
                          <a:latin typeface="Calibri"/>
                          <a:cs typeface="Calibri"/>
                        </a:rPr>
                        <a:t> </a:t>
                      </a:r>
                      <a:r>
                        <a:rPr sz="1600" dirty="0">
                          <a:latin typeface="Calibri"/>
                          <a:cs typeface="Calibri"/>
                        </a:rPr>
                        <a:t>AI’s</a:t>
                      </a:r>
                      <a:r>
                        <a:rPr sz="1600" spc="80" dirty="0">
                          <a:latin typeface="Calibri"/>
                          <a:cs typeface="Calibri"/>
                        </a:rPr>
                        <a:t> </a:t>
                      </a:r>
                      <a:r>
                        <a:rPr sz="1600" dirty="0">
                          <a:latin typeface="Calibri"/>
                          <a:cs typeface="Calibri"/>
                        </a:rPr>
                        <a:t>support</a:t>
                      </a:r>
                      <a:r>
                        <a:rPr sz="1600" spc="95" dirty="0">
                          <a:latin typeface="Calibri"/>
                          <a:cs typeface="Calibri"/>
                        </a:rPr>
                        <a:t> </a:t>
                      </a:r>
                      <a:r>
                        <a:rPr sz="1600" dirty="0">
                          <a:latin typeface="Calibri"/>
                          <a:cs typeface="Calibri"/>
                        </a:rPr>
                        <a:t>for</a:t>
                      </a:r>
                      <a:r>
                        <a:rPr sz="1600" spc="60" dirty="0">
                          <a:latin typeface="Calibri"/>
                          <a:cs typeface="Calibri"/>
                        </a:rPr>
                        <a:t> </a:t>
                      </a:r>
                      <a:r>
                        <a:rPr sz="1600" spc="-10" dirty="0">
                          <a:latin typeface="Calibri"/>
                          <a:cs typeface="Calibri"/>
                        </a:rPr>
                        <a:t>mental </a:t>
                      </a:r>
                      <a:r>
                        <a:rPr sz="1600" dirty="0">
                          <a:latin typeface="Calibri"/>
                          <a:cs typeface="Calibri"/>
                        </a:rPr>
                        <a:t>health</a:t>
                      </a:r>
                      <a:r>
                        <a:rPr sz="1600" spc="145" dirty="0">
                          <a:latin typeface="Calibri"/>
                          <a:cs typeface="Calibri"/>
                        </a:rPr>
                        <a:t> </a:t>
                      </a:r>
                      <a:r>
                        <a:rPr sz="1600" dirty="0">
                          <a:latin typeface="Calibri"/>
                          <a:cs typeface="Calibri"/>
                        </a:rPr>
                        <a:t>treatments,</a:t>
                      </a:r>
                      <a:r>
                        <a:rPr sz="1600" spc="120" dirty="0">
                          <a:latin typeface="Calibri"/>
                          <a:cs typeface="Calibri"/>
                        </a:rPr>
                        <a:t> </a:t>
                      </a:r>
                      <a:r>
                        <a:rPr sz="1600" dirty="0">
                          <a:latin typeface="Calibri"/>
                          <a:cs typeface="Calibri"/>
                        </a:rPr>
                        <a:t>including</a:t>
                      </a:r>
                      <a:r>
                        <a:rPr sz="1600" spc="60" dirty="0">
                          <a:latin typeface="Calibri"/>
                          <a:cs typeface="Calibri"/>
                        </a:rPr>
                        <a:t> </a:t>
                      </a:r>
                      <a:r>
                        <a:rPr sz="1600" dirty="0">
                          <a:latin typeface="Calibri"/>
                          <a:cs typeface="Calibri"/>
                        </a:rPr>
                        <a:t>tools</a:t>
                      </a:r>
                      <a:r>
                        <a:rPr sz="1600" spc="125" dirty="0">
                          <a:latin typeface="Calibri"/>
                          <a:cs typeface="Calibri"/>
                        </a:rPr>
                        <a:t> </a:t>
                      </a:r>
                      <a:r>
                        <a:rPr sz="1600" dirty="0">
                          <a:latin typeface="Calibri"/>
                          <a:cs typeface="Calibri"/>
                        </a:rPr>
                        <a:t>used</a:t>
                      </a:r>
                      <a:r>
                        <a:rPr sz="1600" spc="150" dirty="0">
                          <a:latin typeface="Calibri"/>
                          <a:cs typeface="Calibri"/>
                        </a:rPr>
                        <a:t> </a:t>
                      </a:r>
                      <a:r>
                        <a:rPr sz="1600" spc="-25" dirty="0">
                          <a:latin typeface="Calibri"/>
                          <a:cs typeface="Calibri"/>
                        </a:rPr>
                        <a:t>in </a:t>
                      </a:r>
                      <a:r>
                        <a:rPr sz="1600" dirty="0">
                          <a:latin typeface="Calibri"/>
                          <a:cs typeface="Calibri"/>
                        </a:rPr>
                        <a:t>different</a:t>
                      </a:r>
                      <a:r>
                        <a:rPr sz="1600" spc="95" dirty="0">
                          <a:latin typeface="Calibri"/>
                          <a:cs typeface="Calibri"/>
                        </a:rPr>
                        <a:t> </a:t>
                      </a:r>
                      <a:r>
                        <a:rPr sz="1600" spc="-10" dirty="0">
                          <a:latin typeface="Calibri"/>
                          <a:cs typeface="Calibri"/>
                        </a:rPr>
                        <a:t>countries.</a:t>
                      </a:r>
                      <a:endParaRPr sz="16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a:txBody>
                    <a:bodyPr/>
                    <a:lstStyle/>
                    <a:p>
                      <a:pPr marL="182880" marR="162560" algn="ctr">
                        <a:lnSpc>
                          <a:spcPct val="103000"/>
                        </a:lnSpc>
                        <a:spcBef>
                          <a:spcPts val="305"/>
                        </a:spcBef>
                      </a:pPr>
                      <a:r>
                        <a:rPr sz="1600" dirty="0">
                          <a:latin typeface="Calibri"/>
                          <a:cs typeface="Calibri"/>
                        </a:rPr>
                        <a:t>AI-based</a:t>
                      </a:r>
                      <a:r>
                        <a:rPr sz="1600" spc="110" dirty="0">
                          <a:latin typeface="Calibri"/>
                          <a:cs typeface="Calibri"/>
                        </a:rPr>
                        <a:t> </a:t>
                      </a:r>
                      <a:r>
                        <a:rPr sz="1600" dirty="0">
                          <a:latin typeface="Calibri"/>
                          <a:cs typeface="Calibri"/>
                        </a:rPr>
                        <a:t>solutions</a:t>
                      </a:r>
                      <a:r>
                        <a:rPr sz="1600" spc="100" dirty="0">
                          <a:latin typeface="Calibri"/>
                          <a:cs typeface="Calibri"/>
                        </a:rPr>
                        <a:t> </a:t>
                      </a:r>
                      <a:r>
                        <a:rPr sz="1600" dirty="0">
                          <a:latin typeface="Calibri"/>
                          <a:cs typeface="Calibri"/>
                        </a:rPr>
                        <a:t>are</a:t>
                      </a:r>
                      <a:r>
                        <a:rPr sz="1600" spc="170" dirty="0">
                          <a:latin typeface="Calibri"/>
                          <a:cs typeface="Calibri"/>
                        </a:rPr>
                        <a:t> </a:t>
                      </a:r>
                      <a:r>
                        <a:rPr sz="1600" dirty="0">
                          <a:latin typeface="Calibri"/>
                          <a:cs typeface="Calibri"/>
                        </a:rPr>
                        <a:t>underutilized</a:t>
                      </a:r>
                      <a:r>
                        <a:rPr sz="1600" spc="110" dirty="0">
                          <a:latin typeface="Calibri"/>
                          <a:cs typeface="Calibri"/>
                        </a:rPr>
                        <a:t> </a:t>
                      </a:r>
                      <a:r>
                        <a:rPr sz="1600" dirty="0">
                          <a:latin typeface="Calibri"/>
                          <a:cs typeface="Calibri"/>
                        </a:rPr>
                        <a:t>due</a:t>
                      </a:r>
                      <a:r>
                        <a:rPr sz="1600" spc="170" dirty="0">
                          <a:latin typeface="Calibri"/>
                          <a:cs typeface="Calibri"/>
                        </a:rPr>
                        <a:t> </a:t>
                      </a:r>
                      <a:r>
                        <a:rPr sz="1600" spc="-25" dirty="0">
                          <a:latin typeface="Calibri"/>
                          <a:cs typeface="Calibri"/>
                        </a:rPr>
                        <a:t>to </a:t>
                      </a:r>
                      <a:r>
                        <a:rPr sz="1600" dirty="0">
                          <a:latin typeface="Calibri"/>
                          <a:cs typeface="Calibri"/>
                        </a:rPr>
                        <a:t>lack</a:t>
                      </a:r>
                      <a:r>
                        <a:rPr sz="1600" spc="165" dirty="0">
                          <a:latin typeface="Calibri"/>
                          <a:cs typeface="Calibri"/>
                        </a:rPr>
                        <a:t> </a:t>
                      </a:r>
                      <a:r>
                        <a:rPr sz="1600" dirty="0">
                          <a:latin typeface="Calibri"/>
                          <a:cs typeface="Calibri"/>
                        </a:rPr>
                        <a:t>of</a:t>
                      </a:r>
                      <a:r>
                        <a:rPr sz="1600" spc="75" dirty="0">
                          <a:latin typeface="Calibri"/>
                          <a:cs typeface="Calibri"/>
                        </a:rPr>
                        <a:t> </a:t>
                      </a:r>
                      <a:r>
                        <a:rPr sz="1600" dirty="0">
                          <a:latin typeface="Calibri"/>
                          <a:cs typeface="Calibri"/>
                        </a:rPr>
                        <a:t>technical</a:t>
                      </a:r>
                      <a:r>
                        <a:rPr sz="1600" spc="130" dirty="0">
                          <a:latin typeface="Calibri"/>
                          <a:cs typeface="Calibri"/>
                        </a:rPr>
                        <a:t> </a:t>
                      </a:r>
                      <a:r>
                        <a:rPr sz="1600" dirty="0">
                          <a:latin typeface="Calibri"/>
                          <a:cs typeface="Calibri"/>
                        </a:rPr>
                        <a:t>infrastructure</a:t>
                      </a:r>
                      <a:r>
                        <a:rPr sz="1600" spc="85" dirty="0">
                          <a:latin typeface="Calibri"/>
                          <a:cs typeface="Calibri"/>
                        </a:rPr>
                        <a:t> </a:t>
                      </a:r>
                      <a:r>
                        <a:rPr sz="1600" dirty="0">
                          <a:latin typeface="Calibri"/>
                          <a:cs typeface="Calibri"/>
                        </a:rPr>
                        <a:t>and</a:t>
                      </a:r>
                      <a:r>
                        <a:rPr sz="1600" spc="120" dirty="0">
                          <a:latin typeface="Calibri"/>
                          <a:cs typeface="Calibri"/>
                        </a:rPr>
                        <a:t> </a:t>
                      </a:r>
                      <a:r>
                        <a:rPr sz="1600" spc="-10" dirty="0">
                          <a:latin typeface="Calibri"/>
                          <a:cs typeface="Calibri"/>
                        </a:rPr>
                        <a:t>ethical standards.</a:t>
                      </a:r>
                      <a:endParaRPr sz="16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vMerge="1">
                  <a:txBody>
                    <a:bodyPr/>
                    <a:lstStyle/>
                    <a:p>
                      <a:endParaRPr/>
                    </a:p>
                  </a:txBody>
                  <a:tcPr marL="0" marR="0" marT="0" marB="0">
                    <a:lnL w="12700">
                      <a:solidFill>
                        <a:srgbClr val="000000"/>
                      </a:solidFill>
                      <a:prstDash val="solid"/>
                    </a:lnL>
                    <a:lnB w="76200">
                      <a:solidFill>
                        <a:srgbClr val="E38312"/>
                      </a:solidFill>
                      <a:prstDash val="solid"/>
                    </a:lnB>
                  </a:tcPr>
                </a:tc>
                <a:extLst>
                  <a:ext uri="{0D108BD9-81ED-4DB2-BD59-A6C34878D82A}">
                    <a16:rowId xmlns:a16="http://schemas.microsoft.com/office/drawing/2014/main" val="10003"/>
                  </a:ext>
                </a:extLst>
              </a:tr>
            </a:tbl>
          </a:graphicData>
        </a:graphic>
      </p:graphicFrame>
      <p:sp>
        <p:nvSpPr>
          <p:cNvPr id="3" name="object 3"/>
          <p:cNvSpPr/>
          <p:nvPr/>
        </p:nvSpPr>
        <p:spPr>
          <a:xfrm>
            <a:off x="4763" y="0"/>
            <a:ext cx="12187555" cy="1281430"/>
          </a:xfrm>
          <a:custGeom>
            <a:avLst/>
            <a:gdLst/>
            <a:ahLst/>
            <a:cxnLst/>
            <a:rect l="l" t="t" r="r" b="b"/>
            <a:pathLst>
              <a:path w="12187555" h="1281430">
                <a:moveTo>
                  <a:pt x="0" y="0"/>
                </a:moveTo>
                <a:lnTo>
                  <a:pt x="0" y="1281049"/>
                </a:lnTo>
                <a:lnTo>
                  <a:pt x="12187236" y="1281049"/>
                </a:lnTo>
                <a:lnTo>
                  <a:pt x="12187236" y="0"/>
                </a:lnTo>
                <a:lnTo>
                  <a:pt x="0" y="0"/>
                </a:lnTo>
                <a:close/>
              </a:path>
            </a:pathLst>
          </a:custGeom>
          <a:solidFill>
            <a:srgbClr val="E38312"/>
          </a:solidFill>
        </p:spPr>
        <p:txBody>
          <a:bodyPr wrap="square" lIns="0" tIns="0" rIns="0" bIns="0" rtlCol="0"/>
          <a:lstStyle/>
          <a:p>
            <a:endParaRPr/>
          </a:p>
        </p:txBody>
      </p:sp>
      <p:sp>
        <p:nvSpPr>
          <p:cNvPr id="4" name="object 4"/>
          <p:cNvSpPr txBox="1">
            <a:spLocks noGrp="1"/>
          </p:cNvSpPr>
          <p:nvPr>
            <p:ph type="title"/>
          </p:nvPr>
        </p:nvSpPr>
        <p:spPr>
          <a:xfrm>
            <a:off x="2421254" y="156844"/>
            <a:ext cx="7420609" cy="690574"/>
          </a:xfrm>
          <a:prstGeom prst="rect">
            <a:avLst/>
          </a:prstGeom>
        </p:spPr>
        <p:txBody>
          <a:bodyPr vert="horz" wrap="square" lIns="0" tIns="13335" rIns="0" bIns="0" rtlCol="0" anchor="t">
            <a:spAutoFit/>
          </a:bodyPr>
          <a:lstStyle/>
          <a:p>
            <a:pPr marL="12700">
              <a:lnSpc>
                <a:spcPct val="100000"/>
              </a:lnSpc>
              <a:spcBef>
                <a:spcPts val="105"/>
              </a:spcBef>
              <a:tabLst>
                <a:tab pos="4635500" algn="l"/>
              </a:tabLst>
            </a:pPr>
            <a:r>
              <a:rPr sz="4400" spc="-10" dirty="0"/>
              <a:t>LITERATURE</a:t>
            </a:r>
            <a:r>
              <a:rPr sz="4400" dirty="0"/>
              <a:t>	</a:t>
            </a:r>
            <a:r>
              <a:rPr sz="4400" spc="-50" dirty="0"/>
              <a:t>SURVEY</a:t>
            </a:r>
            <a:endParaRPr lang="en-US" sz="4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524542841"/>
              </p:ext>
            </p:extLst>
          </p:nvPr>
        </p:nvGraphicFramePr>
        <p:xfrm>
          <a:off x="34314" y="1281430"/>
          <a:ext cx="12310085" cy="5133594"/>
        </p:xfrm>
        <a:graphic>
          <a:graphicData uri="http://schemas.openxmlformats.org/drawingml/2006/table">
            <a:tbl>
              <a:tblPr firstRow="1" bandRow="1">
                <a:tableStyleId>{2D5ABB26-0587-4C30-8999-92F81FD0307C}</a:tableStyleId>
              </a:tblPr>
              <a:tblGrid>
                <a:gridCol w="951794">
                  <a:extLst>
                    <a:ext uri="{9D8B030D-6E8A-4147-A177-3AD203B41FA5}">
                      <a16:colId xmlns:a16="http://schemas.microsoft.com/office/drawing/2014/main" val="20000"/>
                    </a:ext>
                  </a:extLst>
                </a:gridCol>
                <a:gridCol w="3169715">
                  <a:extLst>
                    <a:ext uri="{9D8B030D-6E8A-4147-A177-3AD203B41FA5}">
                      <a16:colId xmlns:a16="http://schemas.microsoft.com/office/drawing/2014/main" val="20001"/>
                    </a:ext>
                  </a:extLst>
                </a:gridCol>
                <a:gridCol w="4115542">
                  <a:extLst>
                    <a:ext uri="{9D8B030D-6E8A-4147-A177-3AD203B41FA5}">
                      <a16:colId xmlns:a16="http://schemas.microsoft.com/office/drawing/2014/main" val="20002"/>
                    </a:ext>
                  </a:extLst>
                </a:gridCol>
                <a:gridCol w="3917750">
                  <a:extLst>
                    <a:ext uri="{9D8B030D-6E8A-4147-A177-3AD203B41FA5}">
                      <a16:colId xmlns:a16="http://schemas.microsoft.com/office/drawing/2014/main" val="20003"/>
                    </a:ext>
                  </a:extLst>
                </a:gridCol>
                <a:gridCol w="155284">
                  <a:extLst>
                    <a:ext uri="{9D8B030D-6E8A-4147-A177-3AD203B41FA5}">
                      <a16:colId xmlns:a16="http://schemas.microsoft.com/office/drawing/2014/main" val="20004"/>
                    </a:ext>
                  </a:extLst>
                </a:gridCol>
              </a:tblGrid>
              <a:tr h="434245">
                <a:tc>
                  <a:txBody>
                    <a:bodyPr/>
                    <a:lstStyle/>
                    <a:p>
                      <a:pPr marL="91440" marR="465455">
                        <a:lnSpc>
                          <a:spcPct val="105000"/>
                        </a:lnSpc>
                        <a:spcBef>
                          <a:spcPts val="229"/>
                        </a:spcBef>
                      </a:pPr>
                      <a:r>
                        <a:rPr sz="1550" spc="-25" dirty="0">
                          <a:solidFill>
                            <a:srgbClr val="FFFFFF"/>
                          </a:solidFill>
                          <a:latin typeface="Arial Black"/>
                          <a:cs typeface="Arial Black"/>
                        </a:rPr>
                        <a:t>SR. </a:t>
                      </a:r>
                      <a:r>
                        <a:rPr sz="1550" spc="35" dirty="0">
                          <a:solidFill>
                            <a:srgbClr val="FFFFFF"/>
                          </a:solidFill>
                          <a:latin typeface="Arial Black"/>
                          <a:cs typeface="Arial Black"/>
                        </a:rPr>
                        <a:t>NO</a:t>
                      </a:r>
                      <a:endParaRPr sz="1550" dirty="0">
                        <a:latin typeface="Arial Black"/>
                        <a:cs typeface="Arial Black"/>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572C"/>
                    </a:solidFill>
                  </a:tcPr>
                </a:tc>
                <a:tc>
                  <a:txBody>
                    <a:bodyPr/>
                    <a:lstStyle/>
                    <a:p>
                      <a:pPr marL="92075">
                        <a:lnSpc>
                          <a:spcPct val="100000"/>
                        </a:lnSpc>
                        <a:spcBef>
                          <a:spcPts val="325"/>
                        </a:spcBef>
                      </a:pPr>
                      <a:r>
                        <a:rPr sz="1550" dirty="0">
                          <a:solidFill>
                            <a:srgbClr val="FFFFFF"/>
                          </a:solidFill>
                          <a:latin typeface="Arial Black"/>
                          <a:cs typeface="Arial Black"/>
                        </a:rPr>
                        <a:t>REFERENCE</a:t>
                      </a:r>
                      <a:r>
                        <a:rPr sz="1550" spc="325" dirty="0">
                          <a:solidFill>
                            <a:srgbClr val="FFFFFF"/>
                          </a:solidFill>
                          <a:latin typeface="Arial Black"/>
                          <a:cs typeface="Arial Black"/>
                        </a:rPr>
                        <a:t> </a:t>
                      </a:r>
                      <a:r>
                        <a:rPr sz="1550" spc="-20" dirty="0">
                          <a:solidFill>
                            <a:srgbClr val="FFFFFF"/>
                          </a:solidFill>
                          <a:latin typeface="Arial Black"/>
                          <a:cs typeface="Arial Black"/>
                        </a:rPr>
                        <a:t>NAME</a:t>
                      </a:r>
                      <a:endParaRPr sz="1550">
                        <a:latin typeface="Arial Black"/>
                        <a:cs typeface="Arial Black"/>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572C"/>
                    </a:solidFill>
                  </a:tcPr>
                </a:tc>
                <a:tc>
                  <a:txBody>
                    <a:bodyPr/>
                    <a:lstStyle/>
                    <a:p>
                      <a:pPr marL="94615">
                        <a:lnSpc>
                          <a:spcPct val="100000"/>
                        </a:lnSpc>
                        <a:spcBef>
                          <a:spcPts val="325"/>
                        </a:spcBef>
                      </a:pPr>
                      <a:r>
                        <a:rPr sz="1550" dirty="0">
                          <a:solidFill>
                            <a:srgbClr val="FFFFFF"/>
                          </a:solidFill>
                          <a:latin typeface="Arial Black"/>
                          <a:cs typeface="Arial Black"/>
                        </a:rPr>
                        <a:t>SEED</a:t>
                      </a:r>
                      <a:r>
                        <a:rPr sz="1550" spc="135" dirty="0">
                          <a:solidFill>
                            <a:srgbClr val="FFFFFF"/>
                          </a:solidFill>
                          <a:latin typeface="Arial Black"/>
                          <a:cs typeface="Arial Black"/>
                        </a:rPr>
                        <a:t> </a:t>
                      </a:r>
                      <a:r>
                        <a:rPr sz="1550" dirty="0">
                          <a:solidFill>
                            <a:srgbClr val="FFFFFF"/>
                          </a:solidFill>
                          <a:latin typeface="Arial Black"/>
                          <a:cs typeface="Arial Black"/>
                        </a:rPr>
                        <a:t>IDEA</a:t>
                      </a:r>
                      <a:r>
                        <a:rPr sz="1550" spc="135" dirty="0">
                          <a:solidFill>
                            <a:srgbClr val="FFFFFF"/>
                          </a:solidFill>
                          <a:latin typeface="Arial Black"/>
                          <a:cs typeface="Arial Black"/>
                        </a:rPr>
                        <a:t> </a:t>
                      </a:r>
                      <a:r>
                        <a:rPr sz="1550" dirty="0">
                          <a:solidFill>
                            <a:srgbClr val="FFFFFF"/>
                          </a:solidFill>
                          <a:latin typeface="Arial Black"/>
                          <a:cs typeface="Arial Black"/>
                        </a:rPr>
                        <a:t>/</a:t>
                      </a:r>
                      <a:r>
                        <a:rPr sz="1550" spc="95" dirty="0">
                          <a:solidFill>
                            <a:srgbClr val="FFFFFF"/>
                          </a:solidFill>
                          <a:latin typeface="Arial Black"/>
                          <a:cs typeface="Arial Black"/>
                        </a:rPr>
                        <a:t> </a:t>
                      </a:r>
                      <a:r>
                        <a:rPr sz="1550" dirty="0">
                          <a:solidFill>
                            <a:srgbClr val="FFFFFF"/>
                          </a:solidFill>
                          <a:latin typeface="Arial Black"/>
                          <a:cs typeface="Arial Black"/>
                        </a:rPr>
                        <a:t>WORK</a:t>
                      </a:r>
                      <a:r>
                        <a:rPr sz="1550" spc="120" dirty="0">
                          <a:solidFill>
                            <a:srgbClr val="FFFFFF"/>
                          </a:solidFill>
                          <a:latin typeface="Arial Black"/>
                          <a:cs typeface="Arial Black"/>
                        </a:rPr>
                        <a:t> </a:t>
                      </a:r>
                      <a:r>
                        <a:rPr sz="1550" spc="-10" dirty="0">
                          <a:solidFill>
                            <a:srgbClr val="FFFFFF"/>
                          </a:solidFill>
                          <a:latin typeface="Arial Black"/>
                          <a:cs typeface="Arial Black"/>
                        </a:rPr>
                        <a:t>DESCRIPTION</a:t>
                      </a:r>
                      <a:endParaRPr sz="1550">
                        <a:latin typeface="Arial Black"/>
                        <a:cs typeface="Arial Black"/>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572C"/>
                    </a:solidFill>
                  </a:tcPr>
                </a:tc>
                <a:tc>
                  <a:txBody>
                    <a:bodyPr/>
                    <a:lstStyle/>
                    <a:p>
                      <a:pPr marL="97155">
                        <a:lnSpc>
                          <a:spcPct val="100000"/>
                        </a:lnSpc>
                        <a:spcBef>
                          <a:spcPts val="325"/>
                        </a:spcBef>
                      </a:pPr>
                      <a:r>
                        <a:rPr sz="1550" dirty="0">
                          <a:solidFill>
                            <a:srgbClr val="FFFFFF"/>
                          </a:solidFill>
                          <a:latin typeface="Arial Black"/>
                          <a:cs typeface="Arial Black"/>
                        </a:rPr>
                        <a:t>PROBLEM</a:t>
                      </a:r>
                      <a:r>
                        <a:rPr sz="1550" spc="225" dirty="0">
                          <a:solidFill>
                            <a:srgbClr val="FFFFFF"/>
                          </a:solidFill>
                          <a:latin typeface="Arial Black"/>
                          <a:cs typeface="Arial Black"/>
                        </a:rPr>
                        <a:t> </a:t>
                      </a:r>
                      <a:r>
                        <a:rPr sz="1550" spc="-20" dirty="0">
                          <a:solidFill>
                            <a:srgbClr val="FFFFFF"/>
                          </a:solidFill>
                          <a:latin typeface="Arial Black"/>
                          <a:cs typeface="Arial Black"/>
                        </a:rPr>
                        <a:t>FOUND</a:t>
                      </a:r>
                      <a:endParaRPr sz="1550" dirty="0">
                        <a:latin typeface="Arial Black"/>
                        <a:cs typeface="Arial Black"/>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572C"/>
                    </a:solidFill>
                  </a:tcPr>
                </a:tc>
                <a:tc rowSpan="3">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lnB w="76200">
                      <a:solidFill>
                        <a:srgbClr val="E38312"/>
                      </a:solidFill>
                      <a:prstDash val="solid"/>
                    </a:lnB>
                  </a:tcPr>
                </a:tc>
                <a:extLst>
                  <a:ext uri="{0D108BD9-81ED-4DB2-BD59-A6C34878D82A}">
                    <a16:rowId xmlns:a16="http://schemas.microsoft.com/office/drawing/2014/main" val="10000"/>
                  </a:ext>
                </a:extLst>
              </a:tr>
              <a:tr h="1531156">
                <a:tc>
                  <a:txBody>
                    <a:bodyPr/>
                    <a:lstStyle/>
                    <a:p>
                      <a:pPr marL="91440">
                        <a:lnSpc>
                          <a:spcPct val="100000"/>
                        </a:lnSpc>
                        <a:spcBef>
                          <a:spcPts val="409"/>
                        </a:spcBef>
                      </a:pPr>
                      <a:r>
                        <a:rPr lang="en-IN" sz="1550" spc="-25" dirty="0">
                          <a:latin typeface="Arial MT"/>
                          <a:cs typeface="Arial MT"/>
                        </a:rPr>
                        <a:t>4</a:t>
                      </a:r>
                      <a:r>
                        <a:rPr sz="1550" spc="-25" dirty="0">
                          <a:latin typeface="Arial MT"/>
                          <a:cs typeface="Arial MT"/>
                        </a:rPr>
                        <a:t>.</a:t>
                      </a:r>
                      <a:endParaRPr sz="1550" dirty="0">
                        <a:latin typeface="Arial MT"/>
                        <a:cs typeface="Arial MT"/>
                      </a:endParaRPr>
                    </a:p>
                  </a:txBody>
                  <a:tcPr marL="0" marR="0" marT="520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a:txBody>
                    <a:bodyPr/>
                    <a:lstStyle/>
                    <a:p>
                      <a:pPr marL="92710" marR="85090" algn="ctr">
                        <a:lnSpc>
                          <a:spcPct val="103400"/>
                        </a:lnSpc>
                        <a:spcBef>
                          <a:spcPts val="270"/>
                        </a:spcBef>
                      </a:pPr>
                      <a:r>
                        <a:rPr lang="en-IN" sz="1600" dirty="0"/>
                        <a:t>Anish Marade, Kartik Suvarna, Prasad Chaudhari, Vinita </a:t>
                      </a:r>
                      <a:r>
                        <a:rPr lang="en-IN" sz="1600" dirty="0" err="1"/>
                        <a:t>Bhandiwad</a:t>
                      </a:r>
                      <a:r>
                        <a:rPr lang="en-IN" sz="1600" dirty="0"/>
                        <a:t>, </a:t>
                      </a:r>
                      <a:r>
                        <a:rPr lang="en-IN" sz="1600" i="1" dirty="0"/>
                        <a:t>“</a:t>
                      </a:r>
                      <a:r>
                        <a:rPr lang="en-IN" sz="1600" b="1" i="1" dirty="0"/>
                        <a:t>Spiritual.AI: An AI-Driven Platform for Enhancing Mental, Emotional, and Spiritual Well-Being,”</a:t>
                      </a:r>
                      <a:r>
                        <a:rPr lang="en-IN" sz="1600" b="1" dirty="0"/>
                        <a:t> IJRASSET, Vol. 13, Issue IV, Apr 2025</a:t>
                      </a:r>
                      <a:endParaRPr sz="1600" b="1" dirty="0">
                        <a:latin typeface="Calibri"/>
                        <a:cs typeface="Calibri"/>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5D9CC"/>
                    </a:solidFill>
                  </a:tcPr>
                </a:tc>
                <a:tc>
                  <a:txBody>
                    <a:bodyPr/>
                    <a:lstStyle/>
                    <a:p>
                      <a:pPr marL="221615" marR="212725" indent="-3810" algn="ctr">
                        <a:lnSpc>
                          <a:spcPct val="103000"/>
                        </a:lnSpc>
                        <a:spcBef>
                          <a:spcPts val="275"/>
                        </a:spcBef>
                      </a:pPr>
                      <a:r>
                        <a:rPr lang="en-IN" sz="1600" dirty="0"/>
                        <a:t>This paper introduces </a:t>
                      </a:r>
                      <a:r>
                        <a:rPr lang="en-IN" sz="1600" i="1" dirty="0"/>
                        <a:t>Spiritual.AI</a:t>
                      </a:r>
                      <a:r>
                        <a:rPr lang="en-IN" sz="1600" dirty="0"/>
                        <a:t>, a GPT-based AI platform providing personalized mental, emotional, and spiritual guidance. It integrates meditation, yoga, astrology, and productivity tools like the Pomodoro timer, combining ancient spiritual wisdom with modern AI for holistic well-being.</a:t>
                      </a:r>
                      <a:endParaRPr sz="1550" dirty="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a:txBody>
                    <a:bodyPr/>
                    <a:lstStyle/>
                    <a:p>
                      <a:pPr marL="252095" marR="236854" indent="55880">
                        <a:lnSpc>
                          <a:spcPct val="105000"/>
                        </a:lnSpc>
                        <a:spcBef>
                          <a:spcPts val="240"/>
                        </a:spcBef>
                      </a:pPr>
                      <a:r>
                        <a:rPr lang="en-US" sz="1600" dirty="0"/>
                        <a:t>The system is conceptually strong but lacks large-scale implementation and real-world testing. Limited validation of AI’s effectiveness in handling deep psychological or spiritual issues.</a:t>
                      </a:r>
                      <a:endParaRPr sz="155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5D9CC"/>
                    </a:solidFill>
                  </a:tcPr>
                </a:tc>
                <a:tc vMerge="1">
                  <a:txBody>
                    <a:bodyPr/>
                    <a:lstStyle/>
                    <a:p>
                      <a:endParaRPr/>
                    </a:p>
                  </a:txBody>
                  <a:tcPr marL="0" marR="0" marT="0" marB="0">
                    <a:lnL w="12700">
                      <a:solidFill>
                        <a:srgbClr val="000000"/>
                      </a:solidFill>
                      <a:prstDash val="solid"/>
                    </a:lnL>
                    <a:lnB w="76200">
                      <a:solidFill>
                        <a:srgbClr val="E38312"/>
                      </a:solidFill>
                      <a:prstDash val="solid"/>
                    </a:lnB>
                  </a:tcPr>
                </a:tc>
                <a:extLst>
                  <a:ext uri="{0D108BD9-81ED-4DB2-BD59-A6C34878D82A}">
                    <a16:rowId xmlns:a16="http://schemas.microsoft.com/office/drawing/2014/main" val="10001"/>
                  </a:ext>
                </a:extLst>
              </a:tr>
              <a:tr h="2620569">
                <a:tc>
                  <a:txBody>
                    <a:bodyPr/>
                    <a:lstStyle/>
                    <a:p>
                      <a:pPr marL="91440">
                        <a:lnSpc>
                          <a:spcPct val="100000"/>
                        </a:lnSpc>
                        <a:spcBef>
                          <a:spcPts val="439"/>
                        </a:spcBef>
                      </a:pPr>
                      <a:r>
                        <a:rPr lang="en-IN" sz="1550" spc="-25" dirty="0">
                          <a:latin typeface="Arial MT"/>
                          <a:cs typeface="Arial MT"/>
                        </a:rPr>
                        <a:t>5</a:t>
                      </a:r>
                      <a:r>
                        <a:rPr sz="1550" spc="-25" dirty="0">
                          <a:latin typeface="Arial MT"/>
                          <a:cs typeface="Arial MT"/>
                        </a:rPr>
                        <a:t>.</a:t>
                      </a:r>
                      <a:endParaRPr sz="1550" dirty="0">
                        <a:latin typeface="Arial MT"/>
                        <a:cs typeface="Arial MT"/>
                      </a:endParaRPr>
                    </a:p>
                  </a:txBody>
                  <a:tcPr marL="0" marR="0" marT="55879"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rgbClr val="F5D9CC"/>
                    </a:solidFill>
                  </a:tcPr>
                </a:tc>
                <a:tc>
                  <a:txBody>
                    <a:bodyPr/>
                    <a:lstStyle/>
                    <a:p>
                      <a:pPr>
                        <a:buNone/>
                      </a:pPr>
                      <a:r>
                        <a:rPr lang="en-IN" dirty="0"/>
                        <a:t>Kathleen Kara Fitzpatrick, Alison Darcy, Molly </a:t>
                      </a:r>
                      <a:r>
                        <a:rPr lang="en-IN" dirty="0" err="1"/>
                        <a:t>Vierhile</a:t>
                      </a:r>
                      <a:r>
                        <a:rPr lang="en-IN" dirty="0"/>
                        <a:t>, </a:t>
                      </a:r>
                      <a:r>
                        <a:rPr lang="en-IN" b="1" i="1" dirty="0"/>
                        <a:t>“Delivering Cognitive </a:t>
                      </a:r>
                      <a:r>
                        <a:rPr lang="en-IN" b="1" i="1" dirty="0" err="1"/>
                        <a:t>Behavior</a:t>
                      </a:r>
                      <a:r>
                        <a:rPr lang="en-IN" b="1" i="1" dirty="0"/>
                        <a:t> Therapy to Young Adults With Symptoms of Depression and Anxiety Using a Fully Automated Conversational Agent (</a:t>
                      </a:r>
                      <a:r>
                        <a:rPr lang="en-IN" b="1" i="1" dirty="0" err="1"/>
                        <a:t>Woebot</a:t>
                      </a:r>
                      <a:r>
                        <a:rPr lang="en-IN" b="1" i="1" dirty="0"/>
                        <a:t>): A Randomized Controlled Trial,”</a:t>
                      </a:r>
                      <a:r>
                        <a:rPr lang="en-IN" b="1" dirty="0"/>
                        <a:t> JMIR Mental Health, 2017.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rgbClr val="F5D9CC"/>
                    </a:solidFill>
                  </a:tcPr>
                </a:tc>
                <a:tc>
                  <a:txBody>
                    <a:bodyPr/>
                    <a:lstStyle/>
                    <a:p>
                      <a:pPr marL="338455" marR="314960" algn="ctr">
                        <a:lnSpc>
                          <a:spcPct val="103000"/>
                        </a:lnSpc>
                        <a:spcBef>
                          <a:spcPts val="305"/>
                        </a:spcBef>
                      </a:pPr>
                      <a:r>
                        <a:rPr lang="en-US" sz="1600" dirty="0"/>
                        <a:t>This paper presents </a:t>
                      </a:r>
                      <a:r>
                        <a:rPr lang="en-US" sz="1600" i="1" dirty="0" err="1"/>
                        <a:t>Woebot</a:t>
                      </a:r>
                      <a:r>
                        <a:rPr lang="en-US" sz="1600" dirty="0"/>
                        <a:t>, an AI-powered conversational agent designed to deliver Cognitive Behavioral Therapy (CBT) techniques to young adults suffering from depression and anxiety. The chatbot interacts daily with users, offering emotional support and CBT-based mental health guidance.</a:t>
                      </a:r>
                      <a:endParaRPr sz="1550" dirty="0">
                        <a:latin typeface="Calibri"/>
                        <a:cs typeface="Calibri"/>
                      </a:endParaRPr>
                    </a:p>
                  </a:txBody>
                  <a:tcPr marL="0" marR="0" marT="3873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rgbClr val="F5D9CC"/>
                    </a:solidFill>
                  </a:tcPr>
                </a:tc>
                <a:tc>
                  <a:txBody>
                    <a:bodyPr/>
                    <a:lstStyle/>
                    <a:p>
                      <a:pPr marL="182880" marR="162560" algn="ctr">
                        <a:lnSpc>
                          <a:spcPct val="103000"/>
                        </a:lnSpc>
                        <a:spcBef>
                          <a:spcPts val="305"/>
                        </a:spcBef>
                      </a:pPr>
                      <a:r>
                        <a:rPr lang="en-US" sz="1600" dirty="0"/>
                        <a:t>The system focuses mainly on text-based CBT without deep personalization or spiritual integration. It lacks multimodal emotional recognition and adaptive therapy mechanisms.</a:t>
                      </a:r>
                      <a:endParaRPr sz="1550" dirty="0">
                        <a:latin typeface="Calibri"/>
                        <a:cs typeface="Calibri"/>
                      </a:endParaRPr>
                    </a:p>
                  </a:txBody>
                  <a:tcPr marL="0" marR="0" marT="3873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rgbClr val="F5D9CC"/>
                    </a:solidFill>
                  </a:tcPr>
                </a:tc>
                <a:tc vMerge="1">
                  <a:txBody>
                    <a:bodyPr/>
                    <a:lstStyle/>
                    <a:p>
                      <a:endParaRPr/>
                    </a:p>
                  </a:txBody>
                  <a:tcPr marL="0" marR="0" marT="0" marB="0">
                    <a:lnL w="12700" cap="flat" cmpd="sng" algn="ctr">
                      <a:solidFill>
                        <a:srgbClr val="000000"/>
                      </a:solidFill>
                      <a:prstDash val="solid"/>
                      <a:round/>
                      <a:headEnd type="none" w="med" len="med"/>
                      <a:tailEnd type="none" w="med" len="med"/>
                    </a:lnL>
                    <a:lnT w="76200" cap="flat" cmpd="sng" algn="ctr">
                      <a:solidFill>
                        <a:srgbClr val="E38312"/>
                      </a:solidFill>
                      <a:prstDash val="solid"/>
                      <a:round/>
                      <a:headEnd type="none" w="med" len="med"/>
                      <a:tailEnd type="none" w="med" len="med"/>
                    </a:lnT>
                    <a:lnB w="76200">
                      <a:solidFill>
                        <a:srgbClr val="E38312"/>
                      </a:solidFill>
                      <a:prstDash val="solid"/>
                    </a:lnB>
                  </a:tcPr>
                </a:tc>
                <a:extLst>
                  <a:ext uri="{0D108BD9-81ED-4DB2-BD59-A6C34878D82A}">
                    <a16:rowId xmlns:a16="http://schemas.microsoft.com/office/drawing/2014/main" val="10003"/>
                  </a:ext>
                </a:extLst>
              </a:tr>
            </a:tbl>
          </a:graphicData>
        </a:graphic>
      </p:graphicFrame>
      <p:sp>
        <p:nvSpPr>
          <p:cNvPr id="3" name="object 3"/>
          <p:cNvSpPr/>
          <p:nvPr/>
        </p:nvSpPr>
        <p:spPr>
          <a:xfrm>
            <a:off x="4763" y="0"/>
            <a:ext cx="12187555" cy="1281430"/>
          </a:xfrm>
          <a:custGeom>
            <a:avLst/>
            <a:gdLst/>
            <a:ahLst/>
            <a:cxnLst/>
            <a:rect l="l" t="t" r="r" b="b"/>
            <a:pathLst>
              <a:path w="12187555" h="1281430">
                <a:moveTo>
                  <a:pt x="0" y="0"/>
                </a:moveTo>
                <a:lnTo>
                  <a:pt x="0" y="1281049"/>
                </a:lnTo>
                <a:lnTo>
                  <a:pt x="12187236" y="1281049"/>
                </a:lnTo>
                <a:lnTo>
                  <a:pt x="12187236" y="0"/>
                </a:lnTo>
                <a:lnTo>
                  <a:pt x="0" y="0"/>
                </a:lnTo>
                <a:close/>
              </a:path>
            </a:pathLst>
          </a:custGeom>
          <a:solidFill>
            <a:srgbClr val="E38312"/>
          </a:solidFill>
        </p:spPr>
        <p:txBody>
          <a:bodyPr wrap="square" lIns="0" tIns="0" rIns="0" bIns="0" rtlCol="0"/>
          <a:lstStyle/>
          <a:p>
            <a:endParaRPr/>
          </a:p>
        </p:txBody>
      </p:sp>
      <p:sp>
        <p:nvSpPr>
          <p:cNvPr id="4" name="object 4"/>
          <p:cNvSpPr txBox="1">
            <a:spLocks noGrp="1"/>
          </p:cNvSpPr>
          <p:nvPr>
            <p:ph type="title"/>
          </p:nvPr>
        </p:nvSpPr>
        <p:spPr>
          <a:xfrm>
            <a:off x="2421254" y="156844"/>
            <a:ext cx="7420609" cy="690574"/>
          </a:xfrm>
          <a:prstGeom prst="rect">
            <a:avLst/>
          </a:prstGeom>
        </p:spPr>
        <p:txBody>
          <a:bodyPr vert="horz" wrap="square" lIns="0" tIns="13335" rIns="0" bIns="0" rtlCol="0" anchor="t">
            <a:spAutoFit/>
          </a:bodyPr>
          <a:lstStyle/>
          <a:p>
            <a:pPr marL="12700">
              <a:lnSpc>
                <a:spcPct val="100000"/>
              </a:lnSpc>
              <a:spcBef>
                <a:spcPts val="105"/>
              </a:spcBef>
              <a:tabLst>
                <a:tab pos="4635500" algn="l"/>
              </a:tabLst>
            </a:pPr>
            <a:r>
              <a:rPr sz="4400" spc="-10" dirty="0"/>
              <a:t>LITERATURE</a:t>
            </a:r>
            <a:r>
              <a:rPr sz="4400" dirty="0"/>
              <a:t>	</a:t>
            </a:r>
            <a:r>
              <a:rPr sz="4400" spc="-50" dirty="0"/>
              <a:t>SURVEY</a:t>
            </a:r>
            <a:endParaRPr lang="en-US" sz="4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26619-0D86-7A63-9DEC-0A210F47B83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7EA0F87-152B-D62B-F461-952B05ED7442}"/>
              </a:ext>
            </a:extLst>
          </p:cNvPr>
          <p:cNvSpPr txBox="1">
            <a:spLocks noGrp="1"/>
          </p:cNvSpPr>
          <p:nvPr>
            <p:ph type="title"/>
          </p:nvPr>
        </p:nvSpPr>
        <p:spPr>
          <a:xfrm>
            <a:off x="685800" y="228600"/>
            <a:ext cx="9114154" cy="769441"/>
          </a:xfrm>
          <a:prstGeom prst="rect">
            <a:avLst/>
          </a:prstGeom>
        </p:spPr>
        <p:txBody>
          <a:bodyPr vert="horz" wrap="square" lIns="0" tIns="152400" rIns="0" bIns="0" rtlCol="0" anchor="t">
            <a:spAutoFit/>
          </a:bodyPr>
          <a:lstStyle/>
          <a:p>
            <a:pPr marL="2901950" algn="l">
              <a:lnSpc>
                <a:spcPct val="100000"/>
              </a:lnSpc>
              <a:spcBef>
                <a:spcPts val="100"/>
              </a:spcBef>
            </a:pPr>
            <a:r>
              <a:rPr lang="en-US" dirty="0"/>
              <a:t>PROBLEM IDENTIFIED</a:t>
            </a:r>
          </a:p>
        </p:txBody>
      </p:sp>
      <p:sp>
        <p:nvSpPr>
          <p:cNvPr id="5" name="object 5">
            <a:extLst>
              <a:ext uri="{FF2B5EF4-FFF2-40B4-BE49-F238E27FC236}">
                <a16:creationId xmlns:a16="http://schemas.microsoft.com/office/drawing/2014/main" id="{C3321D5A-0C29-EAD8-3A65-62FBF7CD7588}"/>
              </a:ext>
            </a:extLst>
          </p:cNvPr>
          <p:cNvSpPr txBox="1">
            <a:spLocks noGrp="1"/>
          </p:cNvSpPr>
          <p:nvPr>
            <p:ph type="sldNum" sz="quarter" idx="7"/>
          </p:nvPr>
        </p:nvSpPr>
        <p:spPr>
          <a:prstGeom prst="rect">
            <a:avLst/>
          </a:prstGeom>
        </p:spPr>
        <p:txBody>
          <a:bodyPr vert="horz" wrap="square" lIns="0" tIns="6350" rIns="0" bIns="0" rtlCol="0">
            <a:spAutoFit/>
          </a:bodyPr>
          <a:lstStyle/>
          <a:p>
            <a:pPr marL="73025">
              <a:lnSpc>
                <a:spcPct val="100000"/>
              </a:lnSpc>
              <a:spcBef>
                <a:spcPts val="50"/>
              </a:spcBef>
            </a:pPr>
            <a:fld id="{81D60167-4931-47E6-BA6A-407CBD079E47}" type="slidenum">
              <a:rPr spc="-50" dirty="0"/>
              <a:t>8</a:t>
            </a:fld>
            <a:endParaRPr spc="-50" dirty="0"/>
          </a:p>
        </p:txBody>
      </p:sp>
      <p:sp>
        <p:nvSpPr>
          <p:cNvPr id="11" name="TextBox 10">
            <a:extLst>
              <a:ext uri="{FF2B5EF4-FFF2-40B4-BE49-F238E27FC236}">
                <a16:creationId xmlns:a16="http://schemas.microsoft.com/office/drawing/2014/main" id="{7347D0AE-6A3F-7D5E-6057-53C749985A46}"/>
              </a:ext>
            </a:extLst>
          </p:cNvPr>
          <p:cNvSpPr txBox="1"/>
          <p:nvPr/>
        </p:nvSpPr>
        <p:spPr>
          <a:xfrm>
            <a:off x="685800" y="1905000"/>
            <a:ext cx="11582400" cy="3266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Limited access to affordable, quality mental health care.</a:t>
            </a:r>
          </a:p>
          <a:p>
            <a:pPr marL="285750" indent="-285750">
              <a:lnSpc>
                <a:spcPct val="150000"/>
              </a:lnSpc>
              <a:buFont typeface="Arial" panose="020B0604020202020204" pitchFamily="34" charset="0"/>
              <a:buChar char="•"/>
            </a:pPr>
            <a:r>
              <a:rPr lang="en-US" sz="2000" dirty="0"/>
              <a:t> Stigma around seeking professional therapy.</a:t>
            </a:r>
          </a:p>
          <a:p>
            <a:pPr marL="285750" indent="-285750">
              <a:lnSpc>
                <a:spcPct val="150000"/>
              </a:lnSpc>
              <a:buFont typeface="Arial" panose="020B0604020202020204" pitchFamily="34" charset="0"/>
              <a:buChar char="•"/>
            </a:pPr>
            <a:r>
              <a:rPr lang="en-US" sz="2000" dirty="0"/>
              <a:t>Overwhelming amount of unverified self-help content online.</a:t>
            </a:r>
          </a:p>
          <a:p>
            <a:pPr marL="285750" indent="-285750">
              <a:lnSpc>
                <a:spcPct val="150000"/>
              </a:lnSpc>
              <a:buFont typeface="Arial" panose="020B0604020202020204" pitchFamily="34" charset="0"/>
              <a:buChar char="•"/>
            </a:pPr>
            <a:r>
              <a:rPr lang="en-US" sz="2000" dirty="0"/>
              <a:t>Lack of personalized, culturally sensitive guidance.</a:t>
            </a:r>
          </a:p>
          <a:p>
            <a:pPr marL="285750" indent="-285750">
              <a:lnSpc>
                <a:spcPct val="150000"/>
              </a:lnSpc>
              <a:buFont typeface="Arial" panose="020B0604020202020204" pitchFamily="34" charset="0"/>
              <a:buChar char="•"/>
            </a:pPr>
            <a:r>
              <a:rPr lang="en-US" sz="2000" dirty="0"/>
              <a:t>Inability to track long-term progress in mental wellbeing.</a:t>
            </a:r>
          </a:p>
          <a:p>
            <a:pPr marL="285750" indent="-285750">
              <a:lnSpc>
                <a:spcPct val="150000"/>
              </a:lnSpc>
              <a:buFont typeface="Arial" panose="020B0604020202020204" pitchFamily="34" charset="0"/>
              <a:buChar char="•"/>
            </a:pPr>
            <a:r>
              <a:rPr lang="en-US" sz="2000" dirty="0"/>
              <a:t>Limited access to therapists, especially in rural areas</a:t>
            </a:r>
            <a:endParaRPr lang="en-IN" sz="2000" dirty="0"/>
          </a:p>
          <a:p>
            <a:pPr marL="285750" indent="-285750">
              <a:lnSpc>
                <a:spcPct val="150000"/>
              </a:lnSpc>
              <a:buFont typeface="Arial" panose="020B0604020202020204" pitchFamily="34" charset="0"/>
              <a:buChar char="•"/>
            </a:pPr>
            <a:endParaRPr lang="en-IN" sz="2000" dirty="0"/>
          </a:p>
        </p:txBody>
      </p:sp>
    </p:spTree>
    <p:extLst>
      <p:ext uri="{BB962C8B-B14F-4D97-AF65-F5344CB8AC3E}">
        <p14:creationId xmlns:p14="http://schemas.microsoft.com/office/powerpoint/2010/main" val="1646962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B6D26-1DF8-30DF-30A6-9709A387E2E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2EE0F7E-9FA5-CDFF-0272-C40EB7046313}"/>
              </a:ext>
            </a:extLst>
          </p:cNvPr>
          <p:cNvSpPr txBox="1">
            <a:spLocks noGrp="1"/>
          </p:cNvSpPr>
          <p:nvPr>
            <p:ph type="title"/>
          </p:nvPr>
        </p:nvSpPr>
        <p:spPr>
          <a:xfrm>
            <a:off x="685800" y="228600"/>
            <a:ext cx="9114154" cy="830997"/>
          </a:xfrm>
          <a:prstGeom prst="rect">
            <a:avLst/>
          </a:prstGeom>
        </p:spPr>
        <p:txBody>
          <a:bodyPr vert="horz" wrap="square" lIns="0" tIns="152400" rIns="0" bIns="0" rtlCol="0" anchor="t">
            <a:spAutoFit/>
          </a:bodyPr>
          <a:lstStyle/>
          <a:p>
            <a:pPr marL="2901950" algn="l">
              <a:lnSpc>
                <a:spcPct val="100000"/>
              </a:lnSpc>
              <a:spcBef>
                <a:spcPts val="100"/>
              </a:spcBef>
            </a:pPr>
            <a:r>
              <a:rPr lang="en-IN" sz="4400" dirty="0"/>
              <a:t>Objectives Finalized</a:t>
            </a:r>
            <a:endParaRPr lang="en-US" sz="4400"/>
          </a:p>
        </p:txBody>
      </p:sp>
      <p:sp>
        <p:nvSpPr>
          <p:cNvPr id="5" name="object 5">
            <a:extLst>
              <a:ext uri="{FF2B5EF4-FFF2-40B4-BE49-F238E27FC236}">
                <a16:creationId xmlns:a16="http://schemas.microsoft.com/office/drawing/2014/main" id="{5F5BDCEC-47C5-3D5B-44BC-D435B1E3FE7B}"/>
              </a:ext>
            </a:extLst>
          </p:cNvPr>
          <p:cNvSpPr txBox="1">
            <a:spLocks noGrp="1"/>
          </p:cNvSpPr>
          <p:nvPr>
            <p:ph type="sldNum" sz="quarter" idx="7"/>
          </p:nvPr>
        </p:nvSpPr>
        <p:spPr>
          <a:prstGeom prst="rect">
            <a:avLst/>
          </a:prstGeom>
        </p:spPr>
        <p:txBody>
          <a:bodyPr vert="horz" wrap="square" lIns="0" tIns="6350" rIns="0" bIns="0" rtlCol="0">
            <a:spAutoFit/>
          </a:bodyPr>
          <a:lstStyle/>
          <a:p>
            <a:pPr marL="73025">
              <a:lnSpc>
                <a:spcPct val="100000"/>
              </a:lnSpc>
              <a:spcBef>
                <a:spcPts val="50"/>
              </a:spcBef>
            </a:pPr>
            <a:fld id="{81D60167-4931-47E6-BA6A-407CBD079E47}" type="slidenum">
              <a:rPr spc="-50" dirty="0"/>
              <a:t>9</a:t>
            </a:fld>
            <a:endParaRPr spc="-50" dirty="0"/>
          </a:p>
        </p:txBody>
      </p:sp>
      <p:sp>
        <p:nvSpPr>
          <p:cNvPr id="52" name="Rectangle 48">
            <a:extLst>
              <a:ext uri="{FF2B5EF4-FFF2-40B4-BE49-F238E27FC236}">
                <a16:creationId xmlns:a16="http://schemas.microsoft.com/office/drawing/2014/main" id="{92B99C8A-8AF3-8808-EA83-179C9B109A8C}"/>
              </a:ext>
            </a:extLst>
          </p:cNvPr>
          <p:cNvSpPr>
            <a:spLocks noChangeArrowheads="1"/>
          </p:cNvSpPr>
          <p:nvPr/>
        </p:nvSpPr>
        <p:spPr bwMode="auto">
          <a:xfrm rot="10800000" flipV="1">
            <a:off x="503499" y="1309921"/>
            <a:ext cx="10972800" cy="326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Simple, quick onboarding process.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Multiple test options (personality, anxiety, stress, overthinking, trauma, emotional intelligence, etc.).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Three-path solution: </a:t>
            </a:r>
            <a:r>
              <a:rPr kumimoji="0" lang="en-US" altLang="en-US" sz="2000" b="1" i="0" u="none" strike="noStrike" cap="none" normalizeH="0" baseline="0" dirty="0">
                <a:ln>
                  <a:noFill/>
                </a:ln>
                <a:solidFill>
                  <a:schemeClr val="tx1"/>
                </a:solidFill>
                <a:effectLst/>
                <a:latin typeface="Arial" panose="020B0604020202020204" pitchFamily="34" charset="0"/>
              </a:rPr>
              <a:t>Western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Eastern</a:t>
            </a:r>
            <a:r>
              <a:rPr kumimoji="0" lang="en-US" altLang="en-US" sz="2000" b="0" i="0" u="none" strike="noStrike" cap="none" normalizeH="0" baseline="0" dirty="0">
                <a:ln>
                  <a:noFill/>
                </a:ln>
                <a:solidFill>
                  <a:schemeClr val="tx1"/>
                </a:solidFill>
                <a:effectLst/>
                <a:latin typeface="Arial" panose="020B0604020202020204" pitchFamily="34" charset="0"/>
              </a:rPr>
              <a:t>, or </a:t>
            </a:r>
            <a:r>
              <a:rPr kumimoji="0" lang="en-US" altLang="en-US" sz="2000" b="1" i="0" u="none" strike="noStrike" cap="none" normalizeH="0" baseline="0" dirty="0">
                <a:ln>
                  <a:noFill/>
                </a:ln>
                <a:solidFill>
                  <a:schemeClr val="tx1"/>
                </a:solidFill>
                <a:effectLst/>
                <a:latin typeface="Arial" panose="020B0604020202020204" pitchFamily="34" charset="0"/>
              </a:rPr>
              <a:t>Hybrid</a:t>
            </a:r>
            <a:r>
              <a:rPr kumimoji="0" lang="en-US" altLang="en-US" sz="2000" b="0" i="0" u="none" strike="noStrike" cap="none" normalizeH="0" baseline="0" dirty="0">
                <a:ln>
                  <a:noFill/>
                </a:ln>
                <a:solidFill>
                  <a:schemeClr val="tx1"/>
                </a:solidFill>
                <a:effectLst/>
                <a:latin typeface="Arial" panose="020B0604020202020204" pitchFamily="34" charset="0"/>
              </a:rPr>
              <a:t> approach.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AI-driven therapeutic conversations.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Curated, quality content recommendations.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Mood tracking and progress visualization.</a:t>
            </a:r>
          </a:p>
        </p:txBody>
      </p:sp>
    </p:spTree>
    <p:extLst>
      <p:ext uri="{BB962C8B-B14F-4D97-AF65-F5344CB8AC3E}">
        <p14:creationId xmlns:p14="http://schemas.microsoft.com/office/powerpoint/2010/main" val="3596603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152400"/>
            <a:ext cx="9037956" cy="866263"/>
          </a:xfrm>
          <a:prstGeom prst="rect">
            <a:avLst/>
          </a:prstGeom>
        </p:spPr>
        <p:txBody>
          <a:bodyPr vert="horz" wrap="square" lIns="0" tIns="187325" rIns="0" bIns="0" rtlCol="0">
            <a:spAutoFit/>
          </a:bodyPr>
          <a:lstStyle/>
          <a:p>
            <a:pPr marL="24765">
              <a:lnSpc>
                <a:spcPct val="100000"/>
              </a:lnSpc>
              <a:spcBef>
                <a:spcPts val="100"/>
              </a:spcBef>
            </a:pPr>
            <a:r>
              <a:rPr lang="en-IN" sz="4400" dirty="0"/>
              <a:t>Proposed System / Solution</a:t>
            </a:r>
            <a:endParaRPr sz="4400" dirty="0"/>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8</a:t>
            </a:r>
          </a:p>
        </p:txBody>
      </p:sp>
      <p:sp>
        <p:nvSpPr>
          <p:cNvPr id="6" name="TextBox 5">
            <a:extLst>
              <a:ext uri="{FF2B5EF4-FFF2-40B4-BE49-F238E27FC236}">
                <a16:creationId xmlns:a16="http://schemas.microsoft.com/office/drawing/2014/main" id="{C974F6F5-3DA9-0F2E-F243-F445088DF05E}"/>
              </a:ext>
            </a:extLst>
          </p:cNvPr>
          <p:cNvSpPr txBox="1"/>
          <p:nvPr/>
        </p:nvSpPr>
        <p:spPr>
          <a:xfrm>
            <a:off x="457200" y="1600200"/>
            <a:ext cx="10527918" cy="369332"/>
          </a:xfrm>
          <a:prstGeom prst="rect">
            <a:avLst/>
          </a:prstGeom>
          <a:noFill/>
        </p:spPr>
        <p:txBody>
          <a:bodyPr wrap="square" rtlCol="0">
            <a:spAutoFit/>
          </a:bodyPr>
          <a:lstStyle/>
          <a:p>
            <a:endParaRPr lang="en-IN" dirty="0"/>
          </a:p>
        </p:txBody>
      </p:sp>
      <p:sp>
        <p:nvSpPr>
          <p:cNvPr id="7" name="Rectangle 2">
            <a:extLst>
              <a:ext uri="{FF2B5EF4-FFF2-40B4-BE49-F238E27FC236}">
                <a16:creationId xmlns:a16="http://schemas.microsoft.com/office/drawing/2014/main" id="{27568274-2751-77C6-1567-DCF0C9430A4B}"/>
              </a:ext>
            </a:extLst>
          </p:cNvPr>
          <p:cNvSpPr>
            <a:spLocks noChangeArrowheads="1"/>
          </p:cNvSpPr>
          <p:nvPr/>
        </p:nvSpPr>
        <p:spPr bwMode="auto">
          <a:xfrm rot="10800000" flipV="1">
            <a:off x="457200" y="1990815"/>
            <a:ext cx="9982200" cy="326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User Sign-Up:</a:t>
            </a:r>
            <a:r>
              <a:rPr kumimoji="0" lang="en-US" altLang="en-US" sz="2000" b="0" i="0" u="none" strike="noStrike" cap="none" normalizeH="0" baseline="0" dirty="0">
                <a:ln>
                  <a:noFill/>
                </a:ln>
                <a:solidFill>
                  <a:schemeClr val="tx1"/>
                </a:solidFill>
                <a:effectLst/>
                <a:latin typeface="Arial" panose="020B0604020202020204" pitchFamily="34" charset="0"/>
              </a:rPr>
              <a:t> Collect basic details (name, DOB, gender, contact info).</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Initial Assessment:</a:t>
            </a:r>
            <a:r>
              <a:rPr kumimoji="0" lang="en-US" altLang="en-US" sz="2000" b="0" i="0" u="none" strike="noStrike" cap="none" normalizeH="0" baseline="0" dirty="0">
                <a:ln>
                  <a:noFill/>
                </a:ln>
                <a:solidFill>
                  <a:schemeClr val="tx1"/>
                </a:solidFill>
                <a:effectLst/>
                <a:latin typeface="Arial" panose="020B0604020202020204" pitchFamily="34" charset="0"/>
              </a:rPr>
              <a:t> Short mental health screening (under 5 minutes).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Optional Deep Tests:</a:t>
            </a:r>
            <a:r>
              <a:rPr kumimoji="0" lang="en-US" altLang="en-US" sz="2000" b="0" i="0" u="none" strike="noStrike" cap="none" normalizeH="0" baseline="0" dirty="0">
                <a:ln>
                  <a:noFill/>
                </a:ln>
                <a:solidFill>
                  <a:schemeClr val="tx1"/>
                </a:solidFill>
                <a:effectLst/>
                <a:latin typeface="Arial" panose="020B0604020202020204" pitchFamily="34" charset="0"/>
              </a:rPr>
              <a:t> Personality, anxiety, stress, etc.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AI Analysis:</a:t>
            </a:r>
            <a:r>
              <a:rPr kumimoji="0" lang="en-US" altLang="en-US" sz="2000" b="0" i="0" u="none" strike="noStrike" cap="none" normalizeH="0" baseline="0" dirty="0">
                <a:ln>
                  <a:noFill/>
                </a:ln>
                <a:solidFill>
                  <a:schemeClr val="tx1"/>
                </a:solidFill>
                <a:effectLst/>
                <a:latin typeface="Arial" panose="020B0604020202020204" pitchFamily="34" charset="0"/>
              </a:rPr>
              <a:t> Processes test results to determine wellbeing state.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Recommendation Path:</a:t>
            </a:r>
            <a:r>
              <a:rPr kumimoji="0" lang="en-US" altLang="en-US" sz="2000" b="0" i="0" u="none" strike="noStrike" cap="none" normalizeH="0" baseline="0" dirty="0">
                <a:ln>
                  <a:noFill/>
                </a:ln>
                <a:solidFill>
                  <a:schemeClr val="tx1"/>
                </a:solidFill>
                <a:effectLst/>
                <a:latin typeface="Arial" panose="020B0604020202020204" pitchFamily="34" charset="0"/>
              </a:rPr>
              <a:t> Western therapy, Eastern methods, or Hybrid.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Daily Support:</a:t>
            </a:r>
            <a:r>
              <a:rPr kumimoji="0" lang="en-US" altLang="en-US" sz="2000" b="0" i="0" u="none" strike="noStrike" cap="none" normalizeH="0" baseline="0" dirty="0">
                <a:ln>
                  <a:noFill/>
                </a:ln>
                <a:solidFill>
                  <a:schemeClr val="tx1"/>
                </a:solidFill>
                <a:effectLst/>
                <a:latin typeface="Arial" panose="020B0604020202020204" pitchFamily="34" charset="0"/>
              </a:rPr>
              <a:t> Chatbot, guided practices, curated content.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Progress Tracking:</a:t>
            </a:r>
            <a:r>
              <a:rPr kumimoji="0" lang="en-US" altLang="en-US" sz="2000" b="0" i="0" u="none" strike="noStrike" cap="none" normalizeH="0" baseline="0" dirty="0">
                <a:ln>
                  <a:noFill/>
                </a:ln>
                <a:solidFill>
                  <a:schemeClr val="tx1"/>
                </a:solidFill>
                <a:effectLst/>
                <a:latin typeface="Arial" panose="020B0604020202020204" pitchFamily="34" charset="0"/>
              </a:rPr>
              <a:t> Mood charts, engagement logs, reassessment prompts.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D283D-CB72-3A17-487B-FA652AAF8F6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CA1CB210-10D9-B285-846F-40C9FFCC1803}"/>
              </a:ext>
            </a:extLst>
          </p:cNvPr>
          <p:cNvGrpSpPr/>
          <p:nvPr/>
        </p:nvGrpSpPr>
        <p:grpSpPr>
          <a:xfrm>
            <a:off x="0" y="-34245"/>
            <a:ext cx="12192000" cy="1291589"/>
            <a:chOff x="50800" y="0"/>
            <a:chExt cx="12141200" cy="1291589"/>
          </a:xfrm>
        </p:grpSpPr>
        <p:sp>
          <p:nvSpPr>
            <p:cNvPr id="3" name="object 3">
              <a:extLst>
                <a:ext uri="{FF2B5EF4-FFF2-40B4-BE49-F238E27FC236}">
                  <a16:creationId xmlns:a16="http://schemas.microsoft.com/office/drawing/2014/main" id="{766A9CCA-FCBA-18D4-D532-3279E4300998}"/>
                </a:ext>
              </a:extLst>
            </p:cNvPr>
            <p:cNvSpPr/>
            <p:nvPr/>
          </p:nvSpPr>
          <p:spPr>
            <a:xfrm>
              <a:off x="50800" y="0"/>
              <a:ext cx="12141200" cy="1279525"/>
            </a:xfrm>
            <a:custGeom>
              <a:avLst/>
              <a:gdLst/>
              <a:ahLst/>
              <a:cxnLst/>
              <a:rect l="l" t="t" r="r" b="b"/>
              <a:pathLst>
                <a:path w="12141200" h="1279525">
                  <a:moveTo>
                    <a:pt x="12141200" y="0"/>
                  </a:moveTo>
                  <a:lnTo>
                    <a:pt x="0" y="0"/>
                  </a:lnTo>
                  <a:lnTo>
                    <a:pt x="0" y="1279525"/>
                  </a:lnTo>
                  <a:lnTo>
                    <a:pt x="12141200" y="1279525"/>
                  </a:lnTo>
                  <a:lnTo>
                    <a:pt x="12141200" y="0"/>
                  </a:lnTo>
                  <a:close/>
                </a:path>
              </a:pathLst>
            </a:custGeom>
            <a:solidFill>
              <a:srgbClr val="E28312"/>
            </a:solidFill>
          </p:spPr>
          <p:txBody>
            <a:bodyPr wrap="square" lIns="0" tIns="0" rIns="0" bIns="0" rtlCol="0"/>
            <a:lstStyle/>
            <a:p>
              <a:endParaRPr/>
            </a:p>
          </p:txBody>
        </p:sp>
        <p:sp>
          <p:nvSpPr>
            <p:cNvPr id="4" name="object 4">
              <a:extLst>
                <a:ext uri="{FF2B5EF4-FFF2-40B4-BE49-F238E27FC236}">
                  <a16:creationId xmlns:a16="http://schemas.microsoft.com/office/drawing/2014/main" id="{9300322E-EBA8-FC03-D289-9D27640E62D7}"/>
                </a:ext>
              </a:extLst>
            </p:cNvPr>
            <p:cNvSpPr/>
            <p:nvPr/>
          </p:nvSpPr>
          <p:spPr>
            <a:xfrm>
              <a:off x="50800" y="1266189"/>
              <a:ext cx="12141200" cy="25400"/>
            </a:xfrm>
            <a:custGeom>
              <a:avLst/>
              <a:gdLst/>
              <a:ahLst/>
              <a:cxnLst/>
              <a:rect l="l" t="t" r="r" b="b"/>
              <a:pathLst>
                <a:path w="12141200" h="25400">
                  <a:moveTo>
                    <a:pt x="12141200" y="0"/>
                  </a:moveTo>
                  <a:lnTo>
                    <a:pt x="0" y="0"/>
                  </a:lnTo>
                  <a:lnTo>
                    <a:pt x="0" y="25400"/>
                  </a:lnTo>
                  <a:lnTo>
                    <a:pt x="12141200" y="25400"/>
                  </a:lnTo>
                  <a:lnTo>
                    <a:pt x="12141200" y="0"/>
                  </a:lnTo>
                  <a:close/>
                </a:path>
              </a:pathLst>
            </a:custGeom>
            <a:solidFill>
              <a:srgbClr val="FFFFFF"/>
            </a:solidFill>
          </p:spPr>
          <p:txBody>
            <a:bodyPr wrap="square" lIns="0" tIns="0" rIns="0" bIns="0" rtlCol="0"/>
            <a:lstStyle/>
            <a:p>
              <a:endParaRPr/>
            </a:p>
          </p:txBody>
        </p:sp>
        <p:sp>
          <p:nvSpPr>
            <p:cNvPr id="5" name="object 5">
              <a:extLst>
                <a:ext uri="{FF2B5EF4-FFF2-40B4-BE49-F238E27FC236}">
                  <a16:creationId xmlns:a16="http://schemas.microsoft.com/office/drawing/2014/main" id="{5FFF38B4-9D14-5EF0-AF5C-FAA9FD4DE908}"/>
                </a:ext>
              </a:extLst>
            </p:cNvPr>
            <p:cNvSpPr/>
            <p:nvPr/>
          </p:nvSpPr>
          <p:spPr>
            <a:xfrm>
              <a:off x="50800" y="0"/>
              <a:ext cx="0" cy="1279525"/>
            </a:xfrm>
            <a:custGeom>
              <a:avLst/>
              <a:gdLst/>
              <a:ahLst/>
              <a:cxnLst/>
              <a:rect l="l" t="t" r="r" b="b"/>
              <a:pathLst>
                <a:path h="1279525">
                  <a:moveTo>
                    <a:pt x="0" y="0"/>
                  </a:moveTo>
                  <a:lnTo>
                    <a:pt x="0" y="1279525"/>
                  </a:lnTo>
                </a:path>
              </a:pathLst>
            </a:custGeom>
            <a:ln w="25400">
              <a:solidFill>
                <a:srgbClr val="FFFFFF"/>
              </a:solidFill>
            </a:ln>
          </p:spPr>
          <p:txBody>
            <a:bodyPr wrap="square" lIns="0" tIns="0" rIns="0" bIns="0" rtlCol="0"/>
            <a:lstStyle/>
            <a:p>
              <a:endParaRPr/>
            </a:p>
          </p:txBody>
        </p:sp>
      </p:grpSp>
      <p:sp>
        <p:nvSpPr>
          <p:cNvPr id="7" name="object 7">
            <a:extLst>
              <a:ext uri="{FF2B5EF4-FFF2-40B4-BE49-F238E27FC236}">
                <a16:creationId xmlns:a16="http://schemas.microsoft.com/office/drawing/2014/main" id="{D596E979-9A7C-162C-FF58-8DD534701B98}"/>
              </a:ext>
            </a:extLst>
          </p:cNvPr>
          <p:cNvSpPr txBox="1">
            <a:spLocks noGrp="1"/>
          </p:cNvSpPr>
          <p:nvPr>
            <p:ph type="title"/>
          </p:nvPr>
        </p:nvSpPr>
        <p:spPr>
          <a:xfrm>
            <a:off x="2315845" y="-179611"/>
            <a:ext cx="7560310" cy="1058623"/>
          </a:xfrm>
          <a:prstGeom prst="rect">
            <a:avLst/>
          </a:prstGeom>
        </p:spPr>
        <p:txBody>
          <a:bodyPr vert="horz" wrap="square" lIns="0" tIns="377825" rIns="0" bIns="0" rtlCol="0" anchor="t">
            <a:spAutoFit/>
          </a:bodyPr>
          <a:lstStyle/>
          <a:p>
            <a:pPr marL="1504315">
              <a:lnSpc>
                <a:spcPct val="100000"/>
              </a:lnSpc>
              <a:spcBef>
                <a:spcPts val="100"/>
              </a:spcBef>
            </a:pPr>
            <a:r>
              <a:rPr sz="4400" spc="-10" dirty="0"/>
              <a:t>Data</a:t>
            </a:r>
            <a:r>
              <a:rPr sz="4400" spc="-270" dirty="0"/>
              <a:t> </a:t>
            </a:r>
            <a:r>
              <a:rPr sz="4400" spc="-10" dirty="0"/>
              <a:t>Flow</a:t>
            </a:r>
            <a:r>
              <a:rPr sz="4400" spc="-265" dirty="0"/>
              <a:t> </a:t>
            </a:r>
            <a:r>
              <a:rPr sz="4400" spc="-10" dirty="0"/>
              <a:t>Diagram</a:t>
            </a:r>
            <a:endParaRPr lang="en-US" sz="4400" dirty="0"/>
          </a:p>
        </p:txBody>
      </p:sp>
      <p:sp>
        <p:nvSpPr>
          <p:cNvPr id="8" name="object 8">
            <a:extLst>
              <a:ext uri="{FF2B5EF4-FFF2-40B4-BE49-F238E27FC236}">
                <a16:creationId xmlns:a16="http://schemas.microsoft.com/office/drawing/2014/main" id="{3AEA2526-B11A-C2FC-0CCA-B90648FE40E4}"/>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9</a:t>
            </a:r>
          </a:p>
        </p:txBody>
      </p:sp>
      <p:sp>
        <p:nvSpPr>
          <p:cNvPr id="13" name="TextBox 12">
            <a:extLst>
              <a:ext uri="{FF2B5EF4-FFF2-40B4-BE49-F238E27FC236}">
                <a16:creationId xmlns:a16="http://schemas.microsoft.com/office/drawing/2014/main" id="{72141B55-9FDC-2D07-28B2-9E56D776415D}"/>
              </a:ext>
            </a:extLst>
          </p:cNvPr>
          <p:cNvSpPr txBox="1"/>
          <p:nvPr/>
        </p:nvSpPr>
        <p:spPr>
          <a:xfrm>
            <a:off x="-19693" y="1205980"/>
            <a:ext cx="3730375" cy="369332"/>
          </a:xfrm>
          <a:prstGeom prst="rect">
            <a:avLst/>
          </a:prstGeom>
          <a:noFill/>
        </p:spPr>
        <p:txBody>
          <a:bodyPr wrap="square" rtlCol="0">
            <a:spAutoFit/>
          </a:bodyPr>
          <a:lstStyle/>
          <a:p>
            <a:r>
              <a:rPr lang="en-IN" b="1" dirty="0"/>
              <a:t>DFD Level 0:</a:t>
            </a:r>
          </a:p>
        </p:txBody>
      </p:sp>
      <p:pic>
        <p:nvPicPr>
          <p:cNvPr id="6" name="Picture 5">
            <a:extLst>
              <a:ext uri="{FF2B5EF4-FFF2-40B4-BE49-F238E27FC236}">
                <a16:creationId xmlns:a16="http://schemas.microsoft.com/office/drawing/2014/main" id="{81F0C731-6957-93EF-706C-6C653DB9E6D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5976"/>
          <a:stretch>
            <a:fillRect/>
          </a:stretch>
        </p:blipFill>
        <p:spPr bwMode="auto">
          <a:xfrm>
            <a:off x="2045733" y="1304072"/>
            <a:ext cx="7809401" cy="496772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7133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2">
            <a:extLst>
              <a:ext uri="{FF2B5EF4-FFF2-40B4-BE49-F238E27FC236}">
                <a16:creationId xmlns:a16="http://schemas.microsoft.com/office/drawing/2014/main" id="{77672CA9-A5AD-833A-2502-B06C35EAE272}"/>
              </a:ext>
            </a:extLst>
          </p:cNvPr>
          <p:cNvGrpSpPr/>
          <p:nvPr/>
        </p:nvGrpSpPr>
        <p:grpSpPr>
          <a:xfrm>
            <a:off x="0" y="-34245"/>
            <a:ext cx="12192000" cy="1291589"/>
            <a:chOff x="50800" y="0"/>
            <a:chExt cx="12141200" cy="1291589"/>
          </a:xfrm>
        </p:grpSpPr>
        <p:sp>
          <p:nvSpPr>
            <p:cNvPr id="8" name="object 3">
              <a:extLst>
                <a:ext uri="{FF2B5EF4-FFF2-40B4-BE49-F238E27FC236}">
                  <a16:creationId xmlns:a16="http://schemas.microsoft.com/office/drawing/2014/main" id="{0BD278DB-2F10-7E2A-A279-C114BC1C10DC}"/>
                </a:ext>
              </a:extLst>
            </p:cNvPr>
            <p:cNvSpPr/>
            <p:nvPr/>
          </p:nvSpPr>
          <p:spPr>
            <a:xfrm>
              <a:off x="50800" y="0"/>
              <a:ext cx="12141200" cy="1279525"/>
            </a:xfrm>
            <a:custGeom>
              <a:avLst/>
              <a:gdLst/>
              <a:ahLst/>
              <a:cxnLst/>
              <a:rect l="l" t="t" r="r" b="b"/>
              <a:pathLst>
                <a:path w="12141200" h="1279525">
                  <a:moveTo>
                    <a:pt x="12141200" y="0"/>
                  </a:moveTo>
                  <a:lnTo>
                    <a:pt x="0" y="0"/>
                  </a:lnTo>
                  <a:lnTo>
                    <a:pt x="0" y="1279525"/>
                  </a:lnTo>
                  <a:lnTo>
                    <a:pt x="12141200" y="1279525"/>
                  </a:lnTo>
                  <a:lnTo>
                    <a:pt x="12141200" y="0"/>
                  </a:lnTo>
                  <a:close/>
                </a:path>
              </a:pathLst>
            </a:custGeom>
            <a:solidFill>
              <a:srgbClr val="E28312"/>
            </a:solidFill>
          </p:spPr>
          <p:txBody>
            <a:bodyPr wrap="square" lIns="0" tIns="0" rIns="0" bIns="0" rtlCol="0"/>
            <a:lstStyle/>
            <a:p>
              <a:endParaRPr/>
            </a:p>
          </p:txBody>
        </p:sp>
        <p:sp>
          <p:nvSpPr>
            <p:cNvPr id="9" name="object 4">
              <a:extLst>
                <a:ext uri="{FF2B5EF4-FFF2-40B4-BE49-F238E27FC236}">
                  <a16:creationId xmlns:a16="http://schemas.microsoft.com/office/drawing/2014/main" id="{C2336714-0639-F2EB-89F6-B26CB74C6497}"/>
                </a:ext>
              </a:extLst>
            </p:cNvPr>
            <p:cNvSpPr/>
            <p:nvPr/>
          </p:nvSpPr>
          <p:spPr>
            <a:xfrm>
              <a:off x="50800" y="1266189"/>
              <a:ext cx="12141200" cy="25400"/>
            </a:xfrm>
            <a:custGeom>
              <a:avLst/>
              <a:gdLst/>
              <a:ahLst/>
              <a:cxnLst/>
              <a:rect l="l" t="t" r="r" b="b"/>
              <a:pathLst>
                <a:path w="12141200" h="25400">
                  <a:moveTo>
                    <a:pt x="12141200" y="0"/>
                  </a:moveTo>
                  <a:lnTo>
                    <a:pt x="0" y="0"/>
                  </a:lnTo>
                  <a:lnTo>
                    <a:pt x="0" y="25400"/>
                  </a:lnTo>
                  <a:lnTo>
                    <a:pt x="12141200" y="25400"/>
                  </a:lnTo>
                  <a:lnTo>
                    <a:pt x="12141200" y="0"/>
                  </a:lnTo>
                  <a:close/>
                </a:path>
              </a:pathLst>
            </a:custGeom>
            <a:solidFill>
              <a:srgbClr val="FFFFFF"/>
            </a:solidFill>
          </p:spPr>
          <p:txBody>
            <a:bodyPr wrap="square" lIns="0" tIns="0" rIns="0" bIns="0" rtlCol="0"/>
            <a:lstStyle/>
            <a:p>
              <a:endParaRPr/>
            </a:p>
          </p:txBody>
        </p:sp>
        <p:sp>
          <p:nvSpPr>
            <p:cNvPr id="10" name="object 5">
              <a:extLst>
                <a:ext uri="{FF2B5EF4-FFF2-40B4-BE49-F238E27FC236}">
                  <a16:creationId xmlns:a16="http://schemas.microsoft.com/office/drawing/2014/main" id="{E6A7B062-83D4-1398-4389-C5BD8F61721C}"/>
                </a:ext>
              </a:extLst>
            </p:cNvPr>
            <p:cNvSpPr/>
            <p:nvPr/>
          </p:nvSpPr>
          <p:spPr>
            <a:xfrm>
              <a:off x="50800" y="0"/>
              <a:ext cx="0" cy="1279525"/>
            </a:xfrm>
            <a:custGeom>
              <a:avLst/>
              <a:gdLst/>
              <a:ahLst/>
              <a:cxnLst/>
              <a:rect l="l" t="t" r="r" b="b"/>
              <a:pathLst>
                <a:path h="1279525">
                  <a:moveTo>
                    <a:pt x="0" y="0"/>
                  </a:moveTo>
                  <a:lnTo>
                    <a:pt x="0" y="1279525"/>
                  </a:lnTo>
                </a:path>
              </a:pathLst>
            </a:custGeom>
            <a:ln w="25400">
              <a:solidFill>
                <a:srgbClr val="FFFFFF"/>
              </a:solidFill>
            </a:ln>
          </p:spPr>
          <p:txBody>
            <a:bodyPr wrap="square" lIns="0" tIns="0" rIns="0" bIns="0" rtlCol="0"/>
            <a:lstStyle/>
            <a:p>
              <a:endParaRPr/>
            </a:p>
          </p:txBody>
        </p:sp>
      </p:grpSp>
      <p:sp>
        <p:nvSpPr>
          <p:cNvPr id="11" name="object 7">
            <a:extLst>
              <a:ext uri="{FF2B5EF4-FFF2-40B4-BE49-F238E27FC236}">
                <a16:creationId xmlns:a16="http://schemas.microsoft.com/office/drawing/2014/main" id="{F760EEEF-B78D-D8CD-7655-1F4935DD5D79}"/>
              </a:ext>
            </a:extLst>
          </p:cNvPr>
          <p:cNvSpPr txBox="1">
            <a:spLocks noGrp="1"/>
          </p:cNvSpPr>
          <p:nvPr>
            <p:ph type="title"/>
          </p:nvPr>
        </p:nvSpPr>
        <p:spPr>
          <a:xfrm>
            <a:off x="2315845" y="-179611"/>
            <a:ext cx="7560310" cy="1058623"/>
          </a:xfrm>
          <a:prstGeom prst="rect">
            <a:avLst/>
          </a:prstGeom>
        </p:spPr>
        <p:txBody>
          <a:bodyPr vert="horz" wrap="square" lIns="0" tIns="377825" rIns="0" bIns="0" rtlCol="0" anchor="t">
            <a:spAutoFit/>
          </a:bodyPr>
          <a:lstStyle/>
          <a:p>
            <a:pPr marL="1504315">
              <a:lnSpc>
                <a:spcPct val="100000"/>
              </a:lnSpc>
              <a:spcBef>
                <a:spcPts val="100"/>
              </a:spcBef>
            </a:pPr>
            <a:r>
              <a:rPr sz="4400" spc="-10" dirty="0"/>
              <a:t>Data</a:t>
            </a:r>
            <a:r>
              <a:rPr sz="4400" spc="-270" dirty="0"/>
              <a:t> </a:t>
            </a:r>
            <a:r>
              <a:rPr sz="4400" spc="-10" dirty="0"/>
              <a:t>Flow</a:t>
            </a:r>
            <a:r>
              <a:rPr sz="4400" spc="-265" dirty="0"/>
              <a:t> </a:t>
            </a:r>
            <a:r>
              <a:rPr sz="4400" spc="-10" dirty="0"/>
              <a:t>Diagram</a:t>
            </a:r>
            <a:endParaRPr lang="en-US" sz="4400" dirty="0"/>
          </a:p>
        </p:txBody>
      </p:sp>
      <p:sp>
        <p:nvSpPr>
          <p:cNvPr id="14" name="TextBox 13">
            <a:extLst>
              <a:ext uri="{FF2B5EF4-FFF2-40B4-BE49-F238E27FC236}">
                <a16:creationId xmlns:a16="http://schemas.microsoft.com/office/drawing/2014/main" id="{1472E3A6-8BF2-77EF-1A35-5216F291B94C}"/>
              </a:ext>
            </a:extLst>
          </p:cNvPr>
          <p:cNvSpPr txBox="1"/>
          <p:nvPr/>
        </p:nvSpPr>
        <p:spPr>
          <a:xfrm>
            <a:off x="152400" y="1395901"/>
            <a:ext cx="4507786" cy="646331"/>
          </a:xfrm>
          <a:prstGeom prst="rect">
            <a:avLst/>
          </a:prstGeom>
          <a:noFill/>
        </p:spPr>
        <p:txBody>
          <a:bodyPr wrap="square" rtlCol="0">
            <a:spAutoFit/>
          </a:bodyPr>
          <a:lstStyle/>
          <a:p>
            <a:r>
              <a:rPr lang="en-IN" b="1" dirty="0"/>
              <a:t>DFD Level 1:</a:t>
            </a:r>
          </a:p>
          <a:p>
            <a:endParaRPr lang="en-IN" dirty="0"/>
          </a:p>
        </p:txBody>
      </p:sp>
      <p:pic>
        <p:nvPicPr>
          <p:cNvPr id="2" name="Picture 1">
            <a:extLst>
              <a:ext uri="{FF2B5EF4-FFF2-40B4-BE49-F238E27FC236}">
                <a16:creationId xmlns:a16="http://schemas.microsoft.com/office/drawing/2014/main" id="{2391C18A-F38E-25D0-65CF-9E8C2B1C77C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4546"/>
          <a:stretch>
            <a:fillRect/>
          </a:stretch>
        </p:blipFill>
        <p:spPr bwMode="auto">
          <a:xfrm>
            <a:off x="3124200" y="1231944"/>
            <a:ext cx="6164025" cy="505639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57496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79D83-C98B-19E8-3E9A-CBC28008B709}"/>
            </a:ext>
          </a:extLst>
        </p:cNvPr>
        <p:cNvGrpSpPr/>
        <p:nvPr/>
      </p:nvGrpSpPr>
      <p:grpSpPr>
        <a:xfrm>
          <a:off x="0" y="0"/>
          <a:ext cx="0" cy="0"/>
          <a:chOff x="0" y="0"/>
          <a:chExt cx="0" cy="0"/>
        </a:xfrm>
      </p:grpSpPr>
      <p:sp>
        <p:nvSpPr>
          <p:cNvPr id="11" name="object 7">
            <a:extLst>
              <a:ext uri="{FF2B5EF4-FFF2-40B4-BE49-F238E27FC236}">
                <a16:creationId xmlns:a16="http://schemas.microsoft.com/office/drawing/2014/main" id="{1B983A0D-E922-93EB-FCAF-2D7A7FBE5A9F}"/>
              </a:ext>
            </a:extLst>
          </p:cNvPr>
          <p:cNvSpPr txBox="1">
            <a:spLocks noGrp="1"/>
          </p:cNvSpPr>
          <p:nvPr>
            <p:ph type="title"/>
          </p:nvPr>
        </p:nvSpPr>
        <p:spPr>
          <a:xfrm>
            <a:off x="-1219200" y="1676400"/>
            <a:ext cx="7560310" cy="1058623"/>
          </a:xfrm>
          <a:prstGeom prst="rect">
            <a:avLst/>
          </a:prstGeom>
        </p:spPr>
        <p:txBody>
          <a:bodyPr vert="horz" wrap="square" lIns="0" tIns="377825" rIns="0" bIns="0" rtlCol="0" anchor="t">
            <a:spAutoFit/>
          </a:bodyPr>
          <a:lstStyle/>
          <a:p>
            <a:pPr marL="1504315">
              <a:lnSpc>
                <a:spcPct val="100000"/>
              </a:lnSpc>
              <a:spcBef>
                <a:spcPts val="100"/>
              </a:spcBef>
            </a:pPr>
            <a:r>
              <a:rPr sz="4400" spc="-10" dirty="0">
                <a:solidFill>
                  <a:schemeClr val="tx1"/>
                </a:solidFill>
              </a:rPr>
              <a:t>Data</a:t>
            </a:r>
            <a:r>
              <a:rPr sz="4400" spc="-270" dirty="0">
                <a:solidFill>
                  <a:schemeClr val="tx1"/>
                </a:solidFill>
              </a:rPr>
              <a:t> </a:t>
            </a:r>
            <a:r>
              <a:rPr sz="4400" spc="-10" dirty="0">
                <a:solidFill>
                  <a:schemeClr val="tx1"/>
                </a:solidFill>
              </a:rPr>
              <a:t>Flow</a:t>
            </a:r>
            <a:r>
              <a:rPr sz="4400" spc="-265" dirty="0">
                <a:solidFill>
                  <a:schemeClr val="tx1"/>
                </a:solidFill>
              </a:rPr>
              <a:t> </a:t>
            </a:r>
            <a:r>
              <a:rPr sz="4400" spc="-10" dirty="0">
                <a:solidFill>
                  <a:schemeClr val="tx1"/>
                </a:solidFill>
              </a:rPr>
              <a:t>Diagram</a:t>
            </a:r>
            <a:endParaRPr lang="en-US" sz="4400" dirty="0">
              <a:solidFill>
                <a:schemeClr val="tx1"/>
              </a:solidFill>
            </a:endParaRPr>
          </a:p>
        </p:txBody>
      </p:sp>
      <p:sp>
        <p:nvSpPr>
          <p:cNvPr id="17" name="TextBox 16">
            <a:extLst>
              <a:ext uri="{FF2B5EF4-FFF2-40B4-BE49-F238E27FC236}">
                <a16:creationId xmlns:a16="http://schemas.microsoft.com/office/drawing/2014/main" id="{33FEE974-3F59-3EA3-9045-E04CE8A56156}"/>
              </a:ext>
            </a:extLst>
          </p:cNvPr>
          <p:cNvSpPr txBox="1"/>
          <p:nvPr/>
        </p:nvSpPr>
        <p:spPr>
          <a:xfrm>
            <a:off x="152400" y="2875002"/>
            <a:ext cx="6101254" cy="1107996"/>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DFD Level 2: </a:t>
            </a:r>
          </a:p>
          <a:p>
            <a:pPr>
              <a:buNone/>
            </a:pPr>
            <a:br>
              <a:rPr lang="en-US" dirty="0"/>
            </a:br>
            <a:endParaRPr lang="en-IN" dirty="0"/>
          </a:p>
        </p:txBody>
      </p:sp>
      <p:pic>
        <p:nvPicPr>
          <p:cNvPr id="2" name="Picture 1">
            <a:extLst>
              <a:ext uri="{FF2B5EF4-FFF2-40B4-BE49-F238E27FC236}">
                <a16:creationId xmlns:a16="http://schemas.microsoft.com/office/drawing/2014/main" id="{96FA5E1E-EC2D-9260-4E4A-2C7DA95D7911}"/>
              </a:ext>
            </a:extLst>
          </p:cNvPr>
          <p:cNvPicPr>
            <a:picLocks noChangeAspect="1"/>
          </p:cNvPicPr>
          <p:nvPr/>
        </p:nvPicPr>
        <p:blipFill>
          <a:blip r:embed="rId2"/>
          <a:stretch>
            <a:fillRect/>
          </a:stretch>
        </p:blipFill>
        <p:spPr>
          <a:xfrm>
            <a:off x="7094524" y="0"/>
            <a:ext cx="5060690" cy="6619992"/>
          </a:xfrm>
          <a:prstGeom prst="rect">
            <a:avLst/>
          </a:prstGeom>
        </p:spPr>
      </p:pic>
      <p:sp>
        <p:nvSpPr>
          <p:cNvPr id="3" name="Rectangle 2">
            <a:extLst>
              <a:ext uri="{FF2B5EF4-FFF2-40B4-BE49-F238E27FC236}">
                <a16:creationId xmlns:a16="http://schemas.microsoft.com/office/drawing/2014/main" id="{8061C262-EF27-9355-5EF3-4CA91DFA9D63}"/>
              </a:ext>
            </a:extLst>
          </p:cNvPr>
          <p:cNvSpPr/>
          <p:nvPr/>
        </p:nvSpPr>
        <p:spPr>
          <a:xfrm>
            <a:off x="7467600" y="6400800"/>
            <a:ext cx="533400" cy="219192"/>
          </a:xfrm>
          <a:prstGeom prst="rect">
            <a:avLst/>
          </a:prstGeom>
          <a:solidFill>
            <a:srgbClr val="CC6B40"/>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9585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D246-22A4-A65B-75C6-090B861FDB50}"/>
              </a:ext>
            </a:extLst>
          </p:cNvPr>
          <p:cNvSpPr>
            <a:spLocks noGrp="1"/>
          </p:cNvSpPr>
          <p:nvPr>
            <p:ph type="title"/>
          </p:nvPr>
        </p:nvSpPr>
        <p:spPr/>
        <p:txBody>
          <a:bodyPr/>
          <a:lstStyle/>
          <a:p>
            <a:endParaRPr lang="en-IN" dirty="0"/>
          </a:p>
        </p:txBody>
      </p:sp>
      <p:pic>
        <p:nvPicPr>
          <p:cNvPr id="6" name="Graphic 5">
            <a:extLst>
              <a:ext uri="{FF2B5EF4-FFF2-40B4-BE49-F238E27FC236}">
                <a16:creationId xmlns:a16="http://schemas.microsoft.com/office/drawing/2014/main" id="{EF85B09F-D23B-D262-2CC7-B5A77EB3B2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89698" y="838200"/>
            <a:ext cx="7762554" cy="5715000"/>
          </a:xfrm>
          <a:prstGeom prst="rect">
            <a:avLst/>
          </a:prstGeom>
        </p:spPr>
      </p:pic>
      <p:grpSp>
        <p:nvGrpSpPr>
          <p:cNvPr id="7" name="object 2">
            <a:extLst>
              <a:ext uri="{FF2B5EF4-FFF2-40B4-BE49-F238E27FC236}">
                <a16:creationId xmlns:a16="http://schemas.microsoft.com/office/drawing/2014/main" id="{9534AD7B-258D-33AF-3574-0C8FFAFBF83E}"/>
              </a:ext>
            </a:extLst>
          </p:cNvPr>
          <p:cNvGrpSpPr/>
          <p:nvPr/>
        </p:nvGrpSpPr>
        <p:grpSpPr>
          <a:xfrm>
            <a:off x="50800" y="-34244"/>
            <a:ext cx="12141200" cy="989856"/>
            <a:chOff x="50800" y="0"/>
            <a:chExt cx="12141200" cy="1291589"/>
          </a:xfrm>
        </p:grpSpPr>
        <p:sp>
          <p:nvSpPr>
            <p:cNvPr id="8" name="object 3">
              <a:extLst>
                <a:ext uri="{FF2B5EF4-FFF2-40B4-BE49-F238E27FC236}">
                  <a16:creationId xmlns:a16="http://schemas.microsoft.com/office/drawing/2014/main" id="{88BEBBA3-2224-9929-F634-15BCB9DE54B9}"/>
                </a:ext>
              </a:extLst>
            </p:cNvPr>
            <p:cNvSpPr/>
            <p:nvPr/>
          </p:nvSpPr>
          <p:spPr>
            <a:xfrm>
              <a:off x="50800" y="0"/>
              <a:ext cx="12141200" cy="1279525"/>
            </a:xfrm>
            <a:custGeom>
              <a:avLst/>
              <a:gdLst/>
              <a:ahLst/>
              <a:cxnLst/>
              <a:rect l="l" t="t" r="r" b="b"/>
              <a:pathLst>
                <a:path w="12141200" h="1279525">
                  <a:moveTo>
                    <a:pt x="12141200" y="0"/>
                  </a:moveTo>
                  <a:lnTo>
                    <a:pt x="0" y="0"/>
                  </a:lnTo>
                  <a:lnTo>
                    <a:pt x="0" y="1279525"/>
                  </a:lnTo>
                  <a:lnTo>
                    <a:pt x="12141200" y="1279525"/>
                  </a:lnTo>
                  <a:lnTo>
                    <a:pt x="12141200" y="0"/>
                  </a:lnTo>
                  <a:close/>
                </a:path>
              </a:pathLst>
            </a:custGeom>
            <a:solidFill>
              <a:srgbClr val="E28312"/>
            </a:solidFill>
          </p:spPr>
          <p:txBody>
            <a:bodyPr wrap="square" lIns="0" tIns="0" rIns="0" bIns="0" rtlCol="0"/>
            <a:lstStyle/>
            <a:p>
              <a:endParaRPr/>
            </a:p>
          </p:txBody>
        </p:sp>
        <p:sp>
          <p:nvSpPr>
            <p:cNvPr id="9" name="object 4">
              <a:extLst>
                <a:ext uri="{FF2B5EF4-FFF2-40B4-BE49-F238E27FC236}">
                  <a16:creationId xmlns:a16="http://schemas.microsoft.com/office/drawing/2014/main" id="{E81B388A-16A8-B829-8C34-A750FE2164B3}"/>
                </a:ext>
              </a:extLst>
            </p:cNvPr>
            <p:cNvSpPr/>
            <p:nvPr/>
          </p:nvSpPr>
          <p:spPr>
            <a:xfrm>
              <a:off x="50800" y="1266189"/>
              <a:ext cx="12141200" cy="25400"/>
            </a:xfrm>
            <a:custGeom>
              <a:avLst/>
              <a:gdLst/>
              <a:ahLst/>
              <a:cxnLst/>
              <a:rect l="l" t="t" r="r" b="b"/>
              <a:pathLst>
                <a:path w="12141200" h="25400">
                  <a:moveTo>
                    <a:pt x="12141200" y="0"/>
                  </a:moveTo>
                  <a:lnTo>
                    <a:pt x="0" y="0"/>
                  </a:lnTo>
                  <a:lnTo>
                    <a:pt x="0" y="25400"/>
                  </a:lnTo>
                  <a:lnTo>
                    <a:pt x="12141200" y="25400"/>
                  </a:lnTo>
                  <a:lnTo>
                    <a:pt x="12141200" y="0"/>
                  </a:lnTo>
                  <a:close/>
                </a:path>
              </a:pathLst>
            </a:custGeom>
            <a:solidFill>
              <a:srgbClr val="FFFFFF"/>
            </a:solidFill>
          </p:spPr>
          <p:txBody>
            <a:bodyPr wrap="square" lIns="0" tIns="0" rIns="0" bIns="0" rtlCol="0"/>
            <a:lstStyle/>
            <a:p>
              <a:endParaRPr/>
            </a:p>
          </p:txBody>
        </p:sp>
        <p:sp>
          <p:nvSpPr>
            <p:cNvPr id="10" name="object 5">
              <a:extLst>
                <a:ext uri="{FF2B5EF4-FFF2-40B4-BE49-F238E27FC236}">
                  <a16:creationId xmlns:a16="http://schemas.microsoft.com/office/drawing/2014/main" id="{252FF9F1-C533-2555-19BA-91FE8AA699ED}"/>
                </a:ext>
              </a:extLst>
            </p:cNvPr>
            <p:cNvSpPr/>
            <p:nvPr/>
          </p:nvSpPr>
          <p:spPr>
            <a:xfrm>
              <a:off x="50800" y="0"/>
              <a:ext cx="0" cy="1279525"/>
            </a:xfrm>
            <a:custGeom>
              <a:avLst/>
              <a:gdLst/>
              <a:ahLst/>
              <a:cxnLst/>
              <a:rect l="l" t="t" r="r" b="b"/>
              <a:pathLst>
                <a:path h="1279525">
                  <a:moveTo>
                    <a:pt x="0" y="0"/>
                  </a:moveTo>
                  <a:lnTo>
                    <a:pt x="0" y="1279525"/>
                  </a:lnTo>
                </a:path>
              </a:pathLst>
            </a:custGeom>
            <a:ln w="25400">
              <a:solidFill>
                <a:srgbClr val="FFFFFF"/>
              </a:solidFill>
            </a:ln>
          </p:spPr>
          <p:txBody>
            <a:bodyPr wrap="square" lIns="0" tIns="0" rIns="0" bIns="0" rtlCol="0"/>
            <a:lstStyle/>
            <a:p>
              <a:endParaRPr/>
            </a:p>
          </p:txBody>
        </p:sp>
      </p:grpSp>
      <p:sp>
        <p:nvSpPr>
          <p:cNvPr id="11" name="object 7">
            <a:extLst>
              <a:ext uri="{FF2B5EF4-FFF2-40B4-BE49-F238E27FC236}">
                <a16:creationId xmlns:a16="http://schemas.microsoft.com/office/drawing/2014/main" id="{FDA67992-8321-65D8-AF86-C37941086390}"/>
              </a:ext>
            </a:extLst>
          </p:cNvPr>
          <p:cNvSpPr txBox="1">
            <a:spLocks/>
          </p:cNvSpPr>
          <p:nvPr/>
        </p:nvSpPr>
        <p:spPr>
          <a:xfrm>
            <a:off x="2209800" y="-121068"/>
            <a:ext cx="7560310" cy="1058623"/>
          </a:xfrm>
          <a:prstGeom prst="rect">
            <a:avLst/>
          </a:prstGeom>
        </p:spPr>
        <p:txBody>
          <a:bodyPr vert="horz" wrap="square" lIns="0" tIns="377825" rIns="0" bIns="0" rtlCol="0" anchor="t">
            <a:spAutoFit/>
          </a:bodyPr>
          <a:lstStyle>
            <a:lvl1pPr>
              <a:defRPr sz="4000" b="0" i="0">
                <a:solidFill>
                  <a:schemeClr val="bg1"/>
                </a:solidFill>
                <a:latin typeface="Arial Black"/>
                <a:ea typeface="+mj-ea"/>
                <a:cs typeface="Arial Black"/>
              </a:defRPr>
            </a:lvl1pPr>
          </a:lstStyle>
          <a:p>
            <a:pPr marL="1504315">
              <a:spcBef>
                <a:spcPts val="100"/>
              </a:spcBef>
            </a:pPr>
            <a:r>
              <a:rPr lang="en-US" sz="4400" spc="-10" dirty="0"/>
              <a:t>Sequence</a:t>
            </a:r>
            <a:r>
              <a:rPr lang="en-IN" sz="4400" spc="-10" dirty="0"/>
              <a:t> Diagram</a:t>
            </a:r>
            <a:endParaRPr lang="en-IN" sz="4400" dirty="0"/>
          </a:p>
        </p:txBody>
      </p:sp>
    </p:spTree>
    <p:extLst>
      <p:ext uri="{BB962C8B-B14F-4D97-AF65-F5344CB8AC3E}">
        <p14:creationId xmlns:p14="http://schemas.microsoft.com/office/powerpoint/2010/main" val="370281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9E27207-4209-EABA-2193-0E26AEC9D4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00" y="913056"/>
            <a:ext cx="12141200" cy="5260720"/>
          </a:xfrm>
          <a:prstGeom prst="rect">
            <a:avLst/>
          </a:prstGeom>
        </p:spPr>
      </p:pic>
      <p:grpSp>
        <p:nvGrpSpPr>
          <p:cNvPr id="7" name="object 2">
            <a:extLst>
              <a:ext uri="{FF2B5EF4-FFF2-40B4-BE49-F238E27FC236}">
                <a16:creationId xmlns:a16="http://schemas.microsoft.com/office/drawing/2014/main" id="{86231D36-8DD1-DBF8-EC9C-A63A0DB7EA6D}"/>
              </a:ext>
            </a:extLst>
          </p:cNvPr>
          <p:cNvGrpSpPr/>
          <p:nvPr/>
        </p:nvGrpSpPr>
        <p:grpSpPr>
          <a:xfrm>
            <a:off x="0" y="-9889"/>
            <a:ext cx="12268200" cy="948645"/>
            <a:chOff x="50800" y="0"/>
            <a:chExt cx="12141200" cy="1291589"/>
          </a:xfrm>
        </p:grpSpPr>
        <p:sp>
          <p:nvSpPr>
            <p:cNvPr id="8" name="object 3">
              <a:extLst>
                <a:ext uri="{FF2B5EF4-FFF2-40B4-BE49-F238E27FC236}">
                  <a16:creationId xmlns:a16="http://schemas.microsoft.com/office/drawing/2014/main" id="{1FC00216-349E-BF32-2087-9F2A528553B2}"/>
                </a:ext>
              </a:extLst>
            </p:cNvPr>
            <p:cNvSpPr/>
            <p:nvPr/>
          </p:nvSpPr>
          <p:spPr>
            <a:xfrm>
              <a:off x="50800" y="0"/>
              <a:ext cx="12141200" cy="1279525"/>
            </a:xfrm>
            <a:custGeom>
              <a:avLst/>
              <a:gdLst/>
              <a:ahLst/>
              <a:cxnLst/>
              <a:rect l="l" t="t" r="r" b="b"/>
              <a:pathLst>
                <a:path w="12141200" h="1279525">
                  <a:moveTo>
                    <a:pt x="12141200" y="0"/>
                  </a:moveTo>
                  <a:lnTo>
                    <a:pt x="0" y="0"/>
                  </a:lnTo>
                  <a:lnTo>
                    <a:pt x="0" y="1279525"/>
                  </a:lnTo>
                  <a:lnTo>
                    <a:pt x="12141200" y="1279525"/>
                  </a:lnTo>
                  <a:lnTo>
                    <a:pt x="12141200" y="0"/>
                  </a:lnTo>
                  <a:close/>
                </a:path>
              </a:pathLst>
            </a:custGeom>
            <a:solidFill>
              <a:srgbClr val="E28312"/>
            </a:solidFill>
          </p:spPr>
          <p:txBody>
            <a:bodyPr wrap="square" lIns="0" tIns="0" rIns="0" bIns="0" rtlCol="0"/>
            <a:lstStyle/>
            <a:p>
              <a:endParaRPr/>
            </a:p>
          </p:txBody>
        </p:sp>
        <p:sp>
          <p:nvSpPr>
            <p:cNvPr id="9" name="object 4">
              <a:extLst>
                <a:ext uri="{FF2B5EF4-FFF2-40B4-BE49-F238E27FC236}">
                  <a16:creationId xmlns:a16="http://schemas.microsoft.com/office/drawing/2014/main" id="{E05C2EED-D2CD-8895-C547-C7B445EEC66E}"/>
                </a:ext>
              </a:extLst>
            </p:cNvPr>
            <p:cNvSpPr/>
            <p:nvPr/>
          </p:nvSpPr>
          <p:spPr>
            <a:xfrm>
              <a:off x="50800" y="1266189"/>
              <a:ext cx="12141200" cy="25400"/>
            </a:xfrm>
            <a:custGeom>
              <a:avLst/>
              <a:gdLst/>
              <a:ahLst/>
              <a:cxnLst/>
              <a:rect l="l" t="t" r="r" b="b"/>
              <a:pathLst>
                <a:path w="12141200" h="25400">
                  <a:moveTo>
                    <a:pt x="12141200" y="0"/>
                  </a:moveTo>
                  <a:lnTo>
                    <a:pt x="0" y="0"/>
                  </a:lnTo>
                  <a:lnTo>
                    <a:pt x="0" y="25400"/>
                  </a:lnTo>
                  <a:lnTo>
                    <a:pt x="12141200" y="25400"/>
                  </a:lnTo>
                  <a:lnTo>
                    <a:pt x="12141200" y="0"/>
                  </a:lnTo>
                  <a:close/>
                </a:path>
              </a:pathLst>
            </a:custGeom>
            <a:solidFill>
              <a:srgbClr val="FFFFFF"/>
            </a:solidFill>
          </p:spPr>
          <p:txBody>
            <a:bodyPr wrap="square" lIns="0" tIns="0" rIns="0" bIns="0" rtlCol="0"/>
            <a:lstStyle/>
            <a:p>
              <a:endParaRPr/>
            </a:p>
          </p:txBody>
        </p:sp>
        <p:sp>
          <p:nvSpPr>
            <p:cNvPr id="10" name="object 5">
              <a:extLst>
                <a:ext uri="{FF2B5EF4-FFF2-40B4-BE49-F238E27FC236}">
                  <a16:creationId xmlns:a16="http://schemas.microsoft.com/office/drawing/2014/main" id="{C3F97893-F36A-EB26-45E0-977B2C5CAAA1}"/>
                </a:ext>
              </a:extLst>
            </p:cNvPr>
            <p:cNvSpPr/>
            <p:nvPr/>
          </p:nvSpPr>
          <p:spPr>
            <a:xfrm>
              <a:off x="50800" y="0"/>
              <a:ext cx="0" cy="1279525"/>
            </a:xfrm>
            <a:custGeom>
              <a:avLst/>
              <a:gdLst/>
              <a:ahLst/>
              <a:cxnLst/>
              <a:rect l="l" t="t" r="r" b="b"/>
              <a:pathLst>
                <a:path h="1279525">
                  <a:moveTo>
                    <a:pt x="0" y="0"/>
                  </a:moveTo>
                  <a:lnTo>
                    <a:pt x="0" y="1279525"/>
                  </a:lnTo>
                </a:path>
              </a:pathLst>
            </a:custGeom>
            <a:ln w="25400">
              <a:solidFill>
                <a:srgbClr val="FFFFFF"/>
              </a:solidFill>
            </a:ln>
          </p:spPr>
          <p:txBody>
            <a:bodyPr wrap="square" lIns="0" tIns="0" rIns="0" bIns="0" rtlCol="0"/>
            <a:lstStyle/>
            <a:p>
              <a:endParaRPr/>
            </a:p>
          </p:txBody>
        </p:sp>
      </p:grpSp>
      <p:sp>
        <p:nvSpPr>
          <p:cNvPr id="11" name="object 7">
            <a:extLst>
              <a:ext uri="{FF2B5EF4-FFF2-40B4-BE49-F238E27FC236}">
                <a16:creationId xmlns:a16="http://schemas.microsoft.com/office/drawing/2014/main" id="{A1854074-02D8-9AFA-35B7-C98C30B11B42}"/>
              </a:ext>
            </a:extLst>
          </p:cNvPr>
          <p:cNvSpPr txBox="1">
            <a:spLocks/>
          </p:cNvSpPr>
          <p:nvPr/>
        </p:nvSpPr>
        <p:spPr>
          <a:xfrm>
            <a:off x="2353945" y="-228600"/>
            <a:ext cx="7560310" cy="1058623"/>
          </a:xfrm>
          <a:prstGeom prst="rect">
            <a:avLst/>
          </a:prstGeom>
        </p:spPr>
        <p:txBody>
          <a:bodyPr vert="horz" wrap="square" lIns="0" tIns="377825" rIns="0" bIns="0" rtlCol="0" anchor="t">
            <a:spAutoFit/>
          </a:bodyPr>
          <a:lstStyle>
            <a:lvl1pPr>
              <a:defRPr sz="4000" b="0" i="0">
                <a:solidFill>
                  <a:schemeClr val="bg1"/>
                </a:solidFill>
                <a:latin typeface="Arial Black"/>
                <a:ea typeface="+mj-ea"/>
                <a:cs typeface="Arial Black"/>
              </a:defRPr>
            </a:lvl1pPr>
          </a:lstStyle>
          <a:p>
            <a:pPr marL="1504315">
              <a:spcBef>
                <a:spcPts val="100"/>
              </a:spcBef>
            </a:pPr>
            <a:r>
              <a:rPr lang="en-US" sz="4400" dirty="0"/>
              <a:t>Class Diagram</a:t>
            </a:r>
            <a:endParaRPr lang="en-IN" sz="4400" dirty="0"/>
          </a:p>
        </p:txBody>
      </p:sp>
    </p:spTree>
    <p:extLst>
      <p:ext uri="{BB962C8B-B14F-4D97-AF65-F5344CB8AC3E}">
        <p14:creationId xmlns:p14="http://schemas.microsoft.com/office/powerpoint/2010/main" val="216218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object 2">
            <a:extLst>
              <a:ext uri="{FF2B5EF4-FFF2-40B4-BE49-F238E27FC236}">
                <a16:creationId xmlns:a16="http://schemas.microsoft.com/office/drawing/2014/main" id="{6551E29C-E4E8-DF30-CFE3-EF32F86957AF}"/>
              </a:ext>
            </a:extLst>
          </p:cNvPr>
          <p:cNvGrpSpPr/>
          <p:nvPr/>
        </p:nvGrpSpPr>
        <p:grpSpPr>
          <a:xfrm>
            <a:off x="0" y="-1752600"/>
            <a:ext cx="12143828" cy="3080043"/>
            <a:chOff x="48172" y="0"/>
            <a:chExt cx="12143828" cy="3080043"/>
          </a:xfrm>
        </p:grpSpPr>
        <p:sp>
          <p:nvSpPr>
            <p:cNvPr id="11" name="object 3">
              <a:extLst>
                <a:ext uri="{FF2B5EF4-FFF2-40B4-BE49-F238E27FC236}">
                  <a16:creationId xmlns:a16="http://schemas.microsoft.com/office/drawing/2014/main" id="{4C58C618-D09D-3C2E-B789-D32521D4AEF3}"/>
                </a:ext>
              </a:extLst>
            </p:cNvPr>
            <p:cNvSpPr/>
            <p:nvPr/>
          </p:nvSpPr>
          <p:spPr>
            <a:xfrm>
              <a:off x="48172" y="1800518"/>
              <a:ext cx="12141200" cy="1279525"/>
            </a:xfrm>
            <a:custGeom>
              <a:avLst/>
              <a:gdLst/>
              <a:ahLst/>
              <a:cxnLst/>
              <a:rect l="l" t="t" r="r" b="b"/>
              <a:pathLst>
                <a:path w="12141200" h="1279525">
                  <a:moveTo>
                    <a:pt x="12141200" y="0"/>
                  </a:moveTo>
                  <a:lnTo>
                    <a:pt x="0" y="0"/>
                  </a:lnTo>
                  <a:lnTo>
                    <a:pt x="0" y="1279525"/>
                  </a:lnTo>
                  <a:lnTo>
                    <a:pt x="12141200" y="1279525"/>
                  </a:lnTo>
                  <a:lnTo>
                    <a:pt x="12141200" y="0"/>
                  </a:lnTo>
                  <a:close/>
                </a:path>
              </a:pathLst>
            </a:custGeom>
            <a:solidFill>
              <a:srgbClr val="E28312"/>
            </a:solidFill>
          </p:spPr>
          <p:txBody>
            <a:bodyPr wrap="square" lIns="0" tIns="0" rIns="0" bIns="0" rtlCol="0"/>
            <a:lstStyle/>
            <a:p>
              <a:endParaRPr dirty="0"/>
            </a:p>
          </p:txBody>
        </p:sp>
        <p:sp>
          <p:nvSpPr>
            <p:cNvPr id="12" name="object 4">
              <a:extLst>
                <a:ext uri="{FF2B5EF4-FFF2-40B4-BE49-F238E27FC236}">
                  <a16:creationId xmlns:a16="http://schemas.microsoft.com/office/drawing/2014/main" id="{B37FC202-2B04-766E-5932-945BD68AF192}"/>
                </a:ext>
              </a:extLst>
            </p:cNvPr>
            <p:cNvSpPr/>
            <p:nvPr/>
          </p:nvSpPr>
          <p:spPr>
            <a:xfrm>
              <a:off x="50800" y="1266189"/>
              <a:ext cx="12141200" cy="25400"/>
            </a:xfrm>
            <a:custGeom>
              <a:avLst/>
              <a:gdLst/>
              <a:ahLst/>
              <a:cxnLst/>
              <a:rect l="l" t="t" r="r" b="b"/>
              <a:pathLst>
                <a:path w="12141200" h="25400">
                  <a:moveTo>
                    <a:pt x="12141200" y="0"/>
                  </a:moveTo>
                  <a:lnTo>
                    <a:pt x="0" y="0"/>
                  </a:lnTo>
                  <a:lnTo>
                    <a:pt x="0" y="25400"/>
                  </a:lnTo>
                  <a:lnTo>
                    <a:pt x="12141200" y="25400"/>
                  </a:lnTo>
                  <a:lnTo>
                    <a:pt x="12141200" y="0"/>
                  </a:lnTo>
                  <a:close/>
                </a:path>
              </a:pathLst>
            </a:custGeom>
            <a:solidFill>
              <a:srgbClr val="FFFFFF"/>
            </a:solidFill>
          </p:spPr>
          <p:txBody>
            <a:bodyPr wrap="square" lIns="0" tIns="0" rIns="0" bIns="0" rtlCol="0"/>
            <a:lstStyle/>
            <a:p>
              <a:endParaRPr/>
            </a:p>
          </p:txBody>
        </p:sp>
        <p:sp>
          <p:nvSpPr>
            <p:cNvPr id="13" name="object 5">
              <a:extLst>
                <a:ext uri="{FF2B5EF4-FFF2-40B4-BE49-F238E27FC236}">
                  <a16:creationId xmlns:a16="http://schemas.microsoft.com/office/drawing/2014/main" id="{651CAFCC-CD4A-0AAD-7E83-B1E11709B6D6}"/>
                </a:ext>
              </a:extLst>
            </p:cNvPr>
            <p:cNvSpPr/>
            <p:nvPr/>
          </p:nvSpPr>
          <p:spPr>
            <a:xfrm>
              <a:off x="50800" y="0"/>
              <a:ext cx="0" cy="1279525"/>
            </a:xfrm>
            <a:custGeom>
              <a:avLst/>
              <a:gdLst/>
              <a:ahLst/>
              <a:cxnLst/>
              <a:rect l="l" t="t" r="r" b="b"/>
              <a:pathLst>
                <a:path h="1279525">
                  <a:moveTo>
                    <a:pt x="0" y="0"/>
                  </a:moveTo>
                  <a:lnTo>
                    <a:pt x="0" y="1279525"/>
                  </a:lnTo>
                </a:path>
              </a:pathLst>
            </a:custGeom>
            <a:ln w="25400">
              <a:solidFill>
                <a:srgbClr val="FFFFFF"/>
              </a:solidFill>
            </a:ln>
          </p:spPr>
          <p:txBody>
            <a:bodyPr wrap="square" lIns="0" tIns="0" rIns="0" bIns="0" rtlCol="0"/>
            <a:lstStyle/>
            <a:p>
              <a:endParaRPr/>
            </a:p>
          </p:txBody>
        </p:sp>
      </p:grpSp>
      <p:pic>
        <p:nvPicPr>
          <p:cNvPr id="3" name="Image 0" descr="preencoded.png">
            <a:extLst>
              <a:ext uri="{FF2B5EF4-FFF2-40B4-BE49-F238E27FC236}">
                <a16:creationId xmlns:a16="http://schemas.microsoft.com/office/drawing/2014/main" id="{AD30EF8B-E367-53EC-9033-3B33EF08C739}"/>
              </a:ext>
            </a:extLst>
          </p:cNvPr>
          <p:cNvPicPr>
            <a:picLocks noChangeAspect="1"/>
          </p:cNvPicPr>
          <p:nvPr/>
        </p:nvPicPr>
        <p:blipFill>
          <a:blip r:embed="rId2"/>
          <a:srcRect l="3935" b="6954"/>
          <a:stretch>
            <a:fillRect/>
          </a:stretch>
        </p:blipFill>
        <p:spPr>
          <a:xfrm>
            <a:off x="6974699" y="0"/>
            <a:ext cx="5217301" cy="6514087"/>
          </a:xfrm>
          <a:prstGeom prst="rect">
            <a:avLst/>
          </a:prstGeom>
        </p:spPr>
      </p:pic>
      <p:sp>
        <p:nvSpPr>
          <p:cNvPr id="9" name="object 7">
            <a:extLst>
              <a:ext uri="{FF2B5EF4-FFF2-40B4-BE49-F238E27FC236}">
                <a16:creationId xmlns:a16="http://schemas.microsoft.com/office/drawing/2014/main" id="{CED524A5-5DF9-A252-2342-DE14481D1826}"/>
              </a:ext>
            </a:extLst>
          </p:cNvPr>
          <p:cNvSpPr txBox="1">
            <a:spLocks/>
          </p:cNvSpPr>
          <p:nvPr/>
        </p:nvSpPr>
        <p:spPr>
          <a:xfrm>
            <a:off x="-762000" y="59982"/>
            <a:ext cx="7560310" cy="1058623"/>
          </a:xfrm>
          <a:prstGeom prst="rect">
            <a:avLst/>
          </a:prstGeom>
        </p:spPr>
        <p:txBody>
          <a:bodyPr vert="horz" wrap="square" lIns="0" tIns="377825" rIns="0" bIns="0" rtlCol="0" anchor="t">
            <a:spAutoFit/>
          </a:bodyPr>
          <a:lstStyle>
            <a:lvl1pPr>
              <a:defRPr sz="4000" b="0" i="0">
                <a:solidFill>
                  <a:schemeClr val="bg1"/>
                </a:solidFill>
                <a:latin typeface="Arial Black"/>
                <a:ea typeface="+mj-ea"/>
                <a:cs typeface="Arial Black"/>
              </a:defRPr>
            </a:lvl1pPr>
          </a:lstStyle>
          <a:p>
            <a:pPr marL="1504315">
              <a:spcBef>
                <a:spcPts val="100"/>
              </a:spcBef>
            </a:pPr>
            <a:r>
              <a:rPr lang="en-US" sz="4400" spc="-10" dirty="0"/>
              <a:t>A</a:t>
            </a:r>
            <a:r>
              <a:rPr lang="en-IN" sz="4400" spc="-10" dirty="0" err="1"/>
              <a:t>ctivity</a:t>
            </a:r>
            <a:r>
              <a:rPr lang="en-IN" sz="4400" spc="-10" dirty="0"/>
              <a:t> Diagram</a:t>
            </a:r>
            <a:endParaRPr lang="en-IN" sz="4400" dirty="0"/>
          </a:p>
        </p:txBody>
      </p:sp>
    </p:spTree>
    <p:extLst>
      <p:ext uri="{BB962C8B-B14F-4D97-AF65-F5344CB8AC3E}">
        <p14:creationId xmlns:p14="http://schemas.microsoft.com/office/powerpoint/2010/main" val="3657343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EA457-9961-729A-0452-0DCC995AA608}"/>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E91558B-105D-4CA9-0DD5-82C30F1D63B3}"/>
              </a:ext>
            </a:extLst>
          </p:cNvPr>
          <p:cNvGrpSpPr/>
          <p:nvPr/>
        </p:nvGrpSpPr>
        <p:grpSpPr>
          <a:xfrm>
            <a:off x="0" y="-3437"/>
            <a:ext cx="12141200" cy="1291589"/>
            <a:chOff x="50800" y="0"/>
            <a:chExt cx="12141200" cy="1291589"/>
          </a:xfrm>
        </p:grpSpPr>
        <p:sp>
          <p:nvSpPr>
            <p:cNvPr id="3" name="object 3">
              <a:extLst>
                <a:ext uri="{FF2B5EF4-FFF2-40B4-BE49-F238E27FC236}">
                  <a16:creationId xmlns:a16="http://schemas.microsoft.com/office/drawing/2014/main" id="{F7896279-F4D9-58B0-E094-C67ADF6AA66D}"/>
                </a:ext>
              </a:extLst>
            </p:cNvPr>
            <p:cNvSpPr/>
            <p:nvPr/>
          </p:nvSpPr>
          <p:spPr>
            <a:xfrm>
              <a:off x="50800" y="0"/>
              <a:ext cx="12141200" cy="1279525"/>
            </a:xfrm>
            <a:custGeom>
              <a:avLst/>
              <a:gdLst/>
              <a:ahLst/>
              <a:cxnLst/>
              <a:rect l="l" t="t" r="r" b="b"/>
              <a:pathLst>
                <a:path w="12141200" h="1279525">
                  <a:moveTo>
                    <a:pt x="12141200" y="0"/>
                  </a:moveTo>
                  <a:lnTo>
                    <a:pt x="0" y="0"/>
                  </a:lnTo>
                  <a:lnTo>
                    <a:pt x="0" y="1279525"/>
                  </a:lnTo>
                  <a:lnTo>
                    <a:pt x="12141200" y="1279525"/>
                  </a:lnTo>
                  <a:lnTo>
                    <a:pt x="12141200" y="0"/>
                  </a:lnTo>
                  <a:close/>
                </a:path>
              </a:pathLst>
            </a:custGeom>
            <a:solidFill>
              <a:srgbClr val="E28312"/>
            </a:solidFill>
          </p:spPr>
          <p:txBody>
            <a:bodyPr wrap="square" lIns="0" tIns="0" rIns="0" bIns="0" rtlCol="0"/>
            <a:lstStyle/>
            <a:p>
              <a:endParaRPr/>
            </a:p>
          </p:txBody>
        </p:sp>
        <p:sp>
          <p:nvSpPr>
            <p:cNvPr id="4" name="object 4">
              <a:extLst>
                <a:ext uri="{FF2B5EF4-FFF2-40B4-BE49-F238E27FC236}">
                  <a16:creationId xmlns:a16="http://schemas.microsoft.com/office/drawing/2014/main" id="{D00C5252-683D-8CEB-3398-9C317BB23BEF}"/>
                </a:ext>
              </a:extLst>
            </p:cNvPr>
            <p:cNvSpPr/>
            <p:nvPr/>
          </p:nvSpPr>
          <p:spPr>
            <a:xfrm>
              <a:off x="50800" y="1266189"/>
              <a:ext cx="12141200" cy="25400"/>
            </a:xfrm>
            <a:custGeom>
              <a:avLst/>
              <a:gdLst/>
              <a:ahLst/>
              <a:cxnLst/>
              <a:rect l="l" t="t" r="r" b="b"/>
              <a:pathLst>
                <a:path w="12141200" h="25400">
                  <a:moveTo>
                    <a:pt x="12141200" y="0"/>
                  </a:moveTo>
                  <a:lnTo>
                    <a:pt x="0" y="0"/>
                  </a:lnTo>
                  <a:lnTo>
                    <a:pt x="0" y="25400"/>
                  </a:lnTo>
                  <a:lnTo>
                    <a:pt x="12141200" y="25400"/>
                  </a:lnTo>
                  <a:lnTo>
                    <a:pt x="12141200" y="0"/>
                  </a:lnTo>
                  <a:close/>
                </a:path>
              </a:pathLst>
            </a:custGeom>
            <a:solidFill>
              <a:srgbClr val="FFFFFF"/>
            </a:solidFill>
          </p:spPr>
          <p:txBody>
            <a:bodyPr wrap="square" lIns="0" tIns="0" rIns="0" bIns="0" rtlCol="0"/>
            <a:lstStyle/>
            <a:p>
              <a:endParaRPr/>
            </a:p>
          </p:txBody>
        </p:sp>
        <p:sp>
          <p:nvSpPr>
            <p:cNvPr id="5" name="object 5">
              <a:extLst>
                <a:ext uri="{FF2B5EF4-FFF2-40B4-BE49-F238E27FC236}">
                  <a16:creationId xmlns:a16="http://schemas.microsoft.com/office/drawing/2014/main" id="{02DDF6B2-56D5-9864-0C5F-DBEDFEB2C9C0}"/>
                </a:ext>
              </a:extLst>
            </p:cNvPr>
            <p:cNvSpPr/>
            <p:nvPr/>
          </p:nvSpPr>
          <p:spPr>
            <a:xfrm>
              <a:off x="50800" y="0"/>
              <a:ext cx="0" cy="1279525"/>
            </a:xfrm>
            <a:custGeom>
              <a:avLst/>
              <a:gdLst/>
              <a:ahLst/>
              <a:cxnLst/>
              <a:rect l="l" t="t" r="r" b="b"/>
              <a:pathLst>
                <a:path h="1279525">
                  <a:moveTo>
                    <a:pt x="0" y="0"/>
                  </a:moveTo>
                  <a:lnTo>
                    <a:pt x="0" y="1279525"/>
                  </a:lnTo>
                </a:path>
              </a:pathLst>
            </a:custGeom>
            <a:ln w="25400">
              <a:solidFill>
                <a:srgbClr val="FFFFFF"/>
              </a:solidFill>
            </a:ln>
          </p:spPr>
          <p:txBody>
            <a:bodyPr wrap="square" lIns="0" tIns="0" rIns="0" bIns="0" rtlCol="0"/>
            <a:lstStyle/>
            <a:p>
              <a:endParaRPr/>
            </a:p>
          </p:txBody>
        </p:sp>
      </p:grpSp>
      <p:sp>
        <p:nvSpPr>
          <p:cNvPr id="7" name="object 7">
            <a:extLst>
              <a:ext uri="{FF2B5EF4-FFF2-40B4-BE49-F238E27FC236}">
                <a16:creationId xmlns:a16="http://schemas.microsoft.com/office/drawing/2014/main" id="{6B310036-7492-F062-62F9-3FE133201A09}"/>
              </a:ext>
            </a:extLst>
          </p:cNvPr>
          <p:cNvSpPr txBox="1">
            <a:spLocks noGrp="1"/>
          </p:cNvSpPr>
          <p:nvPr>
            <p:ph type="title"/>
          </p:nvPr>
        </p:nvSpPr>
        <p:spPr>
          <a:xfrm>
            <a:off x="762000" y="-92774"/>
            <a:ext cx="10028557" cy="1058623"/>
          </a:xfrm>
          <a:prstGeom prst="rect">
            <a:avLst/>
          </a:prstGeom>
        </p:spPr>
        <p:txBody>
          <a:bodyPr vert="horz" wrap="square" lIns="0" tIns="377825" rIns="0" bIns="0" rtlCol="0" anchor="t">
            <a:spAutoFit/>
          </a:bodyPr>
          <a:lstStyle/>
          <a:p>
            <a:pPr marL="1504315">
              <a:lnSpc>
                <a:spcPct val="100000"/>
              </a:lnSpc>
              <a:spcBef>
                <a:spcPts val="100"/>
              </a:spcBef>
            </a:pPr>
            <a:r>
              <a:rPr lang="en-US" sz="4400" dirty="0"/>
              <a:t>Unified Modeling Language. </a:t>
            </a:r>
          </a:p>
        </p:txBody>
      </p:sp>
      <p:sp>
        <p:nvSpPr>
          <p:cNvPr id="8" name="object 8">
            <a:extLst>
              <a:ext uri="{FF2B5EF4-FFF2-40B4-BE49-F238E27FC236}">
                <a16:creationId xmlns:a16="http://schemas.microsoft.com/office/drawing/2014/main" id="{A338D550-CE08-8639-242B-7CADFAB7B8C6}"/>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9</a:t>
            </a:r>
          </a:p>
        </p:txBody>
      </p:sp>
      <p:pic>
        <p:nvPicPr>
          <p:cNvPr id="17" name="Picture 16">
            <a:extLst>
              <a:ext uri="{FF2B5EF4-FFF2-40B4-BE49-F238E27FC236}">
                <a16:creationId xmlns:a16="http://schemas.microsoft.com/office/drawing/2014/main" id="{826D069E-258B-AC6C-787D-2FF9DC51D18D}"/>
              </a:ext>
            </a:extLst>
          </p:cNvPr>
          <p:cNvPicPr>
            <a:picLocks noChangeAspect="1"/>
          </p:cNvPicPr>
          <p:nvPr/>
        </p:nvPicPr>
        <p:blipFill>
          <a:blip r:embed="rId2">
            <a:extLst>
              <a:ext uri="{28A0092B-C50C-407E-A947-70E740481C1C}">
                <a14:useLocalDpi xmlns:a14="http://schemas.microsoft.com/office/drawing/2010/main" val="0"/>
              </a:ext>
            </a:extLst>
          </a:blip>
          <a:srcRect l="5009" t="2962" r="34214" b="36666"/>
          <a:stretch>
            <a:fillRect/>
          </a:stretch>
        </p:blipFill>
        <p:spPr>
          <a:xfrm>
            <a:off x="838200" y="1245280"/>
            <a:ext cx="10668000" cy="5028520"/>
          </a:xfrm>
          <a:prstGeom prst="rect">
            <a:avLst/>
          </a:prstGeom>
        </p:spPr>
      </p:pic>
    </p:spTree>
    <p:extLst>
      <p:ext uri="{BB962C8B-B14F-4D97-AF65-F5344CB8AC3E}">
        <p14:creationId xmlns:p14="http://schemas.microsoft.com/office/powerpoint/2010/main" val="3124251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7653B8-57CA-AA9D-6C80-5788E6640AC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4031"/>
          <a:stretch>
            <a:fillRect/>
          </a:stretch>
        </p:blipFill>
        <p:spPr bwMode="auto">
          <a:xfrm>
            <a:off x="2315844" y="624201"/>
            <a:ext cx="7560310" cy="5681550"/>
          </a:xfrm>
          <a:prstGeom prst="rect">
            <a:avLst/>
          </a:prstGeom>
          <a:ln>
            <a:noFill/>
          </a:ln>
          <a:extLst>
            <a:ext uri="{53640926-AAD7-44D8-BBD7-CCE9431645EC}">
              <a14:shadowObscured xmlns:a14="http://schemas.microsoft.com/office/drawing/2010/main"/>
            </a:ext>
          </a:extLst>
        </p:spPr>
      </p:pic>
      <p:sp>
        <p:nvSpPr>
          <p:cNvPr id="3" name="object 3"/>
          <p:cNvSpPr/>
          <p:nvPr/>
        </p:nvSpPr>
        <p:spPr>
          <a:xfrm>
            <a:off x="635" y="635"/>
            <a:ext cx="12192000" cy="684530"/>
          </a:xfrm>
          <a:custGeom>
            <a:avLst/>
            <a:gdLst/>
            <a:ahLst/>
            <a:cxnLst/>
            <a:rect l="l" t="t" r="r" b="b"/>
            <a:pathLst>
              <a:path w="12192000" h="684530">
                <a:moveTo>
                  <a:pt x="12192000" y="0"/>
                </a:moveTo>
                <a:lnTo>
                  <a:pt x="0" y="0"/>
                </a:lnTo>
                <a:lnTo>
                  <a:pt x="0" y="684530"/>
                </a:lnTo>
                <a:lnTo>
                  <a:pt x="12192000" y="684530"/>
                </a:lnTo>
                <a:lnTo>
                  <a:pt x="12192000" y="0"/>
                </a:lnTo>
                <a:close/>
              </a:path>
            </a:pathLst>
          </a:custGeom>
          <a:solidFill>
            <a:srgbClr val="E28312"/>
          </a:solidFill>
        </p:spPr>
        <p:txBody>
          <a:bodyPr wrap="square" lIns="0" tIns="0" rIns="0" bIns="0" rtlCol="0"/>
          <a:lstStyle/>
          <a:p>
            <a:endParaRPr/>
          </a:p>
        </p:txBody>
      </p:sp>
      <p:sp>
        <p:nvSpPr>
          <p:cNvPr id="5" name="object 5"/>
          <p:cNvSpPr txBox="1">
            <a:spLocks noGrp="1"/>
          </p:cNvSpPr>
          <p:nvPr>
            <p:ph type="title"/>
          </p:nvPr>
        </p:nvSpPr>
        <p:spPr>
          <a:xfrm>
            <a:off x="2315844" y="15811"/>
            <a:ext cx="7560310" cy="628377"/>
          </a:xfrm>
          <a:prstGeom prst="rect">
            <a:avLst/>
          </a:prstGeom>
        </p:spPr>
        <p:txBody>
          <a:bodyPr vert="horz" wrap="square" lIns="0" tIns="12700" rIns="0" bIns="0" rtlCol="0" anchor="t">
            <a:spAutoFit/>
          </a:bodyPr>
          <a:lstStyle/>
          <a:p>
            <a:pPr marL="1212215">
              <a:lnSpc>
                <a:spcPct val="100000"/>
              </a:lnSpc>
              <a:spcBef>
                <a:spcPts val="100"/>
              </a:spcBef>
            </a:pPr>
            <a:r>
              <a:rPr spc="-55" dirty="0"/>
              <a:t>Architecture</a:t>
            </a:r>
            <a:r>
              <a:rPr spc="-220" dirty="0"/>
              <a:t> </a:t>
            </a:r>
            <a:r>
              <a:rPr spc="-10" dirty="0"/>
              <a:t>Diagram</a:t>
            </a:r>
            <a:endParaRPr lang="en-US" dirty="0"/>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63" y="0"/>
            <a:ext cx="12187555" cy="1281430"/>
          </a:xfrm>
          <a:custGeom>
            <a:avLst/>
            <a:gdLst/>
            <a:ahLst/>
            <a:cxnLst/>
            <a:rect l="l" t="t" r="r" b="b"/>
            <a:pathLst>
              <a:path w="12187555" h="1281430">
                <a:moveTo>
                  <a:pt x="0" y="0"/>
                </a:moveTo>
                <a:lnTo>
                  <a:pt x="0" y="1281049"/>
                </a:lnTo>
                <a:lnTo>
                  <a:pt x="12187236" y="1281049"/>
                </a:lnTo>
                <a:lnTo>
                  <a:pt x="12187236" y="0"/>
                </a:lnTo>
                <a:lnTo>
                  <a:pt x="0" y="0"/>
                </a:lnTo>
                <a:close/>
              </a:path>
            </a:pathLst>
          </a:custGeom>
          <a:solidFill>
            <a:srgbClr val="E38312"/>
          </a:solidFill>
        </p:spPr>
        <p:txBody>
          <a:bodyPr wrap="square" lIns="0" tIns="0" rIns="0" bIns="0" rtlCol="0"/>
          <a:lstStyle/>
          <a:p>
            <a:endParaRPr/>
          </a:p>
        </p:txBody>
      </p:sp>
      <p:sp>
        <p:nvSpPr>
          <p:cNvPr id="3" name="object 3"/>
          <p:cNvSpPr txBox="1">
            <a:spLocks noGrp="1"/>
          </p:cNvSpPr>
          <p:nvPr>
            <p:ph type="title"/>
          </p:nvPr>
        </p:nvSpPr>
        <p:spPr>
          <a:xfrm>
            <a:off x="2315844" y="15811"/>
            <a:ext cx="7560310" cy="861773"/>
          </a:xfrm>
          <a:prstGeom prst="rect">
            <a:avLst/>
          </a:prstGeom>
        </p:spPr>
        <p:txBody>
          <a:bodyPr vert="horz" wrap="square" lIns="0" tIns="182879" rIns="0" bIns="0" rtlCol="0" anchor="t">
            <a:spAutoFit/>
          </a:bodyPr>
          <a:lstStyle/>
          <a:p>
            <a:pPr marL="28575">
              <a:lnSpc>
                <a:spcPct val="100000"/>
              </a:lnSpc>
              <a:spcBef>
                <a:spcPts val="130"/>
              </a:spcBef>
            </a:pPr>
            <a:r>
              <a:rPr sz="4400" spc="-35" dirty="0"/>
              <a:t>SOFTWARE</a:t>
            </a:r>
            <a:r>
              <a:rPr sz="4400" spc="-210" dirty="0"/>
              <a:t> </a:t>
            </a:r>
            <a:r>
              <a:rPr sz="4400" dirty="0"/>
              <a:t>/</a:t>
            </a:r>
            <a:r>
              <a:rPr sz="4400" spc="-260" dirty="0"/>
              <a:t> </a:t>
            </a:r>
            <a:r>
              <a:rPr sz="4400" spc="-10" dirty="0"/>
              <a:t>HARDWARE</a:t>
            </a:r>
            <a:endParaRPr lang="en-US" sz="4400"/>
          </a:p>
        </p:txBody>
      </p:sp>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19</a:t>
            </a:fld>
            <a:endParaRPr spc="-25" dirty="0"/>
          </a:p>
        </p:txBody>
      </p:sp>
      <p:graphicFrame>
        <p:nvGraphicFramePr>
          <p:cNvPr id="4" name="object 4"/>
          <p:cNvGraphicFramePr>
            <a:graphicFrameLocks noGrp="1"/>
          </p:cNvGraphicFramePr>
          <p:nvPr>
            <p:extLst>
              <p:ext uri="{D42A27DB-BD31-4B8C-83A1-F6EECF244321}">
                <p14:modId xmlns:p14="http://schemas.microsoft.com/office/powerpoint/2010/main" val="3855623824"/>
              </p:ext>
            </p:extLst>
          </p:nvPr>
        </p:nvGraphicFramePr>
        <p:xfrm>
          <a:off x="282574" y="762000"/>
          <a:ext cx="11626850" cy="8658859"/>
        </p:xfrm>
        <a:graphic>
          <a:graphicData uri="http://schemas.openxmlformats.org/drawingml/2006/table">
            <a:tbl>
              <a:tblPr firstRow="1" bandRow="1">
                <a:tableStyleId>{2D5ABB26-0587-4C30-8999-92F81FD0307C}</a:tableStyleId>
              </a:tblPr>
              <a:tblGrid>
                <a:gridCol w="11582400">
                  <a:extLst>
                    <a:ext uri="{9D8B030D-6E8A-4147-A177-3AD203B41FA5}">
                      <a16:colId xmlns:a16="http://schemas.microsoft.com/office/drawing/2014/main" val="20000"/>
                    </a:ext>
                  </a:extLst>
                </a:gridCol>
                <a:gridCol w="44450">
                  <a:extLst>
                    <a:ext uri="{9D8B030D-6E8A-4147-A177-3AD203B41FA5}">
                      <a16:colId xmlns:a16="http://schemas.microsoft.com/office/drawing/2014/main" val="20001"/>
                    </a:ext>
                  </a:extLst>
                </a:gridCol>
              </a:tblGrid>
              <a:tr h="471805">
                <a:tc>
                  <a:txBody>
                    <a:bodyPr/>
                    <a:lstStyle/>
                    <a:p>
                      <a:pPr>
                        <a:buNone/>
                      </a:pPr>
                      <a:endParaRPr lang="en-IN" dirty="0"/>
                    </a:p>
                  </a:txBody>
                  <a:tcPr marL="0" marR="0" marT="0" marB="0"/>
                </a:tc>
                <a:tc>
                  <a:txBody>
                    <a:bodyPr/>
                    <a:lstStyle/>
                    <a:p>
                      <a:pPr>
                        <a:buNone/>
                      </a:pPr>
                      <a:endParaRPr lang="en-IN" dirty="0"/>
                    </a:p>
                  </a:txBody>
                  <a:tcPr marL="0" marR="0" marT="0" marB="0"/>
                </a:tc>
                <a:extLst>
                  <a:ext uri="{0D108BD9-81ED-4DB2-BD59-A6C34878D82A}">
                    <a16:rowId xmlns:a16="http://schemas.microsoft.com/office/drawing/2014/main" val="10000"/>
                  </a:ext>
                </a:extLst>
              </a:tr>
              <a:tr h="940435">
                <a:tc>
                  <a:txBody>
                    <a:bodyPr/>
                    <a:lstStyle/>
                    <a:p>
                      <a:pPr>
                        <a:lnSpc>
                          <a:spcPct val="150000"/>
                        </a:lnSpc>
                      </a:pPr>
                      <a:r>
                        <a:rPr lang="en-IN" sz="2000" b="1" dirty="0">
                          <a:latin typeface="Arial" panose="020B0604020202020204" pitchFamily="34" charset="0"/>
                          <a:cs typeface="Arial" panose="020B0604020202020204" pitchFamily="34" charset="0"/>
                        </a:rPr>
                        <a:t>Software:</a:t>
                      </a:r>
                      <a:endParaRPr lang="en-IN"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Frontend: React 18 &amp; TypeScript</a:t>
                      </a: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Backend: Node.js + Express</a:t>
                      </a: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AI: OpenAI API, </a:t>
                      </a:r>
                      <a:r>
                        <a:rPr lang="en-US" sz="2000" dirty="0">
                          <a:latin typeface="Arial" panose="020B0604020202020204" pitchFamily="34" charset="0"/>
                          <a:cs typeface="Arial" panose="020B0604020202020204" pitchFamily="34" charset="0"/>
                        </a:rPr>
                        <a:t>Gemini API, Hugging Face API, Local machine LLM </a:t>
                      </a:r>
                      <a:endParaRPr lang="en-IN"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Database: Firebase / MongoDB / Prisma DB / SQL lite </a:t>
                      </a: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Hosting: AWS / Google Cloud / local host </a:t>
                      </a: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Content Storage: Cloud storage with API integration (YouTube API)</a:t>
                      </a:r>
                    </a:p>
                    <a:p>
                      <a:pPr>
                        <a:lnSpc>
                          <a:spcPct val="150000"/>
                        </a:lnSpc>
                      </a:pPr>
                      <a:r>
                        <a:rPr lang="en-IN" sz="2000" b="1" dirty="0">
                          <a:latin typeface="Arial" panose="020B0604020202020204" pitchFamily="34" charset="0"/>
                          <a:cs typeface="Arial" panose="020B0604020202020204" pitchFamily="34" charset="0"/>
                        </a:rPr>
                        <a:t>Hardware:</a:t>
                      </a:r>
                      <a:endParaRPr lang="en-IN"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Mobile device (Android/iOS)</a:t>
                      </a: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Server infrastructure (cloud-hosted)</a:t>
                      </a:r>
                    </a:p>
                    <a:p>
                      <a:pPr marL="285750" indent="-285750">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Optional wearable integration for biometrics</a:t>
                      </a:r>
                    </a:p>
                    <a:p>
                      <a:pPr>
                        <a:buNone/>
                      </a:pPr>
                      <a:endParaRPr lang="en-IN" dirty="0"/>
                    </a:p>
                  </a:txBody>
                  <a:tcPr marL="0" marR="0" marT="17780" marB="0"/>
                </a:tc>
                <a:tc>
                  <a:txBody>
                    <a:bodyPr/>
                    <a:lstStyle/>
                    <a:p>
                      <a:pPr>
                        <a:buNone/>
                      </a:pPr>
                      <a:endParaRPr lang="en-IN"/>
                    </a:p>
                  </a:txBody>
                  <a:tcPr marL="0" marR="0" marT="241300" marB="0"/>
                </a:tc>
                <a:extLst>
                  <a:ext uri="{0D108BD9-81ED-4DB2-BD59-A6C34878D82A}">
                    <a16:rowId xmlns:a16="http://schemas.microsoft.com/office/drawing/2014/main" val="10001"/>
                  </a:ext>
                </a:extLst>
              </a:tr>
              <a:tr h="940435">
                <a:tc>
                  <a:txBody>
                    <a:bodyPr/>
                    <a:lstStyle/>
                    <a:p>
                      <a:pPr>
                        <a:buNone/>
                      </a:pPr>
                      <a:endParaRPr lang="en-IN"/>
                    </a:p>
                  </a:txBody>
                  <a:tcPr marL="0" marR="0" marT="16510" marB="0"/>
                </a:tc>
                <a:tc>
                  <a:txBody>
                    <a:bodyPr/>
                    <a:lstStyle/>
                    <a:p>
                      <a:pPr>
                        <a:buNone/>
                      </a:pPr>
                      <a:endParaRPr lang="en-IN" dirty="0"/>
                    </a:p>
                  </a:txBody>
                  <a:tcPr marL="0" marR="0" marT="240665" marB="0"/>
                </a:tc>
                <a:extLst>
                  <a:ext uri="{0D108BD9-81ED-4DB2-BD59-A6C34878D82A}">
                    <a16:rowId xmlns:a16="http://schemas.microsoft.com/office/drawing/2014/main" val="10002"/>
                  </a:ext>
                </a:extLst>
              </a:tr>
              <a:tr h="511809">
                <a:tc>
                  <a:txBody>
                    <a:bodyPr/>
                    <a:lstStyle/>
                    <a:p>
                      <a:pPr>
                        <a:buNone/>
                      </a:pPr>
                      <a:endParaRPr lang="en-IN"/>
                    </a:p>
                  </a:txBody>
                  <a:tcPr marL="0" marR="0" marT="26670" marB="0"/>
                </a:tc>
                <a:tc>
                  <a:txBody>
                    <a:bodyPr/>
                    <a:lstStyle/>
                    <a:p>
                      <a:pPr>
                        <a:buNone/>
                      </a:pPr>
                      <a:endParaRPr lang="en-IN"/>
                    </a:p>
                  </a:txBody>
                  <a:tcPr marL="0" marR="0" marT="26670" marB="0"/>
                </a:tc>
                <a:extLst>
                  <a:ext uri="{0D108BD9-81ED-4DB2-BD59-A6C34878D82A}">
                    <a16:rowId xmlns:a16="http://schemas.microsoft.com/office/drawing/2014/main" val="10003"/>
                  </a:ext>
                </a:extLst>
              </a:tr>
              <a:tr h="513080">
                <a:tc>
                  <a:txBody>
                    <a:bodyPr/>
                    <a:lstStyle/>
                    <a:p>
                      <a:pPr>
                        <a:buNone/>
                      </a:pPr>
                      <a:endParaRPr lang="en-IN"/>
                    </a:p>
                  </a:txBody>
                  <a:tcPr marL="0" marR="0" marT="27939" marB="0"/>
                </a:tc>
                <a:tc>
                  <a:txBody>
                    <a:bodyPr/>
                    <a:lstStyle/>
                    <a:p>
                      <a:pPr>
                        <a:buNone/>
                      </a:pPr>
                      <a:endParaRPr lang="en-IN"/>
                    </a:p>
                  </a:txBody>
                  <a:tcPr marL="0" marR="0" marT="27939" marB="0"/>
                </a:tc>
                <a:extLst>
                  <a:ext uri="{0D108BD9-81ED-4DB2-BD59-A6C34878D82A}">
                    <a16:rowId xmlns:a16="http://schemas.microsoft.com/office/drawing/2014/main" val="10004"/>
                  </a:ext>
                </a:extLst>
              </a:tr>
              <a:tr h="900430">
                <a:tc>
                  <a:txBody>
                    <a:bodyPr/>
                    <a:lstStyle/>
                    <a:p>
                      <a:pPr>
                        <a:buNone/>
                      </a:pPr>
                      <a:endParaRPr lang="en-IN"/>
                    </a:p>
                  </a:txBody>
                  <a:tcPr marL="0" marR="0" marT="241300" marB="0"/>
                </a:tc>
                <a:tc>
                  <a:txBody>
                    <a:bodyPr/>
                    <a:lstStyle/>
                    <a:p>
                      <a:pPr>
                        <a:buNone/>
                      </a:pPr>
                      <a:endParaRPr lang="en-IN" dirty="0"/>
                    </a:p>
                  </a:txBody>
                  <a:tcPr marL="0" marR="0" marT="17780" marB="0"/>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33490"/>
            <a:ext cx="12192000" cy="524510"/>
            <a:chOff x="0" y="6333490"/>
            <a:chExt cx="12192000" cy="524510"/>
          </a:xfrm>
        </p:grpSpPr>
        <p:sp>
          <p:nvSpPr>
            <p:cNvPr id="3" name="object 3"/>
            <p:cNvSpPr/>
            <p:nvPr/>
          </p:nvSpPr>
          <p:spPr>
            <a:xfrm>
              <a:off x="2540" y="6400800"/>
              <a:ext cx="12189460" cy="457200"/>
            </a:xfrm>
            <a:custGeom>
              <a:avLst/>
              <a:gdLst/>
              <a:ahLst/>
              <a:cxnLst/>
              <a:rect l="l" t="t" r="r" b="b"/>
              <a:pathLst>
                <a:path w="12189460" h="457200">
                  <a:moveTo>
                    <a:pt x="12189460" y="0"/>
                  </a:moveTo>
                  <a:lnTo>
                    <a:pt x="0" y="0"/>
                  </a:lnTo>
                  <a:lnTo>
                    <a:pt x="0" y="457200"/>
                  </a:lnTo>
                  <a:lnTo>
                    <a:pt x="12189460" y="457200"/>
                  </a:lnTo>
                  <a:lnTo>
                    <a:pt x="12189460" y="0"/>
                  </a:lnTo>
                  <a:close/>
                </a:path>
              </a:pathLst>
            </a:custGeom>
            <a:solidFill>
              <a:srgbClr val="BB562C"/>
            </a:solidFill>
          </p:spPr>
          <p:txBody>
            <a:bodyPr wrap="square" lIns="0" tIns="0" rIns="0" bIns="0" rtlCol="0"/>
            <a:lstStyle/>
            <a:p>
              <a:endParaRPr/>
            </a:p>
          </p:txBody>
        </p:sp>
        <p:sp>
          <p:nvSpPr>
            <p:cNvPr id="4" name="object 4"/>
            <p:cNvSpPr/>
            <p:nvPr/>
          </p:nvSpPr>
          <p:spPr>
            <a:xfrm>
              <a:off x="0" y="6333490"/>
              <a:ext cx="12189460" cy="64135"/>
            </a:xfrm>
            <a:custGeom>
              <a:avLst/>
              <a:gdLst/>
              <a:ahLst/>
              <a:cxnLst/>
              <a:rect l="l" t="t" r="r" b="b"/>
              <a:pathLst>
                <a:path w="12189460" h="64135">
                  <a:moveTo>
                    <a:pt x="12189460" y="0"/>
                  </a:moveTo>
                  <a:lnTo>
                    <a:pt x="0" y="0"/>
                  </a:lnTo>
                  <a:lnTo>
                    <a:pt x="0" y="64135"/>
                  </a:lnTo>
                  <a:lnTo>
                    <a:pt x="12189460" y="64135"/>
                  </a:lnTo>
                  <a:lnTo>
                    <a:pt x="12189460" y="0"/>
                  </a:lnTo>
                  <a:close/>
                </a:path>
              </a:pathLst>
            </a:custGeom>
            <a:solidFill>
              <a:srgbClr val="E28312"/>
            </a:solidFill>
          </p:spPr>
          <p:txBody>
            <a:bodyPr wrap="square" lIns="0" tIns="0" rIns="0" bIns="0" rtlCol="0"/>
            <a:lstStyle/>
            <a:p>
              <a:endParaRPr/>
            </a:p>
          </p:txBody>
        </p:sp>
      </p:grpSp>
      <p:grpSp>
        <p:nvGrpSpPr>
          <p:cNvPr id="5" name="object 5"/>
          <p:cNvGrpSpPr/>
          <p:nvPr/>
        </p:nvGrpSpPr>
        <p:grpSpPr>
          <a:xfrm>
            <a:off x="-12064" y="0"/>
            <a:ext cx="12204065" cy="1273810"/>
            <a:chOff x="-12064" y="0"/>
            <a:chExt cx="12204065" cy="1273810"/>
          </a:xfrm>
        </p:grpSpPr>
        <p:sp>
          <p:nvSpPr>
            <p:cNvPr id="6" name="object 6"/>
            <p:cNvSpPr/>
            <p:nvPr/>
          </p:nvSpPr>
          <p:spPr>
            <a:xfrm>
              <a:off x="635" y="0"/>
              <a:ext cx="12191365" cy="1261110"/>
            </a:xfrm>
            <a:custGeom>
              <a:avLst/>
              <a:gdLst/>
              <a:ahLst/>
              <a:cxnLst/>
              <a:rect l="l" t="t" r="r" b="b"/>
              <a:pathLst>
                <a:path w="12191365" h="1261110">
                  <a:moveTo>
                    <a:pt x="12191365" y="0"/>
                  </a:moveTo>
                  <a:lnTo>
                    <a:pt x="0" y="0"/>
                  </a:lnTo>
                  <a:lnTo>
                    <a:pt x="0" y="1261110"/>
                  </a:lnTo>
                  <a:lnTo>
                    <a:pt x="12191365" y="1261110"/>
                  </a:lnTo>
                  <a:lnTo>
                    <a:pt x="12191365" y="0"/>
                  </a:lnTo>
                  <a:close/>
                </a:path>
              </a:pathLst>
            </a:custGeom>
            <a:solidFill>
              <a:srgbClr val="E28312"/>
            </a:solidFill>
          </p:spPr>
          <p:txBody>
            <a:bodyPr wrap="square" lIns="0" tIns="0" rIns="0" bIns="0" rtlCol="0"/>
            <a:lstStyle/>
            <a:p>
              <a:endParaRPr/>
            </a:p>
          </p:txBody>
        </p:sp>
        <p:sp>
          <p:nvSpPr>
            <p:cNvPr id="7" name="object 7"/>
            <p:cNvSpPr/>
            <p:nvPr/>
          </p:nvSpPr>
          <p:spPr>
            <a:xfrm>
              <a:off x="635" y="1248410"/>
              <a:ext cx="12191365" cy="25400"/>
            </a:xfrm>
            <a:custGeom>
              <a:avLst/>
              <a:gdLst/>
              <a:ahLst/>
              <a:cxnLst/>
              <a:rect l="l" t="t" r="r" b="b"/>
              <a:pathLst>
                <a:path w="12191365" h="25400">
                  <a:moveTo>
                    <a:pt x="12191365" y="0"/>
                  </a:moveTo>
                  <a:lnTo>
                    <a:pt x="0" y="0"/>
                  </a:lnTo>
                  <a:lnTo>
                    <a:pt x="0" y="25400"/>
                  </a:lnTo>
                  <a:lnTo>
                    <a:pt x="12191365" y="25400"/>
                  </a:lnTo>
                  <a:lnTo>
                    <a:pt x="12191365" y="0"/>
                  </a:lnTo>
                  <a:close/>
                </a:path>
              </a:pathLst>
            </a:custGeom>
            <a:solidFill>
              <a:srgbClr val="FFFFFF"/>
            </a:solidFill>
          </p:spPr>
          <p:txBody>
            <a:bodyPr wrap="square" lIns="0" tIns="0" rIns="0" bIns="0" rtlCol="0"/>
            <a:lstStyle/>
            <a:p>
              <a:endParaRPr/>
            </a:p>
          </p:txBody>
        </p:sp>
        <p:sp>
          <p:nvSpPr>
            <p:cNvPr id="8" name="object 8"/>
            <p:cNvSpPr/>
            <p:nvPr/>
          </p:nvSpPr>
          <p:spPr>
            <a:xfrm>
              <a:off x="635" y="0"/>
              <a:ext cx="0" cy="1261110"/>
            </a:xfrm>
            <a:custGeom>
              <a:avLst/>
              <a:gdLst/>
              <a:ahLst/>
              <a:cxnLst/>
              <a:rect l="l" t="t" r="r" b="b"/>
              <a:pathLst>
                <a:path h="1261110">
                  <a:moveTo>
                    <a:pt x="0" y="0"/>
                  </a:moveTo>
                  <a:lnTo>
                    <a:pt x="0" y="1261110"/>
                  </a:lnTo>
                </a:path>
              </a:pathLst>
            </a:custGeom>
            <a:ln w="25400">
              <a:solidFill>
                <a:srgbClr val="FFFFFF"/>
              </a:solidFill>
            </a:ln>
          </p:spPr>
          <p:txBody>
            <a:bodyPr wrap="square" lIns="0" tIns="0" rIns="0" bIns="0" rtlCol="0"/>
            <a:lstStyle/>
            <a:p>
              <a:endParaRPr/>
            </a:p>
          </p:txBody>
        </p:sp>
      </p:grpSp>
      <p:sp>
        <p:nvSpPr>
          <p:cNvPr id="9" name="object 9"/>
          <p:cNvSpPr txBox="1">
            <a:spLocks noGrp="1"/>
          </p:cNvSpPr>
          <p:nvPr>
            <p:ph type="title"/>
          </p:nvPr>
        </p:nvSpPr>
        <p:spPr>
          <a:xfrm>
            <a:off x="2315844" y="15811"/>
            <a:ext cx="7560310" cy="920765"/>
          </a:xfrm>
          <a:prstGeom prst="rect">
            <a:avLst/>
          </a:prstGeom>
        </p:spPr>
        <p:txBody>
          <a:bodyPr vert="horz" wrap="square" lIns="0" tIns="241300" rIns="0" bIns="0" rtlCol="0" anchor="t">
            <a:spAutoFit/>
          </a:bodyPr>
          <a:lstStyle/>
          <a:p>
            <a:pPr marL="1859280">
              <a:lnSpc>
                <a:spcPct val="100000"/>
              </a:lnSpc>
              <a:spcBef>
                <a:spcPts val="100"/>
              </a:spcBef>
            </a:pPr>
            <a:r>
              <a:rPr sz="4400" spc="-30" dirty="0"/>
              <a:t>PROJECT</a:t>
            </a:r>
            <a:r>
              <a:rPr sz="4400" spc="-250" dirty="0"/>
              <a:t> </a:t>
            </a:r>
            <a:r>
              <a:rPr lang="en-US" sz="4400" spc="-20" dirty="0"/>
              <a:t>PLAN</a:t>
            </a:r>
            <a:endParaRPr lang="en-US" sz="4400" spc="-250" dirty="0"/>
          </a:p>
        </p:txBody>
      </p:sp>
      <p:sp>
        <p:nvSpPr>
          <p:cNvPr id="11" name="object 11"/>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12</a:t>
            </a:r>
          </a:p>
        </p:txBody>
      </p:sp>
      <p:sp>
        <p:nvSpPr>
          <p:cNvPr id="10" name="object 10"/>
          <p:cNvSpPr txBox="1">
            <a:spLocks noGrp="1"/>
          </p:cNvSpPr>
          <p:nvPr>
            <p:ph type="body" idx="1"/>
          </p:nvPr>
        </p:nvSpPr>
        <p:spPr>
          <a:xfrm>
            <a:off x="794067" y="1725040"/>
            <a:ext cx="10561955" cy="3264099"/>
          </a:xfrm>
          <a:prstGeom prst="rect">
            <a:avLst/>
          </a:prstGeom>
        </p:spPr>
        <p:txBody>
          <a:bodyPr vert="horz" wrap="square" lIns="0" tIns="79375" rIns="0" bIns="0" rtlCol="0">
            <a:spAutoFit/>
          </a:bodyPr>
          <a:lstStyle/>
          <a:p>
            <a:pPr>
              <a:lnSpc>
                <a:spcPct val="150000"/>
              </a:lnSpc>
            </a:pPr>
            <a:r>
              <a:rPr lang="en-US" b="1" dirty="0">
                <a:latin typeface="Arial" panose="020B0604020202020204" pitchFamily="34" charset="0"/>
                <a:cs typeface="Arial" panose="020B0604020202020204" pitchFamily="34" charset="0"/>
              </a:rPr>
              <a:t>Phase 1:</a:t>
            </a:r>
            <a:r>
              <a:rPr lang="en-US" dirty="0">
                <a:latin typeface="Arial" panose="020B0604020202020204" pitchFamily="34" charset="0"/>
                <a:cs typeface="Arial" panose="020B0604020202020204" pitchFamily="34" charset="0"/>
              </a:rPr>
              <a:t> Requirement gathering &amp; research (2 weeks)</a:t>
            </a:r>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Phase 2:</a:t>
            </a:r>
            <a:r>
              <a:rPr lang="en-US" dirty="0">
                <a:latin typeface="Arial" panose="020B0604020202020204" pitchFamily="34" charset="0"/>
                <a:cs typeface="Arial" panose="020B0604020202020204" pitchFamily="34" charset="0"/>
              </a:rPr>
              <a:t> UI/UX design (3 weeks)</a:t>
            </a:r>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Phase 3:</a:t>
            </a:r>
            <a:r>
              <a:rPr lang="en-US" dirty="0">
                <a:latin typeface="Arial" panose="020B0604020202020204" pitchFamily="34" charset="0"/>
                <a:cs typeface="Arial" panose="020B0604020202020204" pitchFamily="34" charset="0"/>
              </a:rPr>
              <a:t> Core backend + AI integration (6 weeks)</a:t>
            </a:r>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Phase 4:</a:t>
            </a:r>
            <a:r>
              <a:rPr lang="en-US" dirty="0">
                <a:latin typeface="Arial" panose="020B0604020202020204" pitchFamily="34" charset="0"/>
                <a:cs typeface="Arial" panose="020B0604020202020204" pitchFamily="34" charset="0"/>
              </a:rPr>
              <a:t> Feature development (chatbot, tests, recommendations) (8 weeks)</a:t>
            </a:r>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Phase 5:</a:t>
            </a:r>
            <a:r>
              <a:rPr lang="en-US" dirty="0">
                <a:latin typeface="Arial" panose="020B0604020202020204" pitchFamily="34" charset="0"/>
                <a:cs typeface="Arial" panose="020B0604020202020204" pitchFamily="34" charset="0"/>
              </a:rPr>
              <a:t> Testing &amp; feedback (4 weeks)</a:t>
            </a:r>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Phase 6:</a:t>
            </a:r>
            <a:r>
              <a:rPr lang="en-US" dirty="0">
                <a:latin typeface="Arial" panose="020B0604020202020204" pitchFamily="34" charset="0"/>
                <a:cs typeface="Arial" panose="020B0604020202020204" pitchFamily="34" charset="0"/>
              </a:rPr>
              <a:t> Deployment &amp; monitoring (2 weeks)</a:t>
            </a:r>
          </a:p>
          <a:p>
            <a:pPr>
              <a:lnSpc>
                <a:spcPct val="150000"/>
              </a:lnSpc>
            </a:pPr>
            <a:r>
              <a:rPr lang="en-US" dirty="0">
                <a:latin typeface="Arial" panose="020B0604020202020204" pitchFamily="34" charset="0"/>
                <a:cs typeface="Arial" panose="020B0604020202020204" pitchFamily="34" charset="0"/>
              </a:rPr>
              <a:t>Total: ~25 weeks (6 months) for completion.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5844" y="15811"/>
            <a:ext cx="7560310" cy="898323"/>
          </a:xfrm>
          <a:prstGeom prst="rect">
            <a:avLst/>
          </a:prstGeom>
        </p:spPr>
        <p:txBody>
          <a:bodyPr vert="horz" wrap="square" lIns="0" tIns="219075" rIns="0" bIns="0" rtlCol="0" anchor="t">
            <a:spAutoFit/>
          </a:bodyPr>
          <a:lstStyle/>
          <a:p>
            <a:pPr marL="2139950">
              <a:lnSpc>
                <a:spcPct val="100000"/>
              </a:lnSpc>
              <a:spcBef>
                <a:spcPts val="100"/>
              </a:spcBef>
            </a:pPr>
            <a:r>
              <a:rPr sz="4400" spc="-85" dirty="0"/>
              <a:t>Conclusion</a:t>
            </a:r>
            <a:r>
              <a:rPr sz="4400" spc="-160" dirty="0"/>
              <a:t> </a:t>
            </a:r>
            <a:endParaRPr lang="en-US" sz="4400" spc="-50" dirty="0"/>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13</a:t>
            </a:r>
          </a:p>
        </p:txBody>
      </p:sp>
      <p:sp>
        <p:nvSpPr>
          <p:cNvPr id="3" name="object 3"/>
          <p:cNvSpPr txBox="1"/>
          <p:nvPr/>
        </p:nvSpPr>
        <p:spPr>
          <a:xfrm>
            <a:off x="228600" y="1524000"/>
            <a:ext cx="11963400" cy="1340816"/>
          </a:xfrm>
          <a:prstGeom prst="rect">
            <a:avLst/>
          </a:prstGeom>
        </p:spPr>
        <p:txBody>
          <a:bodyPr vert="horz" wrap="square" lIns="0" tIns="12700" rIns="0" bIns="0" rtlCol="0">
            <a:spAutoFit/>
          </a:bodyPr>
          <a:lstStyle/>
          <a:p>
            <a:pPr marL="12700">
              <a:lnSpc>
                <a:spcPct val="150000"/>
              </a:lnSpc>
              <a:spcBef>
                <a:spcPts val="100"/>
              </a:spcBef>
              <a:tabLst>
                <a:tab pos="300990" algn="l"/>
              </a:tabLst>
            </a:pPr>
            <a:r>
              <a:rPr lang="en-US" sz="2000" dirty="0">
                <a:latin typeface="Arial" panose="020B0604020202020204" pitchFamily="34" charset="0"/>
                <a:cs typeface="Arial" panose="020B0604020202020204" pitchFamily="34" charset="0"/>
              </a:rPr>
              <a:t>Our </a:t>
            </a:r>
            <a:r>
              <a:rPr lang="en-US" sz="2000" dirty="0" err="1">
                <a:latin typeface="Arial" panose="020B0604020202020204" pitchFamily="34" charset="0"/>
                <a:cs typeface="Arial" panose="020B0604020202020204" pitchFamily="34" charset="0"/>
              </a:rPr>
              <a:t>Manasarathi</a:t>
            </a:r>
            <a:r>
              <a:rPr lang="en-US" sz="2000" dirty="0">
                <a:latin typeface="Arial" panose="020B0604020202020204" pitchFamily="34" charset="0"/>
                <a:cs typeface="Arial" panose="020B0604020202020204" pitchFamily="34" charset="0"/>
              </a:rPr>
              <a:t> AI Mental Wellness platform combines </a:t>
            </a:r>
            <a:r>
              <a:rPr lang="en-US" sz="2000" b="1" dirty="0">
                <a:latin typeface="Arial" panose="020B0604020202020204" pitchFamily="34" charset="0"/>
                <a:cs typeface="Arial" panose="020B0604020202020204" pitchFamily="34" charset="0"/>
              </a:rPr>
              <a:t>scientific therapy</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ancient wisdom</a:t>
            </a:r>
            <a:r>
              <a:rPr lang="en-US" sz="2000" dirty="0">
                <a:latin typeface="Arial" panose="020B0604020202020204" pitchFamily="34" charset="0"/>
                <a:cs typeface="Arial" panose="020B0604020202020204" pitchFamily="34" charset="0"/>
              </a:rPr>
              <a:t> in a simple, accessible, and personalized platform. By delivering both emotional support and actionable guidance, it empowers users to take charge of their mental health anytime, anywhere.</a:t>
            </a:r>
            <a:endParaRPr sz="2000" dirty="0">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9784" y="6549390"/>
            <a:ext cx="158750" cy="185420"/>
          </a:xfrm>
          <a:prstGeom prst="rect">
            <a:avLst/>
          </a:prstGeom>
        </p:spPr>
        <p:txBody>
          <a:bodyPr vert="horz" wrap="square" lIns="0" tIns="12700" rIns="0" bIns="0" rtlCol="0">
            <a:spAutoFit/>
          </a:bodyPr>
          <a:lstStyle/>
          <a:p>
            <a:pPr marL="12700">
              <a:lnSpc>
                <a:spcPct val="100000"/>
              </a:lnSpc>
              <a:spcBef>
                <a:spcPts val="100"/>
              </a:spcBef>
            </a:pPr>
            <a:r>
              <a:rPr sz="1050" spc="-25" dirty="0">
                <a:solidFill>
                  <a:srgbClr val="FFFFFF"/>
                </a:solidFill>
                <a:latin typeface="Calibri"/>
                <a:cs typeface="Calibri"/>
              </a:rPr>
              <a:t>22</a:t>
            </a:r>
            <a:endParaRPr sz="1050">
              <a:latin typeface="Calibri"/>
              <a:cs typeface="Calibri"/>
            </a:endParaRPr>
          </a:p>
        </p:txBody>
      </p:sp>
      <p:sp>
        <p:nvSpPr>
          <p:cNvPr id="3" name="object 3"/>
          <p:cNvSpPr/>
          <p:nvPr/>
        </p:nvSpPr>
        <p:spPr>
          <a:xfrm>
            <a:off x="4763" y="0"/>
            <a:ext cx="12187555" cy="1281430"/>
          </a:xfrm>
          <a:custGeom>
            <a:avLst/>
            <a:gdLst/>
            <a:ahLst/>
            <a:cxnLst/>
            <a:rect l="l" t="t" r="r" b="b"/>
            <a:pathLst>
              <a:path w="12187555" h="1281430">
                <a:moveTo>
                  <a:pt x="0" y="0"/>
                </a:moveTo>
                <a:lnTo>
                  <a:pt x="0" y="1281049"/>
                </a:lnTo>
                <a:lnTo>
                  <a:pt x="12187236" y="1281049"/>
                </a:lnTo>
                <a:lnTo>
                  <a:pt x="12187236" y="0"/>
                </a:lnTo>
                <a:lnTo>
                  <a:pt x="0" y="0"/>
                </a:lnTo>
                <a:close/>
              </a:path>
            </a:pathLst>
          </a:custGeom>
          <a:solidFill>
            <a:srgbClr val="E38312"/>
          </a:solidFill>
        </p:spPr>
        <p:txBody>
          <a:bodyPr wrap="square" lIns="0" tIns="0" rIns="0" bIns="0" rtlCol="0"/>
          <a:lstStyle/>
          <a:p>
            <a:endParaRPr/>
          </a:p>
        </p:txBody>
      </p:sp>
      <p:sp>
        <p:nvSpPr>
          <p:cNvPr id="4" name="object 4"/>
          <p:cNvSpPr txBox="1">
            <a:spLocks noGrp="1"/>
          </p:cNvSpPr>
          <p:nvPr>
            <p:ph type="title"/>
          </p:nvPr>
        </p:nvSpPr>
        <p:spPr>
          <a:xfrm>
            <a:off x="2315844" y="15811"/>
            <a:ext cx="7560310" cy="907427"/>
          </a:xfrm>
          <a:prstGeom prst="rect">
            <a:avLst/>
          </a:prstGeom>
        </p:spPr>
        <p:txBody>
          <a:bodyPr vert="horz" wrap="square" lIns="0" tIns="228091" rIns="0" bIns="0" rtlCol="0" anchor="t">
            <a:spAutoFit/>
          </a:bodyPr>
          <a:lstStyle/>
          <a:p>
            <a:pPr marL="2237740">
              <a:lnSpc>
                <a:spcPct val="100000"/>
              </a:lnSpc>
              <a:spcBef>
                <a:spcPts val="130"/>
              </a:spcBef>
            </a:pPr>
            <a:r>
              <a:rPr sz="4400" spc="-30" dirty="0"/>
              <a:t>References</a:t>
            </a:r>
            <a:endParaRPr lang="en-US" sz="4400" spc="-30" dirty="0"/>
          </a:p>
        </p:txBody>
      </p:sp>
      <p:sp>
        <p:nvSpPr>
          <p:cNvPr id="5" name="object 5"/>
          <p:cNvSpPr txBox="1"/>
          <p:nvPr/>
        </p:nvSpPr>
        <p:spPr>
          <a:xfrm>
            <a:off x="304800" y="1828800"/>
            <a:ext cx="11772900" cy="3698705"/>
          </a:xfrm>
          <a:prstGeom prst="rect">
            <a:avLst/>
          </a:prstGeom>
        </p:spPr>
        <p:txBody>
          <a:bodyPr vert="horz" wrap="square" lIns="0" tIns="8890" rIns="0" bIns="0" rtlCol="0">
            <a:spAutoFit/>
          </a:bodyPr>
          <a:lstStyle/>
          <a:p>
            <a:pPr marL="355600" marR="469265" indent="-342900">
              <a:lnSpc>
                <a:spcPct val="150000"/>
              </a:lnSpc>
              <a:spcBef>
                <a:spcPts val="70"/>
              </a:spcBef>
              <a:buFont typeface="Arial" panose="020B0604020202020204" pitchFamily="34" charset="0"/>
              <a:buChar char="•"/>
            </a:pPr>
            <a:r>
              <a:rPr dirty="0">
                <a:latin typeface="Times New Roman" panose="02020603050405020304" pitchFamily="18" charset="0"/>
                <a:cs typeface="Times New Roman" panose="02020603050405020304" pitchFamily="18" charset="0"/>
              </a:rPr>
              <a:t>Thakkar</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Gupta</a:t>
            </a:r>
            <a:r>
              <a:rPr spc="1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Sousa</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(2024)</a:t>
            </a:r>
            <a:r>
              <a:rPr spc="10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7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Artificial </a:t>
            </a:r>
            <a:r>
              <a:rPr dirty="0">
                <a:latin typeface="Times New Roman" panose="02020603050405020304" pitchFamily="18" charset="0"/>
                <a:cs typeface="Times New Roman" panose="02020603050405020304" pitchFamily="18" charset="0"/>
              </a:rPr>
              <a:t>Intelligence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10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Positive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Mental</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Health:</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Narrative</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Review, </a:t>
            </a:r>
            <a:r>
              <a:rPr i="1" dirty="0">
                <a:latin typeface="Times New Roman" panose="02020603050405020304" pitchFamily="18" charset="0"/>
                <a:cs typeface="Times New Roman" panose="02020603050405020304" pitchFamily="18" charset="0"/>
              </a:rPr>
              <a:t>Frontiers</a:t>
            </a:r>
            <a:r>
              <a:rPr i="1" spc="60" dirty="0">
                <a:latin typeface="Times New Roman" panose="02020603050405020304" pitchFamily="18" charset="0"/>
                <a:cs typeface="Times New Roman" panose="02020603050405020304" pitchFamily="18" charset="0"/>
              </a:rPr>
              <a:t> </a:t>
            </a:r>
            <a:r>
              <a:rPr i="1" dirty="0">
                <a:latin typeface="Times New Roman" panose="02020603050405020304" pitchFamily="18" charset="0"/>
                <a:cs typeface="Times New Roman" panose="02020603050405020304" pitchFamily="18" charset="0"/>
              </a:rPr>
              <a:t>in</a:t>
            </a:r>
            <a:r>
              <a:rPr i="1" spc="25" dirty="0">
                <a:latin typeface="Times New Roman" panose="02020603050405020304" pitchFamily="18" charset="0"/>
                <a:cs typeface="Times New Roman" panose="02020603050405020304" pitchFamily="18" charset="0"/>
              </a:rPr>
              <a:t> </a:t>
            </a:r>
            <a:r>
              <a:rPr i="1" dirty="0">
                <a:latin typeface="Times New Roman" panose="02020603050405020304" pitchFamily="18" charset="0"/>
                <a:cs typeface="Times New Roman" panose="02020603050405020304" pitchFamily="18" charset="0"/>
              </a:rPr>
              <a:t>Digital</a:t>
            </a:r>
            <a:r>
              <a:rPr i="1" spc="60" dirty="0">
                <a:latin typeface="Times New Roman" panose="02020603050405020304" pitchFamily="18" charset="0"/>
                <a:cs typeface="Times New Roman" panose="02020603050405020304" pitchFamily="18" charset="0"/>
              </a:rPr>
              <a:t> </a:t>
            </a:r>
            <a:r>
              <a:rPr i="1" dirty="0">
                <a:latin typeface="Times New Roman" panose="02020603050405020304" pitchFamily="18" charset="0"/>
                <a:cs typeface="Times New Roman" panose="02020603050405020304" pitchFamily="18" charset="0"/>
              </a:rPr>
              <a:t>Health</a:t>
            </a:r>
            <a:r>
              <a:rPr i="1" spc="1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90"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DOI: </a:t>
            </a:r>
            <a:r>
              <a:rPr u="sng" spc="-10" dirty="0">
                <a:solidFill>
                  <a:srgbClr val="2997E2"/>
                </a:solidFill>
                <a:uFill>
                  <a:solidFill>
                    <a:srgbClr val="2997E2"/>
                  </a:solidFill>
                </a:uFill>
                <a:latin typeface="Times New Roman" panose="02020603050405020304" pitchFamily="18" charset="0"/>
                <a:cs typeface="Times New Roman" panose="02020603050405020304" pitchFamily="18" charset="0"/>
                <a:hlinkClick r:id="rId2"/>
              </a:rPr>
              <a:t>10.3389/fdgth.2024.1280235</a:t>
            </a:r>
            <a:endParaRPr dirty="0">
              <a:latin typeface="Times New Roman" panose="02020603050405020304" pitchFamily="18" charset="0"/>
              <a:cs typeface="Times New Roman" panose="02020603050405020304" pitchFamily="18" charset="0"/>
            </a:endParaRPr>
          </a:p>
          <a:p>
            <a:pPr marL="355600" marR="5080" indent="-342900">
              <a:lnSpc>
                <a:spcPct val="150000"/>
              </a:lnSpc>
              <a:spcBef>
                <a:spcPts val="10"/>
              </a:spcBef>
              <a:buFont typeface="Arial" panose="020B0604020202020204" pitchFamily="34" charset="0"/>
              <a:buChar char="•"/>
            </a:pPr>
            <a:r>
              <a:rPr dirty="0">
                <a:latin typeface="Times New Roman" panose="02020603050405020304" pitchFamily="18" charset="0"/>
                <a:cs typeface="Times New Roman" panose="02020603050405020304" pitchFamily="18" charset="0"/>
              </a:rPr>
              <a:t>Salcedo</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Z.</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a:t>
            </a:r>
            <a:r>
              <a:rPr spc="35" dirty="0">
                <a:latin typeface="Times New Roman" panose="02020603050405020304" pitchFamily="18" charset="0"/>
                <a:cs typeface="Times New Roman" panose="02020603050405020304" pitchFamily="18" charset="0"/>
              </a:rPr>
              <a:t> </a:t>
            </a:r>
            <a:r>
              <a:rPr spc="-80" dirty="0">
                <a:latin typeface="Times New Roman" panose="02020603050405020304" pitchFamily="18" charset="0"/>
                <a:cs typeface="Times New Roman" panose="02020603050405020304" pitchFamily="18" charset="0"/>
              </a:rPr>
              <a:t>V.,</a:t>
            </a:r>
            <a:r>
              <a:rPr spc="4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Tari</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a:t>
            </a:r>
            <a:r>
              <a:rPr spc="30" dirty="0">
                <a:latin typeface="Times New Roman" panose="02020603050405020304" pitchFamily="18" charset="0"/>
                <a:cs typeface="Times New Roman" panose="02020603050405020304" pitchFamily="18" charset="0"/>
              </a:rPr>
              <a:t> </a:t>
            </a:r>
            <a:r>
              <a:rPr spc="-195" dirty="0">
                <a:latin typeface="Times New Roman" panose="02020603050405020304" pitchFamily="18" charset="0"/>
                <a:cs typeface="Times New Roman" panose="02020603050405020304" pitchFamily="18" charset="0"/>
              </a:rPr>
              <a:t>P.</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a:t>
            </a:r>
            <a:r>
              <a:rPr spc="9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Ratsameemonthon</a:t>
            </a:r>
            <a:r>
              <a:rPr spc="9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C., </a:t>
            </a:r>
            <a:r>
              <a:rPr dirty="0">
                <a:latin typeface="Times New Roman" panose="02020603050405020304" pitchFamily="18" charset="0"/>
                <a:cs typeface="Times New Roman" panose="02020603050405020304" pitchFamily="18" charset="0"/>
              </a:rPr>
              <a:t>Setiyani</a:t>
            </a:r>
            <a:r>
              <a:rPr spc="9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a:t>
            </a:r>
            <a:r>
              <a:rPr spc="75" dirty="0">
                <a:latin typeface="Times New Roman" panose="02020603050405020304" pitchFamily="18" charset="0"/>
                <a:cs typeface="Times New Roman" panose="02020603050405020304" pitchFamily="18" charset="0"/>
              </a:rPr>
              <a:t> </a:t>
            </a:r>
            <a:r>
              <a:rPr spc="-185" dirty="0">
                <a:latin typeface="Times New Roman" panose="02020603050405020304" pitchFamily="18" charset="0"/>
                <a:cs typeface="Times New Roman" panose="02020603050405020304" pitchFamily="18" charset="0"/>
              </a:rPr>
              <a:t>Y.</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(2023)</a:t>
            </a:r>
            <a:r>
              <a:rPr spc="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8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Artificial</a:t>
            </a:r>
            <a:r>
              <a:rPr spc="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Intelligence</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6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Mental</a:t>
            </a:r>
            <a:r>
              <a:rPr spc="68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Health</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Issues:</a:t>
            </a:r>
            <a:r>
              <a:rPr spc="8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Narrative</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Review,</a:t>
            </a:r>
            <a:r>
              <a:rPr spc="125" dirty="0">
                <a:latin typeface="Times New Roman" panose="02020603050405020304" pitchFamily="18" charset="0"/>
                <a:cs typeface="Times New Roman" panose="02020603050405020304" pitchFamily="18" charset="0"/>
              </a:rPr>
              <a:t> </a:t>
            </a:r>
            <a:r>
              <a:rPr i="1" dirty="0">
                <a:latin typeface="Times New Roman" panose="02020603050405020304" pitchFamily="18" charset="0"/>
                <a:cs typeface="Times New Roman" panose="02020603050405020304" pitchFamily="18" charset="0"/>
              </a:rPr>
              <a:t>Journal</a:t>
            </a:r>
            <a:r>
              <a:rPr i="1" spc="35" dirty="0">
                <a:latin typeface="Times New Roman" panose="02020603050405020304" pitchFamily="18" charset="0"/>
                <a:cs typeface="Times New Roman" panose="02020603050405020304" pitchFamily="18" charset="0"/>
              </a:rPr>
              <a:t> </a:t>
            </a:r>
            <a:r>
              <a:rPr i="1" dirty="0">
                <a:latin typeface="Times New Roman" panose="02020603050405020304" pitchFamily="18" charset="0"/>
                <a:cs typeface="Times New Roman" panose="02020603050405020304" pitchFamily="18" charset="0"/>
              </a:rPr>
              <a:t>of</a:t>
            </a:r>
            <a:r>
              <a:rPr i="1" spc="-25" dirty="0">
                <a:latin typeface="Times New Roman" panose="02020603050405020304" pitchFamily="18" charset="0"/>
                <a:cs typeface="Times New Roman" panose="02020603050405020304" pitchFamily="18" charset="0"/>
              </a:rPr>
              <a:t> </a:t>
            </a:r>
            <a:r>
              <a:rPr i="1" dirty="0">
                <a:latin typeface="Times New Roman" panose="02020603050405020304" pitchFamily="18" charset="0"/>
                <a:cs typeface="Times New Roman" panose="02020603050405020304" pitchFamily="18" charset="0"/>
              </a:rPr>
              <a:t>Public</a:t>
            </a:r>
            <a:r>
              <a:rPr i="1" spc="55" dirty="0">
                <a:latin typeface="Times New Roman" panose="02020603050405020304" pitchFamily="18" charset="0"/>
                <a:cs typeface="Times New Roman" panose="02020603050405020304" pitchFamily="18" charset="0"/>
              </a:rPr>
              <a:t> </a:t>
            </a:r>
            <a:r>
              <a:rPr i="1" spc="-10" dirty="0">
                <a:latin typeface="Times New Roman" panose="02020603050405020304" pitchFamily="18" charset="0"/>
                <a:cs typeface="Times New Roman" panose="02020603050405020304" pitchFamily="18" charset="0"/>
              </a:rPr>
              <a:t>Health </a:t>
            </a:r>
            <a:r>
              <a:rPr i="1" dirty="0">
                <a:latin typeface="Times New Roman" panose="02020603050405020304" pitchFamily="18" charset="0"/>
                <a:cs typeface="Times New Roman" panose="02020603050405020304" pitchFamily="18" charset="0"/>
              </a:rPr>
              <a:t>Sciences</a:t>
            </a:r>
            <a:r>
              <a:rPr dirty="0">
                <a:latin typeface="Times New Roman" panose="02020603050405020304" pitchFamily="18" charset="0"/>
                <a:cs typeface="Times New Roman" panose="02020603050405020304" pitchFamily="18" charset="0"/>
              </a:rPr>
              <a:t>,</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Vol.</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2(02),</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58-65</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DOI:</a:t>
            </a:r>
            <a:r>
              <a:rPr spc="7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10.56741/jphs.v2i02.282 </a:t>
            </a:r>
            <a:r>
              <a:rPr dirty="0">
                <a:latin typeface="Times New Roman" panose="02020603050405020304" pitchFamily="18" charset="0"/>
                <a:cs typeface="Times New Roman" panose="02020603050405020304" pitchFamily="18" charset="0"/>
              </a:rPr>
              <a:t>Ruiz-Vanoye</a:t>
            </a:r>
            <a:r>
              <a:rPr spc="9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J.</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Fuentes-Penna</a:t>
            </a:r>
            <a:r>
              <a:rPr spc="9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Barrera-Cámara</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a:t>
            </a:r>
            <a:r>
              <a:rPr spc="60"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et </a:t>
            </a:r>
            <a:r>
              <a:rPr dirty="0">
                <a:latin typeface="Times New Roman" panose="02020603050405020304" pitchFamily="18" charset="0"/>
                <a:cs typeface="Times New Roman" panose="02020603050405020304" pitchFamily="18" charset="0"/>
              </a:rPr>
              <a:t>al.</a:t>
            </a:r>
            <a:r>
              <a:rPr spc="6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(2025)</a:t>
            </a:r>
            <a:r>
              <a:rPr spc="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9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Artificial</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Intelligence</a:t>
            </a:r>
            <a:r>
              <a:rPr spc="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Human</a:t>
            </a:r>
            <a:r>
              <a:rPr spc="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Well-Being:</a:t>
            </a:r>
            <a:r>
              <a:rPr spc="3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A </a:t>
            </a:r>
            <a:r>
              <a:rPr dirty="0">
                <a:latin typeface="Times New Roman" panose="02020603050405020304" pitchFamily="18" charset="0"/>
                <a:cs typeface="Times New Roman" panose="02020603050405020304" pitchFamily="18" charset="0"/>
              </a:rPr>
              <a:t>Review</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Applications</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9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Effects</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on</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Life</a:t>
            </a:r>
            <a:r>
              <a:rPr spc="1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Satisfaction </a:t>
            </a:r>
            <a:r>
              <a:rPr dirty="0">
                <a:latin typeface="Times New Roman" panose="02020603050405020304" pitchFamily="18" charset="0"/>
                <a:cs typeface="Times New Roman" panose="02020603050405020304" pitchFamily="18" charset="0"/>
              </a:rPr>
              <a:t>through</a:t>
            </a:r>
            <a:r>
              <a:rPr spc="17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Synthetic</a:t>
            </a:r>
            <a:r>
              <a:rPr spc="8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Happiness,</a:t>
            </a:r>
            <a:r>
              <a:rPr spc="125" dirty="0">
                <a:latin typeface="Times New Roman" panose="02020603050405020304" pitchFamily="18" charset="0"/>
                <a:cs typeface="Times New Roman" panose="02020603050405020304" pitchFamily="18" charset="0"/>
              </a:rPr>
              <a:t> </a:t>
            </a:r>
            <a:r>
              <a:rPr i="1" dirty="0">
                <a:latin typeface="Times New Roman" panose="02020603050405020304" pitchFamily="18" charset="0"/>
                <a:cs typeface="Times New Roman" panose="02020603050405020304" pitchFamily="18" charset="0"/>
              </a:rPr>
              <a:t>International</a:t>
            </a:r>
            <a:r>
              <a:rPr i="1" spc="95" dirty="0">
                <a:latin typeface="Times New Roman" panose="02020603050405020304" pitchFamily="18" charset="0"/>
                <a:cs typeface="Times New Roman" panose="02020603050405020304" pitchFamily="18" charset="0"/>
              </a:rPr>
              <a:t> </a:t>
            </a:r>
            <a:r>
              <a:rPr i="1" dirty="0">
                <a:latin typeface="Times New Roman" panose="02020603050405020304" pitchFamily="18" charset="0"/>
                <a:cs typeface="Times New Roman" panose="02020603050405020304" pitchFamily="18" charset="0"/>
              </a:rPr>
              <a:t>Journal</a:t>
            </a:r>
            <a:r>
              <a:rPr i="1" spc="95" dirty="0">
                <a:latin typeface="Times New Roman" panose="02020603050405020304" pitchFamily="18" charset="0"/>
                <a:cs typeface="Times New Roman" panose="02020603050405020304" pitchFamily="18" charset="0"/>
              </a:rPr>
              <a:t> </a:t>
            </a:r>
            <a:r>
              <a:rPr i="1" spc="-25" dirty="0">
                <a:latin typeface="Times New Roman" panose="02020603050405020304" pitchFamily="18" charset="0"/>
                <a:cs typeface="Times New Roman" panose="02020603050405020304" pitchFamily="18" charset="0"/>
              </a:rPr>
              <a:t>of</a:t>
            </a:r>
            <a:endParaRPr lang="en-US" i="1" spc="-25"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Laranjo, L., et al. (2023). "The Effects of an AI-Powered Chatbot on Mental Health.</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Guo, Y., et al. (2024). "Large Language Models for Mental Health Support: A Systematic Review.</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Calvo, R. A., et al. (2025). "Natural language processing in mental health applications using non-clinical texts.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6F81A-1D41-D61D-A5EA-6168478BAF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CAA384-4B41-0F71-BA86-F02F7E5804A5}"/>
              </a:ext>
            </a:extLst>
          </p:cNvPr>
          <p:cNvSpPr txBox="1"/>
          <p:nvPr/>
        </p:nvSpPr>
        <p:spPr>
          <a:xfrm>
            <a:off x="10979784" y="6549390"/>
            <a:ext cx="158750" cy="185420"/>
          </a:xfrm>
          <a:prstGeom prst="rect">
            <a:avLst/>
          </a:prstGeom>
        </p:spPr>
        <p:txBody>
          <a:bodyPr vert="horz" wrap="square" lIns="0" tIns="12700" rIns="0" bIns="0" rtlCol="0">
            <a:spAutoFit/>
          </a:bodyPr>
          <a:lstStyle/>
          <a:p>
            <a:pPr marL="12700">
              <a:lnSpc>
                <a:spcPct val="100000"/>
              </a:lnSpc>
              <a:spcBef>
                <a:spcPts val="100"/>
              </a:spcBef>
            </a:pPr>
            <a:r>
              <a:rPr sz="1050" spc="-25" dirty="0">
                <a:solidFill>
                  <a:srgbClr val="FFFFFF"/>
                </a:solidFill>
                <a:latin typeface="Calibri"/>
                <a:cs typeface="Calibri"/>
              </a:rPr>
              <a:t>22</a:t>
            </a:r>
            <a:endParaRPr sz="1050">
              <a:latin typeface="Calibri"/>
              <a:cs typeface="Calibri"/>
            </a:endParaRPr>
          </a:p>
        </p:txBody>
      </p:sp>
      <p:sp>
        <p:nvSpPr>
          <p:cNvPr id="3" name="object 3">
            <a:extLst>
              <a:ext uri="{FF2B5EF4-FFF2-40B4-BE49-F238E27FC236}">
                <a16:creationId xmlns:a16="http://schemas.microsoft.com/office/drawing/2014/main" id="{65CDC88C-36FA-6FF6-0EBA-E8A9F40FFD73}"/>
              </a:ext>
            </a:extLst>
          </p:cNvPr>
          <p:cNvSpPr/>
          <p:nvPr/>
        </p:nvSpPr>
        <p:spPr>
          <a:xfrm>
            <a:off x="4763" y="0"/>
            <a:ext cx="12187555" cy="1281430"/>
          </a:xfrm>
          <a:custGeom>
            <a:avLst/>
            <a:gdLst/>
            <a:ahLst/>
            <a:cxnLst/>
            <a:rect l="l" t="t" r="r" b="b"/>
            <a:pathLst>
              <a:path w="12187555" h="1281430">
                <a:moveTo>
                  <a:pt x="0" y="0"/>
                </a:moveTo>
                <a:lnTo>
                  <a:pt x="0" y="1281049"/>
                </a:lnTo>
                <a:lnTo>
                  <a:pt x="12187236" y="1281049"/>
                </a:lnTo>
                <a:lnTo>
                  <a:pt x="12187236" y="0"/>
                </a:lnTo>
                <a:lnTo>
                  <a:pt x="0" y="0"/>
                </a:lnTo>
                <a:close/>
              </a:path>
            </a:pathLst>
          </a:custGeom>
          <a:solidFill>
            <a:srgbClr val="E38312"/>
          </a:solidFill>
        </p:spPr>
        <p:txBody>
          <a:bodyPr wrap="square" lIns="0" tIns="0" rIns="0" bIns="0" rtlCol="0"/>
          <a:lstStyle/>
          <a:p>
            <a:endParaRPr dirty="0"/>
          </a:p>
        </p:txBody>
      </p:sp>
      <p:sp>
        <p:nvSpPr>
          <p:cNvPr id="4" name="object 4">
            <a:extLst>
              <a:ext uri="{FF2B5EF4-FFF2-40B4-BE49-F238E27FC236}">
                <a16:creationId xmlns:a16="http://schemas.microsoft.com/office/drawing/2014/main" id="{D566EC66-0290-9D49-7FBB-BAA3BE8D6988}"/>
              </a:ext>
            </a:extLst>
          </p:cNvPr>
          <p:cNvSpPr txBox="1">
            <a:spLocks noGrp="1"/>
          </p:cNvSpPr>
          <p:nvPr>
            <p:ph type="title"/>
          </p:nvPr>
        </p:nvSpPr>
        <p:spPr>
          <a:xfrm>
            <a:off x="2315844" y="15811"/>
            <a:ext cx="7560310" cy="907427"/>
          </a:xfrm>
          <a:prstGeom prst="rect">
            <a:avLst/>
          </a:prstGeom>
        </p:spPr>
        <p:txBody>
          <a:bodyPr vert="horz" wrap="square" lIns="0" tIns="228091" rIns="0" bIns="0" rtlCol="0" anchor="t">
            <a:spAutoFit/>
          </a:bodyPr>
          <a:lstStyle/>
          <a:p>
            <a:pPr marL="2237740">
              <a:lnSpc>
                <a:spcPct val="100000"/>
              </a:lnSpc>
              <a:spcBef>
                <a:spcPts val="130"/>
              </a:spcBef>
            </a:pPr>
            <a:r>
              <a:rPr sz="4400" spc="-30" dirty="0"/>
              <a:t>References</a:t>
            </a:r>
            <a:endParaRPr lang="en-US" sz="4400" spc="-30" dirty="0"/>
          </a:p>
        </p:txBody>
      </p:sp>
      <p:sp>
        <p:nvSpPr>
          <p:cNvPr id="8" name="TextBox 7">
            <a:extLst>
              <a:ext uri="{FF2B5EF4-FFF2-40B4-BE49-F238E27FC236}">
                <a16:creationId xmlns:a16="http://schemas.microsoft.com/office/drawing/2014/main" id="{747FAE4C-6E79-3EB6-4BE7-D6FB979E39EC}"/>
              </a:ext>
            </a:extLst>
          </p:cNvPr>
          <p:cNvSpPr txBox="1"/>
          <p:nvPr/>
        </p:nvSpPr>
        <p:spPr>
          <a:xfrm>
            <a:off x="129440" y="1447800"/>
            <a:ext cx="11032742" cy="4250907"/>
          </a:xfrm>
          <a:prstGeom prst="rect">
            <a:avLst/>
          </a:prstGeom>
          <a:noFill/>
        </p:spPr>
        <p:txBody>
          <a:bodyPr wrap="square" lIns="91440" tIns="45720" rIns="91440" bIns="45720" anchor="t">
            <a:spAutoFit/>
          </a:bodyPr>
          <a:lstStyle/>
          <a:p>
            <a:pPr marL="342900" lvl="0" indent="-342900" algn="just">
              <a:lnSpc>
                <a:spcPct val="150000"/>
              </a:lnSpc>
              <a:buSzPts val="1100"/>
              <a:buFont typeface="Symbol" panose="05050102010706020507" pitchFamily="18" charset="2"/>
              <a:buChar char=""/>
              <a:tabLst>
                <a:tab pos="471805" algn="l"/>
              </a:tabLst>
            </a:pPr>
            <a:r>
              <a:rPr lang="en-US" sz="2000" spc="0" dirty="0">
                <a:effectLst/>
                <a:latin typeface="Calibri"/>
                <a:ea typeface="Symbol" panose="05050102010706020507" pitchFamily="18" charset="2"/>
                <a:cs typeface="Times New Roman"/>
              </a:rPr>
              <a:t>Poria,</a:t>
            </a:r>
            <a:r>
              <a:rPr lang="en-US" sz="2000" spc="-1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a:t>
            </a:r>
            <a:r>
              <a:rPr lang="en-US" sz="2000" spc="-1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et</a:t>
            </a:r>
            <a:r>
              <a:rPr lang="en-US" sz="2000" spc="-2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al.</a:t>
            </a:r>
            <a:r>
              <a:rPr lang="en-US" sz="2000" spc="-1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(2023).</a:t>
            </a:r>
            <a:r>
              <a:rPr lang="en-US" sz="2000" spc="-1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a:t>
            </a:r>
            <a:r>
              <a:rPr lang="en-US" sz="2000" spc="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Survey</a:t>
            </a:r>
            <a:r>
              <a:rPr lang="en-US" sz="2000" spc="-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on</a:t>
            </a:r>
            <a:r>
              <a:rPr lang="en-US" sz="2000" spc="-1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Sentiment</a:t>
            </a:r>
            <a:r>
              <a:rPr lang="en-US" sz="2000" spc="-2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Analysis</a:t>
            </a:r>
            <a:r>
              <a:rPr lang="en-US" sz="2000" spc="-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and</a:t>
            </a:r>
            <a:r>
              <a:rPr lang="en-US" sz="2000" spc="-1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Emotion</a:t>
            </a:r>
            <a:r>
              <a:rPr lang="en-US" sz="2000" spc="-5" dirty="0">
                <a:effectLst/>
                <a:latin typeface="Calibri"/>
                <a:ea typeface="Symbol" panose="05050102010706020507" pitchFamily="18" charset="2"/>
                <a:cs typeface="Times New Roman"/>
              </a:rPr>
              <a:t> </a:t>
            </a:r>
            <a:r>
              <a:rPr lang="en-US" sz="2000" spc="-10" dirty="0">
                <a:effectLst/>
                <a:latin typeface="Calibri"/>
                <a:ea typeface="Symbol" panose="05050102010706020507" pitchFamily="18" charset="2"/>
                <a:cs typeface="Times New Roman"/>
              </a:rPr>
              <a:t>Recognition.</a:t>
            </a:r>
            <a:endParaRPr lang="en-IN" sz="2000" spc="0" dirty="0">
              <a:effectLst/>
              <a:latin typeface="Calibri"/>
              <a:ea typeface="Symbol" panose="05050102010706020507" pitchFamily="18" charset="2"/>
              <a:cs typeface="Times New Roman"/>
            </a:endParaRPr>
          </a:p>
          <a:p>
            <a:pPr marL="342900" marR="14605" lvl="0" indent="-342900" algn="just">
              <a:lnSpc>
                <a:spcPct val="150000"/>
              </a:lnSpc>
              <a:spcBef>
                <a:spcPts val="380"/>
              </a:spcBef>
              <a:buSzPts val="1100"/>
              <a:buFont typeface="Symbol" panose="05050102010706020507" pitchFamily="18" charset="2"/>
              <a:buChar char=""/>
              <a:tabLst>
                <a:tab pos="472440" algn="l"/>
              </a:tabLst>
            </a:pPr>
            <a:r>
              <a:rPr lang="en-US" sz="2000" spc="0" dirty="0">
                <a:effectLst/>
                <a:latin typeface="Calibri"/>
                <a:ea typeface="Symbol" panose="05050102010706020507" pitchFamily="18" charset="2"/>
                <a:cs typeface="Times New Roman"/>
              </a:rPr>
              <a:t>Halder,</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(2025).</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Developing</a:t>
            </a:r>
            <a:r>
              <a:rPr lang="en-US" sz="2000" spc="-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mental</a:t>
            </a:r>
            <a:r>
              <a:rPr lang="en-US" sz="2000" spc="-3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health</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support</a:t>
            </a:r>
            <a:r>
              <a:rPr lang="en-US" sz="2000" spc="-1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chatbots</a:t>
            </a:r>
            <a:r>
              <a:rPr lang="en-US" sz="2000" spc="-2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in</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India:</a:t>
            </a:r>
            <a:r>
              <a:rPr lang="en-US" sz="2000" spc="-3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Challenges</a:t>
            </a:r>
            <a:r>
              <a:rPr lang="en-US" sz="2000" spc="-2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and insights. Annals of Indian Psychiatry,9(1),99-101.</a:t>
            </a:r>
            <a:endParaRPr lang="en-IN" sz="2000" spc="0" dirty="0">
              <a:effectLst/>
              <a:latin typeface="Calibri"/>
              <a:ea typeface="Symbol" panose="05050102010706020507" pitchFamily="18" charset="2"/>
              <a:cs typeface="Times New Roman"/>
            </a:endParaRPr>
          </a:p>
          <a:p>
            <a:pPr marL="342900" marR="6985" lvl="0" indent="-342900" algn="just">
              <a:lnSpc>
                <a:spcPct val="150000"/>
              </a:lnSpc>
              <a:buSzPts val="1100"/>
              <a:buFont typeface="Symbol" panose="05050102010706020507" pitchFamily="18" charset="2"/>
              <a:buChar char=""/>
              <a:tabLst>
                <a:tab pos="472440" algn="l"/>
              </a:tabLst>
            </a:pPr>
            <a:r>
              <a:rPr lang="en-US" sz="2000" spc="0" dirty="0">
                <a:effectLst/>
                <a:latin typeface="Calibri"/>
                <a:ea typeface="Symbol" panose="05050102010706020507" pitchFamily="18" charset="2"/>
                <a:cs typeface="Times New Roman"/>
              </a:rPr>
              <a:t>Marade,</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Suvarna,</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K.,</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Chaudhari,</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P.,</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&amp;</a:t>
            </a:r>
            <a:r>
              <a:rPr lang="en-US" sz="2000" spc="-45" dirty="0">
                <a:effectLst/>
                <a:latin typeface="Calibri"/>
                <a:ea typeface="Symbol" panose="05050102010706020507" pitchFamily="18" charset="2"/>
                <a:cs typeface="Times New Roman"/>
              </a:rPr>
              <a:t> </a:t>
            </a:r>
            <a:r>
              <a:rPr lang="en-US" sz="2000" spc="0" dirty="0" err="1">
                <a:effectLst/>
                <a:latin typeface="Calibri"/>
                <a:ea typeface="Symbol" panose="05050102010706020507" pitchFamily="18" charset="2"/>
                <a:cs typeface="Times New Roman"/>
              </a:rPr>
              <a:t>Bhandiwad</a:t>
            </a:r>
            <a:r>
              <a:rPr lang="en-US" sz="2000" spc="0" dirty="0">
                <a:effectLst/>
                <a:latin typeface="Calibri"/>
                <a:ea typeface="Symbol" panose="05050102010706020507" pitchFamily="18" charset="2"/>
                <a:cs typeface="Times New Roman"/>
              </a:rPr>
              <a:t>,</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V.</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(2025).</a:t>
            </a:r>
            <a:r>
              <a:rPr lang="en-US" sz="2000" spc="-3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Spiritual.AI:</a:t>
            </a:r>
            <a:r>
              <a:rPr lang="en-US" sz="2000" spc="-4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An</a:t>
            </a:r>
            <a:r>
              <a:rPr lang="en-US" sz="2000" spc="-40"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AI- driven</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platform</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for</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enhancing</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mental,</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emotional,</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and</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spiritual</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well-being.</a:t>
            </a:r>
            <a:r>
              <a:rPr lang="en-US" sz="2000" spc="-7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International Journal for Research in Applied Science &amp; Engineering Technology (IJRASET), </a:t>
            </a:r>
            <a:r>
              <a:rPr lang="en-US" sz="2000" spc="-10" dirty="0">
                <a:effectLst/>
                <a:latin typeface="Calibri"/>
                <a:ea typeface="Symbol" panose="05050102010706020507" pitchFamily="18" charset="2"/>
                <a:cs typeface="Times New Roman"/>
              </a:rPr>
              <a:t>13(4),4211-4214.</a:t>
            </a:r>
            <a:endParaRPr lang="en-IN" sz="2000" spc="0" dirty="0">
              <a:effectLst/>
              <a:latin typeface="Calibri"/>
              <a:ea typeface="Symbol" panose="05050102010706020507" pitchFamily="18" charset="2"/>
              <a:cs typeface="Times New Roman"/>
            </a:endParaRPr>
          </a:p>
          <a:p>
            <a:pPr marL="342900" marR="12065" lvl="0" indent="-342900" algn="just">
              <a:lnSpc>
                <a:spcPct val="150000"/>
              </a:lnSpc>
              <a:buSzPts val="1100"/>
              <a:buFont typeface="Symbol" panose="05050102010706020507" pitchFamily="18" charset="2"/>
              <a:buChar char=""/>
              <a:tabLst>
                <a:tab pos="472440" algn="l"/>
              </a:tabLst>
            </a:pPr>
            <a:r>
              <a:rPr lang="en-US" sz="2000" spc="0" dirty="0">
                <a:effectLst/>
                <a:latin typeface="Calibri"/>
                <a:ea typeface="Symbol" panose="05050102010706020507" pitchFamily="18" charset="2"/>
                <a:cs typeface="Times New Roman"/>
              </a:rPr>
              <a:t>Malviya,</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(2024).</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The</a:t>
            </a:r>
            <a:r>
              <a:rPr lang="en-US" sz="2000" spc="-3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need</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for</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integration</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of</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religion</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and</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spirituality</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into</a:t>
            </a:r>
            <a:r>
              <a:rPr lang="en-US" sz="2000" spc="-2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the</a:t>
            </a:r>
            <a:r>
              <a:rPr lang="en-US" sz="2000" spc="-35" dirty="0">
                <a:effectLst/>
                <a:latin typeface="Calibri"/>
                <a:ea typeface="Symbol" panose="05050102010706020507" pitchFamily="18" charset="2"/>
                <a:cs typeface="Times New Roman"/>
              </a:rPr>
              <a:t> </a:t>
            </a:r>
            <a:r>
              <a:rPr lang="en-US" sz="2000" spc="0" dirty="0">
                <a:effectLst/>
                <a:latin typeface="Calibri"/>
                <a:ea typeface="Symbol" panose="05050102010706020507" pitchFamily="18" charset="2"/>
                <a:cs typeface="Times New Roman"/>
              </a:rPr>
              <a:t>mental health care of culturally and linguistically diverse populations in Australia: A rapid review. Journal of Religion and Health, 62, 2272–2296.</a:t>
            </a:r>
            <a:endParaRPr lang="en-IN" sz="2000" spc="0" dirty="0">
              <a:effectLst/>
              <a:latin typeface="Calibri"/>
              <a:ea typeface="Symbol" panose="05050102010706020507" pitchFamily="18" charset="2"/>
              <a:cs typeface="Times New Roman"/>
            </a:endParaRPr>
          </a:p>
        </p:txBody>
      </p:sp>
    </p:spTree>
    <p:extLst>
      <p:ext uri="{BB962C8B-B14F-4D97-AF65-F5344CB8AC3E}">
        <p14:creationId xmlns:p14="http://schemas.microsoft.com/office/powerpoint/2010/main" val="1425138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E674-BF1D-5407-378C-5D6F721DA4D7}"/>
              </a:ext>
            </a:extLst>
          </p:cNvPr>
          <p:cNvSpPr>
            <a:spLocks noGrp="1"/>
          </p:cNvSpPr>
          <p:nvPr>
            <p:ph type="title"/>
          </p:nvPr>
        </p:nvSpPr>
        <p:spPr>
          <a:xfrm>
            <a:off x="2315845" y="381000"/>
            <a:ext cx="7560310" cy="615553"/>
          </a:xfrm>
        </p:spPr>
        <p:txBody>
          <a:bodyPr wrap="square" lIns="0" tIns="0" rIns="0" bIns="0" anchor="t">
            <a:spAutoFit/>
          </a:bodyPr>
          <a:lstStyle/>
          <a:p>
            <a:pPr algn="ctr"/>
            <a:r>
              <a:rPr lang="en-IN" spc="-30" dirty="0"/>
              <a:t>References</a:t>
            </a:r>
            <a:endParaRPr lang="en-US" dirty="0"/>
          </a:p>
        </p:txBody>
      </p:sp>
      <p:sp>
        <p:nvSpPr>
          <p:cNvPr id="3" name="Text Placeholder 2">
            <a:extLst>
              <a:ext uri="{FF2B5EF4-FFF2-40B4-BE49-F238E27FC236}">
                <a16:creationId xmlns:a16="http://schemas.microsoft.com/office/drawing/2014/main" id="{6274208F-3938-886C-C524-C81719851BB2}"/>
              </a:ext>
            </a:extLst>
          </p:cNvPr>
          <p:cNvSpPr>
            <a:spLocks noGrp="1"/>
          </p:cNvSpPr>
          <p:nvPr>
            <p:ph type="body" idx="1"/>
          </p:nvPr>
        </p:nvSpPr>
        <p:spPr>
          <a:xfrm>
            <a:off x="794067" y="1725040"/>
            <a:ext cx="10561955" cy="3077766"/>
          </a:xfrm>
        </p:spPr>
        <p:txBody>
          <a:bodyPr wrap="square" lIns="0" tIns="0" rIns="0" bIns="0" anchor="t">
            <a:spAutoFit/>
          </a:bodyPr>
          <a:lstStyle/>
          <a:p>
            <a:pPr marL="342900" marR="15240" indent="-342900" algn="just">
              <a:lnSpc>
                <a:spcPct val="150000"/>
              </a:lnSpc>
              <a:buFont typeface="Symbol,Sans-Serif"/>
              <a:buChar char=""/>
            </a:pPr>
            <a:r>
              <a:rPr lang="en-US" dirty="0">
                <a:ea typeface="Calibri"/>
              </a:rPr>
              <a:t>Casu, M., Triscari, S., Battiato, S., Guarnera, L., &amp; </a:t>
            </a:r>
            <a:r>
              <a:rPr lang="en-US" dirty="0" err="1">
                <a:ea typeface="Calibri"/>
              </a:rPr>
              <a:t>Caponnetto</a:t>
            </a:r>
            <a:r>
              <a:rPr lang="en-US" dirty="0">
                <a:ea typeface="Calibri"/>
              </a:rPr>
              <a:t>, P. (2024). AI chatbots for mental health: A scoping review of effectiveness, feasibility, and applications. Applied Sciences, 14(13), 5889.</a:t>
            </a:r>
            <a:endParaRPr lang="en-IN" dirty="0">
              <a:ea typeface="Calibri"/>
            </a:endParaRPr>
          </a:p>
          <a:p>
            <a:pPr marL="342900" marR="14605" indent="-342900" algn="just">
              <a:lnSpc>
                <a:spcPct val="150000"/>
              </a:lnSpc>
              <a:buFont typeface="Symbol,Sans-Serif"/>
              <a:buChar char=""/>
            </a:pPr>
            <a:r>
              <a:rPr lang="en-US" dirty="0">
                <a:ea typeface="Calibri"/>
              </a:rPr>
              <a:t>Aggarwal, S., Wright, J., Morgan, A., Patton, G., &amp; Reavley, N. (2025). Religiosity and spirituality in the prevention and management of depression and anxiety in young people: A systematic review and meta-analysis. BMC Psychiatry, 23, 729</a:t>
            </a:r>
            <a:r>
              <a:rPr lang="en-US" b="1" dirty="0">
                <a:ea typeface="Calibri"/>
              </a:rPr>
              <a:t>.</a:t>
            </a:r>
            <a:endParaRPr lang="en-IN" dirty="0">
              <a:ea typeface="Calibri"/>
            </a:endParaRPr>
          </a:p>
          <a:p>
            <a:endParaRPr lang="en-US" dirty="0">
              <a:ea typeface="Calibri"/>
            </a:endParaRPr>
          </a:p>
        </p:txBody>
      </p:sp>
    </p:spTree>
    <p:extLst>
      <p:ext uri="{BB962C8B-B14F-4D97-AF65-F5344CB8AC3E}">
        <p14:creationId xmlns:p14="http://schemas.microsoft.com/office/powerpoint/2010/main" val="399739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413</TotalTime>
  <Words>1809</Words>
  <Application>Microsoft Office PowerPoint</Application>
  <PresentationFormat>Widescreen</PresentationFormat>
  <Paragraphs>173</Paragraphs>
  <Slides>24</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Arial Black</vt:lpstr>
      <vt:lpstr>Arial MT</vt:lpstr>
      <vt:lpstr>Bahnschrift</vt:lpstr>
      <vt:lpstr>Calibri</vt:lpstr>
      <vt:lpstr>Microsoft Sans Serif</vt:lpstr>
      <vt:lpstr>quote-cjk-patch</vt:lpstr>
      <vt:lpstr>Symbol</vt:lpstr>
      <vt:lpstr>Symbol,Sans-Serif</vt:lpstr>
      <vt:lpstr>Times New Roman</vt:lpstr>
      <vt:lpstr>Office Theme</vt:lpstr>
      <vt:lpstr>Sinhgad Academy of Engineering Department of Information Technology</vt:lpstr>
      <vt:lpstr>Index</vt:lpstr>
      <vt:lpstr>Introduction</vt:lpstr>
      <vt:lpstr>AIM AND OBJECTIVE</vt:lpstr>
      <vt:lpstr>SCOPE</vt:lpstr>
      <vt:lpstr>LITERATURE SURVEY</vt:lpstr>
      <vt:lpstr>LITERATURE SURVEY</vt:lpstr>
      <vt:lpstr>PROBLEM IDENTIFIED</vt:lpstr>
      <vt:lpstr>Objectives Finalized</vt:lpstr>
      <vt:lpstr>Proposed System / Solution</vt:lpstr>
      <vt:lpstr>Data Flow Diagram</vt:lpstr>
      <vt:lpstr>Data Flow Diagram</vt:lpstr>
      <vt:lpstr>Data Flow Diagram</vt:lpstr>
      <vt:lpstr>PowerPoint Presentation</vt:lpstr>
      <vt:lpstr>PowerPoint Presentation</vt:lpstr>
      <vt:lpstr>PowerPoint Presentation</vt:lpstr>
      <vt:lpstr>Unified Modeling Language. </vt:lpstr>
      <vt:lpstr>Architecture Diagram</vt:lpstr>
      <vt:lpstr>SOFTWARE / HARDWARE</vt:lpstr>
      <vt:lpstr>PROJECT PLAN</vt:lpstr>
      <vt:lpstr>Conclusion </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Aditya Shirsat</dc:creator>
  <cp:lastModifiedBy>Aditya Shirsat</cp:lastModifiedBy>
  <cp:revision>144</cp:revision>
  <dcterms:created xsi:type="dcterms:W3CDTF">2025-08-11T04:58:55Z</dcterms:created>
  <dcterms:modified xsi:type="dcterms:W3CDTF">2025-11-13T16:30:16Z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2025-08-10T00:00:00Z</vt:filetime>
  </property>
  <property fmtid="{D5CDD505-2E9C-101B-9397-08002B2CF9AE}" pid="3" name="Creator">
    <vt:lpwstr>Microsoft Word</vt:lpwstr>
  </property>
  <property fmtid="{D5CDD505-2E9C-101B-9397-08002B2CF9AE}" pid="4" name="LastSaved">
    <vt:filetime>2025-08-11T00:00:00Z</vt:filetime>
  </property>
</Properties>
</file>